
<file path=[Content_Types].xml><?xml version="1.0" encoding="utf-8"?>
<Types xmlns="http://schemas.openxmlformats.org/package/2006/content-types">
  <Default Extension="bin" ContentType="application/vnd.openxmlformats-officedocument.oleObject"/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4"/>
  </p:sldMasterIdLst>
  <p:notesMasterIdLst>
    <p:notesMasterId r:id="rId27"/>
  </p:notesMasterIdLst>
  <p:sldIdLst>
    <p:sldId id="256" r:id="rId5"/>
    <p:sldId id="2352" r:id="rId6"/>
    <p:sldId id="2354" r:id="rId7"/>
    <p:sldId id="2434" r:id="rId8"/>
    <p:sldId id="2436" r:id="rId9"/>
    <p:sldId id="2435" r:id="rId10"/>
    <p:sldId id="2379" r:id="rId11"/>
    <p:sldId id="2409" r:id="rId12"/>
    <p:sldId id="2403" r:id="rId13"/>
    <p:sldId id="2432" r:id="rId14"/>
    <p:sldId id="2416" r:id="rId15"/>
    <p:sldId id="2405" r:id="rId16"/>
    <p:sldId id="2446" r:id="rId17"/>
    <p:sldId id="2448" r:id="rId18"/>
    <p:sldId id="2439" r:id="rId19"/>
    <p:sldId id="2428" r:id="rId20"/>
    <p:sldId id="2442" r:id="rId21"/>
    <p:sldId id="2449" r:id="rId22"/>
    <p:sldId id="2453" r:id="rId23"/>
    <p:sldId id="2452" r:id="rId24"/>
    <p:sldId id="2380" r:id="rId25"/>
    <p:sldId id="2321" r:id="rId26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3333FF"/>
    <a:srgbClr val="AACDC4"/>
    <a:srgbClr val="EAF2F1"/>
    <a:srgbClr val="FFFF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35F57F4F-ACD5-4150-B02A-B04A0C740647}" v="28" dt="2025-12-10T21:15:58.229"/>
    <p1510:client id="{5E61B5D5-9972-BC1D-5032-B9EC7121CDBB}" v="34" dt="2025-12-10T20:06:03.276"/>
    <p1510:client id="{95F5C027-9DA6-F42E-10C3-A7C1425023A2}" v="72" dt="2025-12-10T21:19:24.663"/>
    <p1510:client id="{A8A4DF56-3F4D-578E-7C4F-500172AE6A4E}" v="88" dt="2025-12-10T19:57:10.356"/>
    <p1510:client id="{E90EDEC7-99B2-F12F-EC90-64E4F2491E6F}" v="24" dt="2025-12-11T21:25:57.745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78" d="100"/>
          <a:sy n="78" d="100"/>
        </p:scale>
        <p:origin x="850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slide" Target="slides/slide22.xml"/><Relationship Id="rId3" Type="http://schemas.openxmlformats.org/officeDocument/2006/relationships/customXml" Target="../customXml/item3.xml"/><Relationship Id="rId21" Type="http://schemas.openxmlformats.org/officeDocument/2006/relationships/slide" Target="slides/slide17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slide" Target="slides/slide21.xml"/><Relationship Id="rId33" Type="http://schemas.microsoft.com/office/2015/10/relationships/revisionInfo" Target="revisionInfo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slide" Target="slides/slide16.xml"/><Relationship Id="rId29" Type="http://schemas.openxmlformats.org/officeDocument/2006/relationships/viewProps" Target="viewProp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slide" Target="slides/slide20.xml"/><Relationship Id="rId32" Type="http://schemas.microsoft.com/office/2016/11/relationships/changesInfo" Target="changesInfos/changesInfo1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slide" Target="slides/slide19.xml"/><Relationship Id="rId28" Type="http://schemas.openxmlformats.org/officeDocument/2006/relationships/presProps" Target="presProps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31" Type="http://schemas.openxmlformats.org/officeDocument/2006/relationships/tableStyles" Target="tableStyle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slide" Target="slides/slide18.xml"/><Relationship Id="rId27" Type="http://schemas.openxmlformats.org/officeDocument/2006/relationships/notesMaster" Target="notesMasters/notesMaster1.xml"/><Relationship Id="rId30" Type="http://schemas.openxmlformats.org/officeDocument/2006/relationships/theme" Target="theme/theme1.xml"/><Relationship Id="rId8" Type="http://schemas.openxmlformats.org/officeDocument/2006/relationships/slide" Target="slides/slide4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Michael Johansen" userId="f19741a5-5ca6-49d9-9108-5bf2e924580c" providerId="ADAL" clId="{69333D99-AD72-4C08-998C-833596EDA201}"/>
    <pc:docChg chg="modSld">
      <pc:chgData name="Michael Johansen" userId="f19741a5-5ca6-49d9-9108-5bf2e924580c" providerId="ADAL" clId="{69333D99-AD72-4C08-998C-833596EDA201}" dt="2025-12-11T18:08:06.521" v="125" actId="6549"/>
      <pc:docMkLst>
        <pc:docMk/>
      </pc:docMkLst>
      <pc:sldChg chg="modSp mod">
        <pc:chgData name="Michael Johansen" userId="f19741a5-5ca6-49d9-9108-5bf2e924580c" providerId="ADAL" clId="{69333D99-AD72-4C08-998C-833596EDA201}" dt="2025-12-10T20:52:54.602" v="18" actId="167"/>
        <pc:sldMkLst>
          <pc:docMk/>
          <pc:sldMk cId="413418980" sldId="2403"/>
        </pc:sldMkLst>
        <pc:spChg chg="mod">
          <ac:chgData name="Michael Johansen" userId="f19741a5-5ca6-49d9-9108-5bf2e924580c" providerId="ADAL" clId="{69333D99-AD72-4C08-998C-833596EDA201}" dt="2025-12-10T20:49:20.374" v="11" actId="20577"/>
          <ac:spMkLst>
            <pc:docMk/>
            <pc:sldMk cId="413418980" sldId="2403"/>
            <ac:spMk id="15" creationId="{BF6A5A49-E9DB-75E1-8EFD-57D9769E7F37}"/>
          </ac:spMkLst>
        </pc:spChg>
        <pc:graphicFrameChg chg="mod ord">
          <ac:chgData name="Michael Johansen" userId="f19741a5-5ca6-49d9-9108-5bf2e924580c" providerId="ADAL" clId="{69333D99-AD72-4C08-998C-833596EDA201}" dt="2025-12-10T20:52:54.602" v="18" actId="167"/>
          <ac:graphicFrameMkLst>
            <pc:docMk/>
            <pc:sldMk cId="413418980" sldId="2403"/>
            <ac:graphicFrameMk id="11" creationId="{8A1AFBD4-CB32-EF4B-B033-5985046F8021}"/>
          </ac:graphicFrameMkLst>
        </pc:graphicFrameChg>
      </pc:sldChg>
      <pc:sldChg chg="modSp mod">
        <pc:chgData name="Michael Johansen" userId="f19741a5-5ca6-49d9-9108-5bf2e924580c" providerId="ADAL" clId="{69333D99-AD72-4C08-998C-833596EDA201}" dt="2025-12-10T20:49:14.013" v="7" actId="20577"/>
        <pc:sldMkLst>
          <pc:docMk/>
          <pc:sldMk cId="4051776322" sldId="2409"/>
        </pc:sldMkLst>
        <pc:spChg chg="mod">
          <ac:chgData name="Michael Johansen" userId="f19741a5-5ca6-49d9-9108-5bf2e924580c" providerId="ADAL" clId="{69333D99-AD72-4C08-998C-833596EDA201}" dt="2025-12-10T20:49:14.013" v="7" actId="20577"/>
          <ac:spMkLst>
            <pc:docMk/>
            <pc:sldMk cId="4051776322" sldId="2409"/>
            <ac:spMk id="7" creationId="{06D23BCA-C472-2BAD-A265-A58A4C57E5D5}"/>
          </ac:spMkLst>
        </pc:spChg>
      </pc:sldChg>
      <pc:sldChg chg="modSp mod">
        <pc:chgData name="Michael Johansen" userId="f19741a5-5ca6-49d9-9108-5bf2e924580c" providerId="ADAL" clId="{69333D99-AD72-4C08-998C-833596EDA201}" dt="2025-12-10T21:15:58.229" v="124" actId="1076"/>
        <pc:sldMkLst>
          <pc:docMk/>
          <pc:sldMk cId="1671986136" sldId="2416"/>
        </pc:sldMkLst>
        <pc:spChg chg="mod">
          <ac:chgData name="Michael Johansen" userId="f19741a5-5ca6-49d9-9108-5bf2e924580c" providerId="ADAL" clId="{69333D99-AD72-4C08-998C-833596EDA201}" dt="2025-12-10T20:53:56.169" v="33" actId="1076"/>
          <ac:spMkLst>
            <pc:docMk/>
            <pc:sldMk cId="1671986136" sldId="2416"/>
            <ac:spMk id="5" creationId="{08281659-8147-7715-1F2F-B58CE4BADB66}"/>
          </ac:spMkLst>
        </pc:spChg>
        <pc:spChg chg="mod ord">
          <ac:chgData name="Michael Johansen" userId="f19741a5-5ca6-49d9-9108-5bf2e924580c" providerId="ADAL" clId="{69333D99-AD72-4C08-998C-833596EDA201}" dt="2025-12-10T21:15:58.229" v="124" actId="1076"/>
          <ac:spMkLst>
            <pc:docMk/>
            <pc:sldMk cId="1671986136" sldId="2416"/>
            <ac:spMk id="7" creationId="{FD379B0E-F034-D94F-DABA-7FF5D832E7D2}"/>
          </ac:spMkLst>
        </pc:spChg>
        <pc:spChg chg="ord">
          <ac:chgData name="Michael Johansen" userId="f19741a5-5ca6-49d9-9108-5bf2e924580c" providerId="ADAL" clId="{69333D99-AD72-4C08-998C-833596EDA201}" dt="2025-12-10T21:15:51.018" v="123" actId="166"/>
          <ac:spMkLst>
            <pc:docMk/>
            <pc:sldMk cId="1671986136" sldId="2416"/>
            <ac:spMk id="8" creationId="{D8C60CF2-3CE4-5190-E045-6FFF7DBC3C6A}"/>
          </ac:spMkLst>
        </pc:spChg>
        <pc:graphicFrameChg chg="mod modGraphic">
          <ac:chgData name="Michael Johansen" userId="f19741a5-5ca6-49d9-9108-5bf2e924580c" providerId="ADAL" clId="{69333D99-AD72-4C08-998C-833596EDA201}" dt="2025-12-10T21:15:38.186" v="122" actId="1076"/>
          <ac:graphicFrameMkLst>
            <pc:docMk/>
            <pc:sldMk cId="1671986136" sldId="2416"/>
            <ac:graphicFrameMk id="6" creationId="{0F369F0C-7D80-853D-4365-20817BCA7100}"/>
          </ac:graphicFrameMkLst>
        </pc:graphicFrameChg>
      </pc:sldChg>
      <pc:sldChg chg="modSp mod">
        <pc:chgData name="Michael Johansen" userId="f19741a5-5ca6-49d9-9108-5bf2e924580c" providerId="ADAL" clId="{69333D99-AD72-4C08-998C-833596EDA201}" dt="2025-12-10T20:57:07.710" v="96" actId="20577"/>
        <pc:sldMkLst>
          <pc:docMk/>
          <pc:sldMk cId="1181120606" sldId="2428"/>
        </pc:sldMkLst>
        <pc:spChg chg="mod">
          <ac:chgData name="Michael Johansen" userId="f19741a5-5ca6-49d9-9108-5bf2e924580c" providerId="ADAL" clId="{69333D99-AD72-4C08-998C-833596EDA201}" dt="2025-12-10T20:57:07.710" v="96" actId="20577"/>
          <ac:spMkLst>
            <pc:docMk/>
            <pc:sldMk cId="1181120606" sldId="2428"/>
            <ac:spMk id="7" creationId="{938B747E-7096-E347-CCD8-5C2A973D2028}"/>
          </ac:spMkLst>
        </pc:spChg>
      </pc:sldChg>
      <pc:sldChg chg="modSp mod">
        <pc:chgData name="Michael Johansen" userId="f19741a5-5ca6-49d9-9108-5bf2e924580c" providerId="ADAL" clId="{69333D99-AD72-4C08-998C-833596EDA201}" dt="2025-12-10T20:53:05.997" v="23" actId="6549"/>
        <pc:sldMkLst>
          <pc:docMk/>
          <pc:sldMk cId="3596147078" sldId="2432"/>
        </pc:sldMkLst>
        <pc:spChg chg="mod">
          <ac:chgData name="Michael Johansen" userId="f19741a5-5ca6-49d9-9108-5bf2e924580c" providerId="ADAL" clId="{69333D99-AD72-4C08-998C-833596EDA201}" dt="2025-12-10T20:53:05.997" v="23" actId="6549"/>
          <ac:spMkLst>
            <pc:docMk/>
            <pc:sldMk cId="3596147078" sldId="2432"/>
            <ac:spMk id="7" creationId="{C1D782AC-3429-35BD-C7DB-174B7431A7AD}"/>
          </ac:spMkLst>
        </pc:spChg>
      </pc:sldChg>
      <pc:sldChg chg="modSp mod">
        <pc:chgData name="Michael Johansen" userId="f19741a5-5ca6-49d9-9108-5bf2e924580c" providerId="ADAL" clId="{69333D99-AD72-4C08-998C-833596EDA201}" dt="2025-12-11T18:08:06.521" v="125" actId="6549"/>
        <pc:sldMkLst>
          <pc:docMk/>
          <pc:sldMk cId="2666472270" sldId="2435"/>
        </pc:sldMkLst>
        <pc:graphicFrameChg chg="modGraphic">
          <ac:chgData name="Michael Johansen" userId="f19741a5-5ca6-49d9-9108-5bf2e924580c" providerId="ADAL" clId="{69333D99-AD72-4C08-998C-833596EDA201}" dt="2025-12-11T18:08:06.521" v="125" actId="6549"/>
          <ac:graphicFrameMkLst>
            <pc:docMk/>
            <pc:sldMk cId="2666472270" sldId="2435"/>
            <ac:graphicFrameMk id="6" creationId="{6FE00312-1F4A-D1E0-A786-606E2DD87D66}"/>
          </ac:graphicFrameMkLst>
        </pc:graphicFrameChg>
      </pc:sldChg>
      <pc:sldChg chg="modSp mod">
        <pc:chgData name="Michael Johansen" userId="f19741a5-5ca6-49d9-9108-5bf2e924580c" providerId="ADAL" clId="{69333D99-AD72-4C08-998C-833596EDA201}" dt="2025-12-10T20:56:44.261" v="92" actId="20577"/>
        <pc:sldMkLst>
          <pc:docMk/>
          <pc:sldMk cId="2008016642" sldId="2439"/>
        </pc:sldMkLst>
        <pc:spChg chg="mod">
          <ac:chgData name="Michael Johansen" userId="f19741a5-5ca6-49d9-9108-5bf2e924580c" providerId="ADAL" clId="{69333D99-AD72-4C08-998C-833596EDA201}" dt="2025-12-10T20:56:44.261" v="92" actId="20577"/>
          <ac:spMkLst>
            <pc:docMk/>
            <pc:sldMk cId="2008016642" sldId="2439"/>
            <ac:spMk id="7" creationId="{24B96C93-50DF-5F91-4F08-CF730E91FB4E}"/>
          </ac:spMkLst>
        </pc:spChg>
      </pc:sldChg>
      <pc:sldChg chg="modSp mod">
        <pc:chgData name="Michael Johansen" userId="f19741a5-5ca6-49d9-9108-5bf2e924580c" providerId="ADAL" clId="{69333D99-AD72-4C08-998C-833596EDA201}" dt="2025-12-10T20:56:01.224" v="85" actId="20577"/>
        <pc:sldMkLst>
          <pc:docMk/>
          <pc:sldMk cId="2972575232" sldId="2446"/>
        </pc:sldMkLst>
        <pc:spChg chg="mod">
          <ac:chgData name="Michael Johansen" userId="f19741a5-5ca6-49d9-9108-5bf2e924580c" providerId="ADAL" clId="{69333D99-AD72-4C08-998C-833596EDA201}" dt="2025-12-10T20:54:40.649" v="61" actId="20577"/>
          <ac:spMkLst>
            <pc:docMk/>
            <pc:sldMk cId="2972575232" sldId="2446"/>
            <ac:spMk id="5" creationId="{82AACF82-4B31-2AB8-C15D-FC33ACAA16BA}"/>
          </ac:spMkLst>
        </pc:spChg>
        <pc:graphicFrameChg chg="modGraphic">
          <ac:chgData name="Michael Johansen" userId="f19741a5-5ca6-49d9-9108-5bf2e924580c" providerId="ADAL" clId="{69333D99-AD72-4C08-998C-833596EDA201}" dt="2025-12-10T20:56:01.224" v="85" actId="20577"/>
          <ac:graphicFrameMkLst>
            <pc:docMk/>
            <pc:sldMk cId="2972575232" sldId="2446"/>
            <ac:graphicFrameMk id="6" creationId="{F6C3037E-9094-9934-9986-A4362C88404B}"/>
          </ac:graphicFrameMkLst>
        </pc:graphicFrameChg>
      </pc:sldChg>
      <pc:sldChg chg="modSp mod">
        <pc:chgData name="Michael Johansen" userId="f19741a5-5ca6-49d9-9108-5bf2e924580c" providerId="ADAL" clId="{69333D99-AD72-4C08-998C-833596EDA201}" dt="2025-12-10T20:56:49.488" v="94" actId="1076"/>
        <pc:sldMkLst>
          <pc:docMk/>
          <pc:sldMk cId="3635767055" sldId="2448"/>
        </pc:sldMkLst>
        <pc:spChg chg="mod">
          <ac:chgData name="Michael Johansen" userId="f19741a5-5ca6-49d9-9108-5bf2e924580c" providerId="ADAL" clId="{69333D99-AD72-4C08-998C-833596EDA201}" dt="2025-12-10T20:56:49.488" v="94" actId="1076"/>
          <ac:spMkLst>
            <pc:docMk/>
            <pc:sldMk cId="3635767055" sldId="2448"/>
            <ac:spMk id="7" creationId="{ADC76462-A8C3-EC43-7692-A85E8A4BA750}"/>
          </ac:spMkLst>
        </pc:spChg>
      </pc:sldChg>
      <pc:sldChg chg="modSp mod">
        <pc:chgData name="Michael Johansen" userId="f19741a5-5ca6-49d9-9108-5bf2e924580c" providerId="ADAL" clId="{69333D99-AD72-4C08-998C-833596EDA201}" dt="2025-12-10T20:57:43.537" v="101" actId="20577"/>
        <pc:sldMkLst>
          <pc:docMk/>
          <pc:sldMk cId="3794937549" sldId="2449"/>
        </pc:sldMkLst>
        <pc:graphicFrameChg chg="modGraphic">
          <ac:chgData name="Michael Johansen" userId="f19741a5-5ca6-49d9-9108-5bf2e924580c" providerId="ADAL" clId="{69333D99-AD72-4C08-998C-833596EDA201}" dt="2025-12-10T20:57:43.537" v="101" actId="20577"/>
          <ac:graphicFrameMkLst>
            <pc:docMk/>
            <pc:sldMk cId="3794937549" sldId="2449"/>
            <ac:graphicFrameMk id="6" creationId="{5AB1FCD8-B177-338C-2856-80C732E79962}"/>
          </ac:graphicFrameMkLst>
        </pc:graphicFrameChg>
      </pc:sldChg>
      <pc:sldChg chg="modSp mod">
        <pc:chgData name="Michael Johansen" userId="f19741a5-5ca6-49d9-9108-5bf2e924580c" providerId="ADAL" clId="{69333D99-AD72-4C08-998C-833596EDA201}" dt="2025-12-10T21:14:58.334" v="116" actId="20577"/>
        <pc:sldMkLst>
          <pc:docMk/>
          <pc:sldMk cId="2045860564" sldId="2452"/>
        </pc:sldMkLst>
        <pc:graphicFrameChg chg="modGraphic">
          <ac:chgData name="Michael Johansen" userId="f19741a5-5ca6-49d9-9108-5bf2e924580c" providerId="ADAL" clId="{69333D99-AD72-4C08-998C-833596EDA201}" dt="2025-12-10T21:14:58.334" v="116" actId="20577"/>
          <ac:graphicFrameMkLst>
            <pc:docMk/>
            <pc:sldMk cId="2045860564" sldId="2452"/>
            <ac:graphicFrameMk id="6" creationId="{76F6519B-95E6-97DA-800D-81C3074C623C}"/>
          </ac:graphicFrameMkLst>
        </pc:graphicFrameChg>
      </pc:sldChg>
      <pc:sldChg chg="modSp mod">
        <pc:chgData name="Michael Johansen" userId="f19741a5-5ca6-49d9-9108-5bf2e924580c" providerId="ADAL" clId="{69333D99-AD72-4C08-998C-833596EDA201}" dt="2025-12-10T21:15:07.461" v="119" actId="1076"/>
        <pc:sldMkLst>
          <pc:docMk/>
          <pc:sldMk cId="2092512402" sldId="2453"/>
        </pc:sldMkLst>
        <pc:spChg chg="mod">
          <ac:chgData name="Michael Johansen" userId="f19741a5-5ca6-49d9-9108-5bf2e924580c" providerId="ADAL" clId="{69333D99-AD72-4C08-998C-833596EDA201}" dt="2025-12-10T20:59:12.929" v="112" actId="20577"/>
          <ac:spMkLst>
            <pc:docMk/>
            <pc:sldMk cId="2092512402" sldId="2453"/>
            <ac:spMk id="5" creationId="{3CC5DB54-F80F-BF04-CB19-CDB8954EDC34}"/>
          </ac:spMkLst>
        </pc:spChg>
        <pc:graphicFrameChg chg="mod">
          <ac:chgData name="Michael Johansen" userId="f19741a5-5ca6-49d9-9108-5bf2e924580c" providerId="ADAL" clId="{69333D99-AD72-4C08-998C-833596EDA201}" dt="2025-12-10T20:59:08.515" v="110" actId="1076"/>
          <ac:graphicFrameMkLst>
            <pc:docMk/>
            <pc:sldMk cId="2092512402" sldId="2453"/>
            <ac:graphicFrameMk id="3" creationId="{9C5C4C43-02A9-A4BD-90BD-DF32F3A4AC7F}"/>
          </ac:graphicFrameMkLst>
        </pc:graphicFrameChg>
        <pc:graphicFrameChg chg="mod modGraphic">
          <ac:chgData name="Michael Johansen" userId="f19741a5-5ca6-49d9-9108-5bf2e924580c" providerId="ADAL" clId="{69333D99-AD72-4C08-998C-833596EDA201}" dt="2025-12-10T21:15:07.461" v="119" actId="1076"/>
          <ac:graphicFrameMkLst>
            <pc:docMk/>
            <pc:sldMk cId="2092512402" sldId="2453"/>
            <ac:graphicFrameMk id="6" creationId="{338ACB8B-94E7-2CEF-AC30-07587187CDDF}"/>
          </ac:graphicFrameMkLst>
        </pc:graphicFrameChg>
      </pc:sldChg>
    </pc:docChg>
  </pc:docChgLst>
  <pc:docChgLst>
    <pc:chgData name="Uma Kotipalli" userId="S::uma.kotipalli@glchemtec.ca::7611061b-f7f0-480b-87d4-996561cd50da" providerId="AD" clId="Web-{A8A4DF56-3F4D-578E-7C4F-500172AE6A4E}"/>
    <pc:docChg chg="modSld">
      <pc:chgData name="Uma Kotipalli" userId="S::uma.kotipalli@glchemtec.ca::7611061b-f7f0-480b-87d4-996561cd50da" providerId="AD" clId="Web-{A8A4DF56-3F4D-578E-7C4F-500172AE6A4E}" dt="2025-12-10T19:56:59.496" v="81"/>
      <pc:docMkLst>
        <pc:docMk/>
      </pc:docMkLst>
      <pc:sldChg chg="modSp">
        <pc:chgData name="Uma Kotipalli" userId="S::uma.kotipalli@glchemtec.ca::7611061b-f7f0-480b-87d4-996561cd50da" providerId="AD" clId="Web-{A8A4DF56-3F4D-578E-7C4F-500172AE6A4E}" dt="2025-12-10T19:56:59.496" v="81"/>
        <pc:sldMkLst>
          <pc:docMk/>
          <pc:sldMk cId="3794937549" sldId="2449"/>
        </pc:sldMkLst>
        <pc:graphicFrameChg chg="mod modGraphic">
          <ac:chgData name="Uma Kotipalli" userId="S::uma.kotipalli@glchemtec.ca::7611061b-f7f0-480b-87d4-996561cd50da" providerId="AD" clId="Web-{A8A4DF56-3F4D-578E-7C4F-500172AE6A4E}" dt="2025-12-10T19:56:59.496" v="81"/>
          <ac:graphicFrameMkLst>
            <pc:docMk/>
            <pc:sldMk cId="3794937549" sldId="2449"/>
            <ac:graphicFrameMk id="6" creationId="{5AB1FCD8-B177-338C-2856-80C732E79962}"/>
          </ac:graphicFrameMkLst>
        </pc:graphicFrameChg>
      </pc:sldChg>
    </pc:docChg>
  </pc:docChgLst>
  <pc:docChgLst>
    <pc:chgData name="Uma Kotipalli" userId="S::uma.kotipalli@glchemtec.ca::7611061b-f7f0-480b-87d4-996561cd50da" providerId="AD" clId="Web-{5E61B5D5-9972-BC1D-5032-B9EC7121CDBB}"/>
    <pc:docChg chg="modSld">
      <pc:chgData name="Uma Kotipalli" userId="S::uma.kotipalli@glchemtec.ca::7611061b-f7f0-480b-87d4-996561cd50da" providerId="AD" clId="Web-{5E61B5D5-9972-BC1D-5032-B9EC7121CDBB}" dt="2025-12-10T20:05:59.713" v="27"/>
      <pc:docMkLst>
        <pc:docMk/>
      </pc:docMkLst>
      <pc:sldChg chg="modSp">
        <pc:chgData name="Uma Kotipalli" userId="S::uma.kotipalli@glchemtec.ca::7611061b-f7f0-480b-87d4-996561cd50da" providerId="AD" clId="Web-{5E61B5D5-9972-BC1D-5032-B9EC7121CDBB}" dt="2025-12-10T20:05:59.713" v="27"/>
        <pc:sldMkLst>
          <pc:docMk/>
          <pc:sldMk cId="2045860564" sldId="2452"/>
        </pc:sldMkLst>
        <pc:graphicFrameChg chg="mod modGraphic">
          <ac:chgData name="Uma Kotipalli" userId="S::uma.kotipalli@glchemtec.ca::7611061b-f7f0-480b-87d4-996561cd50da" providerId="AD" clId="Web-{5E61B5D5-9972-BC1D-5032-B9EC7121CDBB}" dt="2025-12-10T20:05:59.713" v="27"/>
          <ac:graphicFrameMkLst>
            <pc:docMk/>
            <pc:sldMk cId="2045860564" sldId="2452"/>
            <ac:graphicFrameMk id="6" creationId="{76F6519B-95E6-97DA-800D-81C3074C623C}"/>
          </ac:graphicFrameMkLst>
        </pc:graphicFrameChg>
      </pc:sldChg>
      <pc:sldChg chg="modSp">
        <pc:chgData name="Uma Kotipalli" userId="S::uma.kotipalli@glchemtec.ca::7611061b-f7f0-480b-87d4-996561cd50da" providerId="AD" clId="Web-{5E61B5D5-9972-BC1D-5032-B9EC7121CDBB}" dt="2025-12-10T20:05:45.728" v="23"/>
        <pc:sldMkLst>
          <pc:docMk/>
          <pc:sldMk cId="2092512402" sldId="2453"/>
        </pc:sldMkLst>
        <pc:graphicFrameChg chg="mod modGraphic">
          <ac:chgData name="Uma Kotipalli" userId="S::uma.kotipalli@glchemtec.ca::7611061b-f7f0-480b-87d4-996561cd50da" providerId="AD" clId="Web-{5E61B5D5-9972-BC1D-5032-B9EC7121CDBB}" dt="2025-12-10T20:05:45.728" v="23"/>
          <ac:graphicFrameMkLst>
            <pc:docMk/>
            <pc:sldMk cId="2092512402" sldId="2453"/>
            <ac:graphicFrameMk id="6" creationId="{338ACB8B-94E7-2CEF-AC30-07587187CDDF}"/>
          </ac:graphicFrameMkLst>
        </pc:graphicFrameChg>
      </pc:sldChg>
    </pc:docChg>
  </pc:docChgLst>
  <pc:docChgLst>
    <pc:chgData name="Uma Kotipalli" userId="S::uma.kotipalli@glchemtec.ca::7611061b-f7f0-480b-87d4-996561cd50da" providerId="AD" clId="Web-{E90EDEC7-99B2-F12F-EC90-64E4F2491E6F}"/>
    <pc:docChg chg="modSld">
      <pc:chgData name="Uma Kotipalli" userId="S::uma.kotipalli@glchemtec.ca::7611061b-f7f0-480b-87d4-996561cd50da" providerId="AD" clId="Web-{E90EDEC7-99B2-F12F-EC90-64E4F2491E6F}" dt="2025-12-11T21:25:57.745" v="13" actId="20577"/>
      <pc:docMkLst>
        <pc:docMk/>
      </pc:docMkLst>
      <pc:sldChg chg="modSp">
        <pc:chgData name="Uma Kotipalli" userId="S::uma.kotipalli@glchemtec.ca::7611061b-f7f0-480b-87d4-996561cd50da" providerId="AD" clId="Web-{E90EDEC7-99B2-F12F-EC90-64E4F2491E6F}" dt="2025-12-11T21:25:57.745" v="13" actId="20577"/>
        <pc:sldMkLst>
          <pc:docMk/>
          <pc:sldMk cId="2008016642" sldId="2439"/>
        </pc:sldMkLst>
        <pc:spChg chg="mod">
          <ac:chgData name="Uma Kotipalli" userId="S::uma.kotipalli@glchemtec.ca::7611061b-f7f0-480b-87d4-996561cd50da" providerId="AD" clId="Web-{E90EDEC7-99B2-F12F-EC90-64E4F2491E6F}" dt="2025-12-11T21:25:57.745" v="13" actId="20577"/>
          <ac:spMkLst>
            <pc:docMk/>
            <pc:sldMk cId="2008016642" sldId="2439"/>
            <ac:spMk id="7" creationId="{24B96C93-50DF-5F91-4F08-CF730E91FB4E}"/>
          </ac:spMkLst>
        </pc:spChg>
      </pc:sldChg>
      <pc:sldChg chg="modSp">
        <pc:chgData name="Uma Kotipalli" userId="S::uma.kotipalli@glchemtec.ca::7611061b-f7f0-480b-87d4-996561cd50da" providerId="AD" clId="Web-{E90EDEC7-99B2-F12F-EC90-64E4F2491E6F}" dt="2025-12-11T21:25:18.698" v="11"/>
        <pc:sldMkLst>
          <pc:docMk/>
          <pc:sldMk cId="2972575232" sldId="2446"/>
        </pc:sldMkLst>
        <pc:graphicFrameChg chg="mod modGraphic">
          <ac:chgData name="Uma Kotipalli" userId="S::uma.kotipalli@glchemtec.ca::7611061b-f7f0-480b-87d4-996561cd50da" providerId="AD" clId="Web-{E90EDEC7-99B2-F12F-EC90-64E4F2491E6F}" dt="2025-12-11T21:25:18.698" v="11"/>
          <ac:graphicFrameMkLst>
            <pc:docMk/>
            <pc:sldMk cId="2972575232" sldId="2446"/>
            <ac:graphicFrameMk id="6" creationId="{F6C3037E-9094-9934-9986-A4362C88404B}"/>
          </ac:graphicFrameMkLst>
        </pc:graphicFrameChg>
      </pc:sldChg>
    </pc:docChg>
  </pc:docChgLst>
  <pc:docChgLst>
    <pc:chgData name="Michael Johansen" userId="S::michael.johansen@glchemtec.ca::f19741a5-5ca6-49d9-9108-5bf2e924580c" providerId="AD" clId="Web-{95F5C027-9DA6-F42E-10C3-A7C1425023A2}"/>
    <pc:docChg chg="modSld">
      <pc:chgData name="Michael Johansen" userId="S::michael.johansen@glchemtec.ca::f19741a5-5ca6-49d9-9108-5bf2e924580c" providerId="AD" clId="Web-{95F5C027-9DA6-F42E-10C3-A7C1425023A2}" dt="2025-12-10T21:19:22.101" v="45"/>
      <pc:docMkLst>
        <pc:docMk/>
      </pc:docMkLst>
      <pc:sldChg chg="modSp">
        <pc:chgData name="Michael Johansen" userId="S::michael.johansen@glchemtec.ca::f19741a5-5ca6-49d9-9108-5bf2e924580c" providerId="AD" clId="Web-{95F5C027-9DA6-F42E-10C3-A7C1425023A2}" dt="2025-12-10T21:18:29.398" v="41"/>
        <pc:sldMkLst>
          <pc:docMk/>
          <pc:sldMk cId="1671986136" sldId="2416"/>
        </pc:sldMkLst>
        <pc:graphicFrameChg chg="mod modGraphic">
          <ac:chgData name="Michael Johansen" userId="S::michael.johansen@glchemtec.ca::f19741a5-5ca6-49d9-9108-5bf2e924580c" providerId="AD" clId="Web-{95F5C027-9DA6-F42E-10C3-A7C1425023A2}" dt="2025-12-10T21:18:29.398" v="41"/>
          <ac:graphicFrameMkLst>
            <pc:docMk/>
            <pc:sldMk cId="1671986136" sldId="2416"/>
            <ac:graphicFrameMk id="6" creationId="{0F369F0C-7D80-853D-4365-20817BCA7100}"/>
          </ac:graphicFrameMkLst>
        </pc:graphicFrameChg>
      </pc:sldChg>
      <pc:sldChg chg="modSp">
        <pc:chgData name="Michael Johansen" userId="S::michael.johansen@glchemtec.ca::f19741a5-5ca6-49d9-9108-5bf2e924580c" providerId="AD" clId="Web-{95F5C027-9DA6-F42E-10C3-A7C1425023A2}" dt="2025-12-10T21:19:22.101" v="45"/>
        <pc:sldMkLst>
          <pc:docMk/>
          <pc:sldMk cId="2666472270" sldId="2435"/>
        </pc:sldMkLst>
        <pc:graphicFrameChg chg="mod modGraphic">
          <ac:chgData name="Michael Johansen" userId="S::michael.johansen@glchemtec.ca::f19741a5-5ca6-49d9-9108-5bf2e924580c" providerId="AD" clId="Web-{95F5C027-9DA6-F42E-10C3-A7C1425023A2}" dt="2025-12-10T21:19:22.101" v="45"/>
          <ac:graphicFrameMkLst>
            <pc:docMk/>
            <pc:sldMk cId="2666472270" sldId="2435"/>
            <ac:graphicFrameMk id="6" creationId="{6FE00312-1F4A-D1E0-A786-606E2DD87D66}"/>
          </ac:graphicFrameMkLst>
        </pc:graphicFrame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CA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7CADC0E-CA02-4C6D-BCB1-CE1F658D8E04}" type="datetimeFigureOut">
              <a:rPr lang="en-CA" smtClean="0"/>
              <a:t>2025-12-11</a:t>
            </a:fld>
            <a:endParaRPr lang="en-CA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CA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CA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87733B8-DBC6-4BB2-BB7C-7FB3036401BB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267548321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3C6D8EB-0C93-87AB-E7CC-657F47CFF6A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E54EE4A-9DDA-C49E-2829-EB253E2B972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CA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234B246-E230-2354-D897-6DC031F771F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B67E70-BAA7-4D4E-9984-0FF5232189FB}" type="datetime1">
              <a:rPr lang="en-CA" smtClean="0"/>
              <a:t>2025-12-11</a:t>
            </a:fld>
            <a:endParaRPr lang="en-C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4EBE239-AE91-FD8C-1B3E-7DF2AB93BC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C810CC8-EF02-879E-CA05-7BEECB7C94A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A4EED0-3062-4FD1-BEF8-B2FA9954D895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238774150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FBC1A0E-5A9E-8664-1F55-249012A7842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324ED06-A142-4D31-C43B-58612392BB2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B6021F8-C406-6662-CFA6-BF95800CEE1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96C0B0-6607-4FCB-8068-372912ADB589}" type="datetime1">
              <a:rPr lang="en-CA" smtClean="0"/>
              <a:t>2025-12-11</a:t>
            </a:fld>
            <a:endParaRPr lang="en-C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8F91779-1295-167D-83D2-8C6793B38EF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25096720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E3DF646-A05D-3358-C696-B765F24E764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4665B4C-5E8D-1170-88AB-ACB82F9918E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392C933-A08B-661D-6669-45923EBC31E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3181656-89FC-4542-8AF1-07EF35D0CC00}" type="datetime1">
              <a:rPr lang="en-CA" smtClean="0"/>
              <a:t>2025-12-11</a:t>
            </a:fld>
            <a:endParaRPr lang="en-C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A8EDA5A-4627-B215-971F-1D74A5C4B13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A1CBCFC-19A4-3A61-1134-D3B7D0D225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A4EED0-3062-4FD1-BEF8-B2FA9954D895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53136451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7A4DE0E-0ECB-5D81-C17F-91FE5BA49B3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2F2F8AD-7B1D-E625-CADB-529DCB955475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C49BB01-EC11-D9DD-033C-3A637FC8BB1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A00E9F0-B461-D97D-AE80-612632189D2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74657CE-E7C6-457B-870B-44FD388B8AF3}" type="datetime1">
              <a:rPr lang="en-CA" smtClean="0"/>
              <a:t>2025-12-11</a:t>
            </a:fld>
            <a:endParaRPr lang="en-CA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5990547-705D-85EF-21DD-36C2A3E4D97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A197765-C9E6-EC47-3EC3-F8BA5065FE5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A4EED0-3062-4FD1-BEF8-B2FA9954D895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321498798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BF6D2ED-7F15-D5ED-8E6C-AE71D6AA492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DD15725-0DF1-62F0-5747-C504FF96E48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17E9F2A-2FA9-E1F9-1733-0E69FB6E63F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183F96B4-65CD-64E7-3102-1A1C65963749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EFADC01D-0441-162C-E741-ACFA017A6F4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143D6770-C134-06D8-7DCF-A0F834D4DF9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955C3C-6E3C-4CD4-9E61-F754F172BBD5}" type="datetime1">
              <a:rPr lang="en-CA" smtClean="0"/>
              <a:t>2025-12-11</a:t>
            </a:fld>
            <a:endParaRPr lang="en-CA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DFA8A0F0-DC9A-EFB8-AC9B-62F4D338BB0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A6BB4C35-D0BC-FF55-32E6-229EFD9F386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A4EED0-3062-4FD1-BEF8-B2FA9954D895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211162233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0FDD973-B92F-F3E0-2416-BB119BDC2CB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FF847447-2EC6-EFDB-5854-4CE910A3258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CD14E2-AFC4-4A4E-9AA4-62C524FDD6A3}" type="datetime1">
              <a:rPr lang="en-CA" smtClean="0"/>
              <a:t>2025-12-11</a:t>
            </a:fld>
            <a:endParaRPr lang="en-CA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491F0A75-6C6E-D99C-C454-49CDE4AEDB5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BC5122F-BFF4-F8F5-4595-0F89580756F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A4EED0-3062-4FD1-BEF8-B2FA9954D895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420562454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4C28A79D-4917-B749-488E-B31D0A28F17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B8EFD68-856D-4B57-9B5F-03F8CE7ED4F5}" type="datetime1">
              <a:rPr lang="en-CA" smtClean="0"/>
              <a:t>2025-12-11</a:t>
            </a:fld>
            <a:endParaRPr lang="en-CA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52309955-541A-8889-C4EE-364FB4CCCD3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9AF1552-7490-F78B-E76C-407232661EA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A4EED0-3062-4FD1-BEF8-B2FA9954D895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319120144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64B8457-CA35-A9C8-5401-FB518DABF73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9D1355E-C758-B839-B06D-9EB7A30291F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2D9922F-E904-C97D-DD7E-E5EBA334BE0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A07A761-9554-E9C4-14D1-95DC5251A13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E6C5138-C663-42F4-9669-1F0F0E24F031}" type="datetime1">
              <a:rPr lang="en-CA" smtClean="0"/>
              <a:t>2025-12-11</a:t>
            </a:fld>
            <a:endParaRPr lang="en-CA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53B74E5-4C9C-275D-3FAC-BF78FBEB1AC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99AB715-22C5-45E9-B576-3E77EC784A3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A4EED0-3062-4FD1-BEF8-B2FA9954D895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319075476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36549B8-FA06-6457-8C1D-5AC094F36EC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DEA1DF49-0970-EDA6-372C-05F955F53F3D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CA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6C00EDE-C9A2-C846-8B17-12560B1418E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881FD7B-BCEA-B292-F533-26024BFDF16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0E9D47-EC35-4042-9830-F5ADF27D1718}" type="datetime1">
              <a:rPr lang="en-CA" smtClean="0"/>
              <a:t>2025-12-11</a:t>
            </a:fld>
            <a:endParaRPr lang="en-CA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D84464F-A9FA-75B9-E8B8-A445A289ABB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2D3F6CC-6976-A52D-401C-79082626FDB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A4EED0-3062-4FD1-BEF8-B2FA9954D895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132234077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B60C8BC-B1C0-23CA-F6E8-41EAE1AF6BE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79C4C452-F093-E7F9-FC0C-F483E4F33FA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40FF2D9-DDB3-F462-1CE4-14D0B25E7A4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7F15E4-69F7-4E02-84A6-9F8744735573}" type="datetime1">
              <a:rPr lang="en-CA" smtClean="0"/>
              <a:t>2025-12-11</a:t>
            </a:fld>
            <a:endParaRPr lang="en-C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DCDDCC8-E51C-EA0E-018B-6B1697ACD3A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4D733C4-2B84-60F6-0A9E-E98F5380519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A4EED0-3062-4FD1-BEF8-B2FA9954D895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391763315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57E056DD-7751-EF8B-5CC2-63D4B883CC52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4350CA3-3409-B546-0A37-3CA87F068DA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3D6C098-F763-FE47-664E-00A654A94DC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0A51541-2FDE-4B0D-90F4-6BC4C41638B1}" type="datetime1">
              <a:rPr lang="en-CA" smtClean="0"/>
              <a:t>2025-12-11</a:t>
            </a:fld>
            <a:endParaRPr lang="en-C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6440E12-EF68-1151-4A84-F6BAB13FBF5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38C3022-AE12-46CF-2FC4-8C66F3C6B69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A4EED0-3062-4FD1-BEF8-B2FA9954D895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425003597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FA4BB909-7CF0-523E-B7A1-BC88248D9A3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62E3958-EF51-F407-B55E-A74DC88757B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9224AF2-CF78-2C15-0470-66DDD8B0A7DC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7AEC002-FFBA-4C00-B541-B2E655B678CA}" type="datetime1">
              <a:rPr lang="en-CA" smtClean="0"/>
              <a:t>2025-12-11</a:t>
            </a:fld>
            <a:endParaRPr lang="en-C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9981816-9C75-6E2B-24AD-7E39B53159E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C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D59CFBB-8C77-6306-309A-3F13D750EF6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A4EED0-3062-4FD1-BEF8-B2FA9954D895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291945118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emf"/><Relationship Id="rId2" Type="http://schemas.openxmlformats.org/officeDocument/2006/relationships/oleObject" Target="../embeddings/oleObject1.bin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emf"/><Relationship Id="rId2" Type="http://schemas.openxmlformats.org/officeDocument/2006/relationships/oleObject" Target="../embeddings/oleObject2.bin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emf"/><Relationship Id="rId2" Type="http://schemas.openxmlformats.org/officeDocument/2006/relationships/oleObject" Target="../embeddings/oleObject3.bin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emf"/><Relationship Id="rId7" Type="http://schemas.openxmlformats.org/officeDocument/2006/relationships/image" Target="../media/image14.png"/><Relationship Id="rId2" Type="http://schemas.openxmlformats.org/officeDocument/2006/relationships/oleObject" Target="../embeddings/oleObject4.bin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3.png"/><Relationship Id="rId5" Type="http://schemas.openxmlformats.org/officeDocument/2006/relationships/image" Target="../media/image12.emf"/><Relationship Id="rId4" Type="http://schemas.openxmlformats.org/officeDocument/2006/relationships/oleObject" Target="../embeddings/oleObject5.bin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emf"/><Relationship Id="rId2" Type="http://schemas.openxmlformats.org/officeDocument/2006/relationships/oleObject" Target="../embeddings/oleObject6.bin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5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emf"/><Relationship Id="rId2" Type="http://schemas.openxmlformats.org/officeDocument/2006/relationships/oleObject" Target="../embeddings/oleObject7.bin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7.emf"/><Relationship Id="rId4" Type="http://schemas.openxmlformats.org/officeDocument/2006/relationships/oleObject" Target="../embeddings/oleObject8.bin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emf"/><Relationship Id="rId2" Type="http://schemas.openxmlformats.org/officeDocument/2006/relationships/oleObject" Target="../embeddings/oleObject9.bin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9.png"/><Relationship Id="rId4" Type="http://schemas.openxmlformats.org/officeDocument/2006/relationships/image" Target="../media/image18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emf"/><Relationship Id="rId2" Type="http://schemas.openxmlformats.org/officeDocument/2006/relationships/oleObject" Target="../embeddings/oleObject10.bin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emf"/><Relationship Id="rId7" Type="http://schemas.openxmlformats.org/officeDocument/2006/relationships/image" Target="../media/image23.png"/><Relationship Id="rId2" Type="http://schemas.openxmlformats.org/officeDocument/2006/relationships/oleObject" Target="../embeddings/oleObject11.bin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7.emf"/><Relationship Id="rId5" Type="http://schemas.openxmlformats.org/officeDocument/2006/relationships/oleObject" Target="../embeddings/oleObject8.bin"/><Relationship Id="rId4" Type="http://schemas.openxmlformats.org/officeDocument/2006/relationships/image" Target="../media/image22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emf"/><Relationship Id="rId2" Type="http://schemas.openxmlformats.org/officeDocument/2006/relationships/oleObject" Target="../embeddings/oleObject10.bin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emf"/><Relationship Id="rId2" Type="http://schemas.openxmlformats.org/officeDocument/2006/relationships/oleObject" Target="../embeddings/oleObject11.bin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7.emf"/><Relationship Id="rId5" Type="http://schemas.openxmlformats.org/officeDocument/2006/relationships/oleObject" Target="../embeddings/oleObject8.bin"/><Relationship Id="rId4" Type="http://schemas.openxmlformats.org/officeDocument/2006/relationships/image" Target="../media/image22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2.bin"/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1.emf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emf"/><Relationship Id="rId2" Type="http://schemas.openxmlformats.org/officeDocument/2006/relationships/oleObject" Target="../embeddings/oleObject12.bin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5.emf"/><Relationship Id="rId4" Type="http://schemas.openxmlformats.org/officeDocument/2006/relationships/oleObject" Target="../embeddings/oleObject13.bin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emf"/><Relationship Id="rId2" Type="http://schemas.openxmlformats.org/officeDocument/2006/relationships/oleObject" Target="../embeddings/oleObject11.bin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7.png"/><Relationship Id="rId4" Type="http://schemas.openxmlformats.org/officeDocument/2006/relationships/image" Target="../media/image26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emf"/><Relationship Id="rId2" Type="http://schemas.openxmlformats.org/officeDocument/2006/relationships/oleObject" Target="../embeddings/oleObject10.bin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emf"/><Relationship Id="rId2" Type="http://schemas.openxmlformats.org/officeDocument/2006/relationships/oleObject" Target="../embeddings/oleObject14.bin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emf"/><Relationship Id="rId2" Type="http://schemas.openxmlformats.org/officeDocument/2006/relationships/oleObject" Target="../embeddings/oleObject14.bin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 descr="A white background with black text&#10;&#10;Description automatically generated">
            <a:extLst>
              <a:ext uri="{FF2B5EF4-FFF2-40B4-BE49-F238E27FC236}">
                <a16:creationId xmlns:a16="http://schemas.microsoft.com/office/drawing/2014/main" id="{81F817E7-FA74-A794-0C2A-F51FF60514F3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69675" y="4494046"/>
            <a:ext cx="4012096" cy="1426523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sp>
        <p:nvSpPr>
          <p:cNvPr id="10" name="Title 1">
            <a:extLst>
              <a:ext uri="{FF2B5EF4-FFF2-40B4-BE49-F238E27FC236}">
                <a16:creationId xmlns:a16="http://schemas.microsoft.com/office/drawing/2014/main" id="{5B10E9E4-519C-56D0-D039-9D8F36A2FDC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582295"/>
            <a:ext cx="9144000" cy="2387600"/>
          </a:xfrm>
        </p:spPr>
        <p:txBody>
          <a:bodyPr>
            <a:normAutofit/>
          </a:bodyPr>
          <a:lstStyle/>
          <a:p>
            <a:r>
              <a:rPr lang="en-CA" sz="3200" b="1">
                <a:latin typeface="Arial" panose="020B0604020202020204" pitchFamily="34" charset="0"/>
                <a:cs typeface="Arial" panose="020B0604020202020204" pitchFamily="34" charset="0"/>
              </a:rPr>
              <a:t>Duke / Richman</a:t>
            </a:r>
            <a:br>
              <a:rPr lang="en-CA" sz="3200" b="1"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en-CA" sz="3200" b="1">
                <a:latin typeface="Arial" panose="020B0604020202020204" pitchFamily="34" charset="0"/>
                <a:cs typeface="Arial" panose="020B0604020202020204" pitchFamily="34" charset="0"/>
              </a:rPr>
              <a:t>GLCRCI-11062025R1</a:t>
            </a:r>
            <a:br>
              <a:rPr lang="en-CA" sz="3200" b="1"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en-CA" sz="3200" b="1">
                <a:latin typeface="Arial" panose="020B0604020202020204" pitchFamily="34" charset="0"/>
                <a:cs typeface="Arial" panose="020B0604020202020204" pitchFamily="34" charset="0"/>
              </a:rPr>
              <a:t>Progress Update 05</a:t>
            </a:r>
          </a:p>
        </p:txBody>
      </p:sp>
      <p:sp>
        <p:nvSpPr>
          <p:cNvPr id="11" name="Subtitle 2">
            <a:extLst>
              <a:ext uri="{FF2B5EF4-FFF2-40B4-BE49-F238E27FC236}">
                <a16:creationId xmlns:a16="http://schemas.microsoft.com/office/drawing/2014/main" id="{7651A1E5-BE4F-6C17-39B2-783B38A4023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297238"/>
            <a:ext cx="9144000" cy="1655762"/>
          </a:xfrm>
        </p:spPr>
        <p:txBody>
          <a:bodyPr/>
          <a:lstStyle/>
          <a:p>
            <a:r>
              <a:rPr lang="en-CA">
                <a:latin typeface="Arial" panose="020B0604020202020204" pitchFamily="34" charset="0"/>
                <a:cs typeface="Arial" panose="020B0604020202020204" pitchFamily="34" charset="0"/>
              </a:rPr>
              <a:t>Dec 11</a:t>
            </a:r>
            <a:r>
              <a:rPr lang="en-CA" baseline="30000">
                <a:latin typeface="Arial" panose="020B0604020202020204" pitchFamily="34" charset="0"/>
                <a:cs typeface="Arial" panose="020B0604020202020204" pitchFamily="34" charset="0"/>
              </a:rPr>
              <a:t>th</a:t>
            </a:r>
            <a:r>
              <a:rPr lang="en-CA">
                <a:latin typeface="Arial" panose="020B0604020202020204" pitchFamily="34" charset="0"/>
                <a:cs typeface="Arial" panose="020B0604020202020204" pitchFamily="34" charset="0"/>
              </a:rPr>
              <a:t>, 2025</a:t>
            </a:r>
          </a:p>
          <a:p>
            <a:endParaRPr lang="en-CA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" name="Footer Placeholder 3">
            <a:extLst>
              <a:ext uri="{FF2B5EF4-FFF2-40B4-BE49-F238E27FC236}">
                <a16:creationId xmlns:a16="http://schemas.microsoft.com/office/drawing/2014/main" id="{F291BE86-E1EB-E68C-637D-643BBAF3F6C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</p:spPr>
        <p:txBody>
          <a:bodyPr/>
          <a:lstStyle/>
          <a:p>
            <a:r>
              <a:rPr lang="en-CA">
                <a:latin typeface="Arial" panose="020B0604020202020204" pitchFamily="34" charset="0"/>
                <a:cs typeface="Arial" panose="020B0604020202020204" pitchFamily="34" charset="0"/>
              </a:rPr>
              <a:t>CONFIDENTIAL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D42E54AB-24C7-914B-81CA-A307D00C92E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55906" y="5280343"/>
            <a:ext cx="4107873" cy="886529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pic>
        <p:nvPicPr>
          <p:cNvPr id="1026" name="x_Picture 1" descr="Duke Orthopaedic Surgery | Orthopaedic Care Cary | Orthopaedic Surgery ...">
            <a:extLst>
              <a:ext uri="{FF2B5EF4-FFF2-40B4-BE49-F238E27FC236}">
                <a16:creationId xmlns:a16="http://schemas.microsoft.com/office/drawing/2014/main" id="{3FD8C82A-B5DE-069C-CBCE-5D32B5FF38F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209183" y="4271283"/>
            <a:ext cx="5001318" cy="729358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</p:spTree>
    <p:extLst>
      <p:ext uri="{BB962C8B-B14F-4D97-AF65-F5344CB8AC3E}">
        <p14:creationId xmlns:p14="http://schemas.microsoft.com/office/powerpoint/2010/main" val="272552147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D63356A-49C2-F4FB-28D7-627149B2D05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8255"/>
            <a:ext cx="10515600" cy="1325563"/>
          </a:xfrm>
        </p:spPr>
        <p:txBody>
          <a:bodyPr>
            <a:normAutofit/>
          </a:bodyPr>
          <a:lstStyle/>
          <a:p>
            <a:pPr algn="ctr"/>
            <a:r>
              <a:rPr lang="en-CA" sz="2800" b="1">
                <a:latin typeface="+mn-lt"/>
                <a:cs typeface="Arial" panose="020B0604020202020204" pitchFamily="34" charset="0"/>
              </a:rPr>
              <a:t>GLCRCI-11062025R1</a:t>
            </a:r>
          </a:p>
        </p:txBody>
      </p:sp>
      <p:sp>
        <p:nvSpPr>
          <p:cNvPr id="6" name="Title 1">
            <a:extLst>
              <a:ext uri="{FF2B5EF4-FFF2-40B4-BE49-F238E27FC236}">
                <a16:creationId xmlns:a16="http://schemas.microsoft.com/office/drawing/2014/main" id="{7D49A7AF-E834-33AF-3164-514198C8A679}"/>
              </a:ext>
            </a:extLst>
          </p:cNvPr>
          <p:cNvSpPr txBox="1">
            <a:spLocks/>
          </p:cNvSpPr>
          <p:nvPr/>
        </p:nvSpPr>
        <p:spPr>
          <a:xfrm>
            <a:off x="838200" y="259158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CA" sz="1800" b="1" i="0" u="none" strike="noStrike" baseline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PROJECT OVERVIEW:</a:t>
            </a:r>
            <a:endParaRPr lang="en-CA" sz="2800" b="1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C70F59AE-6952-E6FA-B7FD-8176F1EE431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380371"/>
            <a:ext cx="10515600" cy="5075951"/>
          </a:xfrm>
        </p:spPr>
        <p:txBody>
          <a:bodyPr>
            <a:normAutofit/>
          </a:bodyPr>
          <a:lstStyle/>
          <a:p>
            <a:r>
              <a:rPr lang="en-US" sz="1800">
                <a:latin typeface="Arial" panose="020B0604020202020204" pitchFamily="34" charset="0"/>
                <a:cs typeface="Arial" panose="020B0604020202020204" pitchFamily="34" charset="0"/>
              </a:rPr>
              <a:t>GLC will perform the synthesis on a small scale to gain familiarity with the process and generate material on a non-GMP basis. </a:t>
            </a:r>
          </a:p>
          <a:p>
            <a:r>
              <a:rPr lang="en-US" sz="1800">
                <a:latin typeface="Arial" panose="020B0604020202020204" pitchFamily="34" charset="0"/>
                <a:cs typeface="Arial" panose="020B0604020202020204" pitchFamily="34" charset="0"/>
              </a:rPr>
              <a:t>After the non-GMP delivery, GLC will finalize its GMP quotation to Duke/Richman.</a:t>
            </a:r>
          </a:p>
          <a:p>
            <a:endParaRPr lang="en-US" sz="1800">
              <a:latin typeface="Arial" panose="020B0604020202020204" pitchFamily="34" charset="0"/>
              <a:cs typeface="Arial" panose="020B0604020202020204" pitchFamily="34" charset="0"/>
            </a:endParaRPr>
          </a:p>
          <a:p>
            <a:endParaRPr lang="en-CA" sz="180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8" name="Footer Placeholder 3">
            <a:extLst>
              <a:ext uri="{FF2B5EF4-FFF2-40B4-BE49-F238E27FC236}">
                <a16:creationId xmlns:a16="http://schemas.microsoft.com/office/drawing/2014/main" id="{284D2BDB-65DD-4860-AA85-F003DC34EB6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</p:spPr>
        <p:txBody>
          <a:bodyPr/>
          <a:lstStyle/>
          <a:p>
            <a:r>
              <a:rPr lang="en-CA">
                <a:latin typeface="Arial" panose="020B0604020202020204" pitchFamily="34" charset="0"/>
                <a:cs typeface="Arial" panose="020B0604020202020204" pitchFamily="34" charset="0"/>
              </a:rPr>
              <a:t>CONFIDENTIAL</a:t>
            </a:r>
          </a:p>
        </p:txBody>
      </p:sp>
      <p:sp>
        <p:nvSpPr>
          <p:cNvPr id="9" name="Slide Number Placeholder 4">
            <a:extLst>
              <a:ext uri="{FF2B5EF4-FFF2-40B4-BE49-F238E27FC236}">
                <a16:creationId xmlns:a16="http://schemas.microsoft.com/office/drawing/2014/main" id="{8EDE13B1-2EE9-56BF-984C-8DC0844D7C7B}"/>
              </a:ext>
            </a:extLst>
          </p:cNvPr>
          <p:cNvSpPr>
            <a:spLocks noGrp="1"/>
          </p:cNvSpPr>
          <p:nvPr/>
        </p:nvSpPr>
        <p:spPr>
          <a:xfrm>
            <a:off x="8899849" y="6492875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8483A229-2BE2-4044-957D-22ED1E4A33A3}" type="slidenum">
              <a:rPr lang="en-US" smtClean="0">
                <a:latin typeface="Arial" panose="020B0604020202020204" pitchFamily="34" charset="0"/>
                <a:cs typeface="Arial" panose="020B0604020202020204" pitchFamily="34" charset="0"/>
              </a:rPr>
              <a:pPr/>
              <a:t>2</a:t>
            </a:fld>
            <a:endParaRPr lang="en-US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graphicFrame>
        <p:nvGraphicFramePr>
          <p:cNvPr id="4" name="Object 3">
            <a:extLst>
              <a:ext uri="{FF2B5EF4-FFF2-40B4-BE49-F238E27FC236}">
                <a16:creationId xmlns:a16="http://schemas.microsoft.com/office/drawing/2014/main" id="{E02917D6-2847-15A0-1177-8547B83B8CAF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99426245"/>
              </p:ext>
            </p:extLst>
          </p:nvPr>
        </p:nvGraphicFramePr>
        <p:xfrm>
          <a:off x="4250921" y="2756694"/>
          <a:ext cx="3174974" cy="255480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CS ChemDraw Drawing" r:id="rId2" imgW="1292009" imgH="1039245" progId="ChemDraw.Document.6.0">
                  <p:embed/>
                </p:oleObj>
              </mc:Choice>
              <mc:Fallback>
                <p:oleObj name="CS ChemDraw Drawing" r:id="rId2" imgW="1292009" imgH="1039245" progId="ChemDraw.Document.6.0">
                  <p:embed/>
                  <p:pic>
                    <p:nvPicPr>
                      <p:cNvPr id="4" name="Object 3">
                        <a:extLst>
                          <a:ext uri="{FF2B5EF4-FFF2-40B4-BE49-F238E27FC236}">
                            <a16:creationId xmlns:a16="http://schemas.microsoft.com/office/drawing/2014/main" id="{E02917D6-2847-15A0-1177-8547B83B8CAF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3"/>
                      <a:stretch>
                        <a:fillRect/>
                      </a:stretch>
                    </p:blipFill>
                    <p:spPr>
                      <a:xfrm>
                        <a:off x="4250921" y="2756694"/>
                        <a:ext cx="3174974" cy="2554803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389087522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>
            <a:extLst>
              <a:ext uri="{FF2B5EF4-FFF2-40B4-BE49-F238E27FC236}">
                <a16:creationId xmlns:a16="http://schemas.microsoft.com/office/drawing/2014/main" id="{DC6B1FAD-3529-C3A0-58A8-2BA1CBB218C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6787"/>
            <a:ext cx="10515600" cy="1325563"/>
          </a:xfrm>
        </p:spPr>
        <p:txBody>
          <a:bodyPr>
            <a:normAutofit/>
          </a:bodyPr>
          <a:lstStyle/>
          <a:p>
            <a:pPr algn="ctr"/>
            <a:r>
              <a:rPr lang="en-CA" sz="2800" b="1">
                <a:latin typeface="+mn-lt"/>
                <a:cs typeface="Arial" panose="020B0604020202020204" pitchFamily="34" charset="0"/>
              </a:rPr>
              <a:t>GLCRCI-11062025R1</a:t>
            </a:r>
          </a:p>
        </p:txBody>
      </p:sp>
      <p:sp>
        <p:nvSpPr>
          <p:cNvPr id="5" name="Title 1">
            <a:extLst>
              <a:ext uri="{FF2B5EF4-FFF2-40B4-BE49-F238E27FC236}">
                <a16:creationId xmlns:a16="http://schemas.microsoft.com/office/drawing/2014/main" id="{AFC21273-4362-5106-7779-AF6C69AF5FCA}"/>
              </a:ext>
            </a:extLst>
          </p:cNvPr>
          <p:cNvSpPr txBox="1">
            <a:spLocks/>
          </p:cNvSpPr>
          <p:nvPr/>
        </p:nvSpPr>
        <p:spPr>
          <a:xfrm>
            <a:off x="838200" y="335977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endParaRPr lang="en-US" sz="1800" b="1" i="0" u="none" strike="noStrike" baseline="0">
              <a:solidFill>
                <a:srgbClr val="000000"/>
              </a:solidFill>
              <a:latin typeface="Arial" panose="020B0604020202020204" pitchFamily="34" charset="0"/>
            </a:endParaRPr>
          </a:p>
        </p:txBody>
      </p:sp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0802F200-1DB0-C97C-641C-8E9D2498CDC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179433"/>
            <a:ext cx="10515600" cy="5542042"/>
          </a:xfrm>
        </p:spPr>
        <p:txBody>
          <a:bodyPr numCol="1">
            <a:normAutofit/>
          </a:bodyPr>
          <a:lstStyle/>
          <a:p>
            <a:pPr marL="0" indent="0">
              <a:buNone/>
            </a:pPr>
            <a:r>
              <a:rPr lang="en-US" sz="1800" b="1">
                <a:latin typeface="Arial" panose="020B0604020202020204" pitchFamily="34" charset="0"/>
                <a:cs typeface="Arial" panose="020B0604020202020204" pitchFamily="34" charset="0"/>
              </a:rPr>
              <a:t>LDN-214117 Synthesis:</a:t>
            </a:r>
          </a:p>
          <a:p>
            <a:pPr marL="0" indent="0">
              <a:buNone/>
            </a:pPr>
            <a:endParaRPr lang="en-US" sz="1800" b="1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>
              <a:buNone/>
            </a:pPr>
            <a:endParaRPr lang="en-US" sz="1800" b="1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>
              <a:buNone/>
            </a:pPr>
            <a:endParaRPr lang="en-US" sz="1800" b="1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>
              <a:buNone/>
            </a:pPr>
            <a:endParaRPr lang="en-US" sz="1800" b="1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>
              <a:buNone/>
            </a:pPr>
            <a:endParaRPr lang="en-US" sz="1800" b="1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>
              <a:buNone/>
            </a:pPr>
            <a:endParaRPr lang="en-US" sz="1800" b="1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>
              <a:buNone/>
            </a:pPr>
            <a:endParaRPr lang="en-US" sz="1800" b="1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>
              <a:buNone/>
            </a:pPr>
            <a:endParaRPr lang="en-US" sz="1800" b="1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7" name="Footer Placeholder 3">
            <a:extLst>
              <a:ext uri="{FF2B5EF4-FFF2-40B4-BE49-F238E27FC236}">
                <a16:creationId xmlns:a16="http://schemas.microsoft.com/office/drawing/2014/main" id="{3564AA3B-0DB6-F3A1-5914-29160BBC71D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</p:spPr>
        <p:txBody>
          <a:bodyPr/>
          <a:lstStyle/>
          <a:p>
            <a:r>
              <a:rPr lang="en-CA">
                <a:latin typeface="Arial" panose="020B0604020202020204" pitchFamily="34" charset="0"/>
                <a:cs typeface="Arial" panose="020B0604020202020204" pitchFamily="34" charset="0"/>
              </a:rPr>
              <a:t>CONFIDENTIAL</a:t>
            </a:r>
          </a:p>
        </p:txBody>
      </p:sp>
      <p:sp>
        <p:nvSpPr>
          <p:cNvPr id="8" name="Slide Number Placeholder 4">
            <a:extLst>
              <a:ext uri="{FF2B5EF4-FFF2-40B4-BE49-F238E27FC236}">
                <a16:creationId xmlns:a16="http://schemas.microsoft.com/office/drawing/2014/main" id="{20E5A72D-AE47-2CEE-262B-F3C23E4275F5}"/>
              </a:ext>
            </a:extLst>
          </p:cNvPr>
          <p:cNvSpPr>
            <a:spLocks noGrp="1"/>
          </p:cNvSpPr>
          <p:nvPr/>
        </p:nvSpPr>
        <p:spPr>
          <a:xfrm>
            <a:off x="8899849" y="6492875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8483A229-2BE2-4044-957D-22ED1E4A33A3}" type="slidenum">
              <a:rPr lang="en-US" smtClean="0">
                <a:latin typeface="Arial" panose="020B0604020202020204" pitchFamily="34" charset="0"/>
                <a:cs typeface="Arial" panose="020B0604020202020204" pitchFamily="34" charset="0"/>
              </a:rPr>
              <a:pPr/>
              <a:t>3</a:t>
            </a:fld>
            <a:endParaRPr lang="en-US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graphicFrame>
        <p:nvGraphicFramePr>
          <p:cNvPr id="2" name="Object 1">
            <a:extLst>
              <a:ext uri="{FF2B5EF4-FFF2-40B4-BE49-F238E27FC236}">
                <a16:creationId xmlns:a16="http://schemas.microsoft.com/office/drawing/2014/main" id="{446596D6-350C-7046-A460-7725F0EBB0EB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24298061"/>
              </p:ext>
            </p:extLst>
          </p:nvPr>
        </p:nvGraphicFramePr>
        <p:xfrm>
          <a:off x="622300" y="2200275"/>
          <a:ext cx="10947400" cy="24542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CS ChemDraw Drawing" r:id="rId2" imgW="10946836" imgH="2453579" progId="ChemDraw.Document.6.0">
                  <p:embed/>
                </p:oleObj>
              </mc:Choice>
              <mc:Fallback>
                <p:oleObj name="CS ChemDraw Drawing" r:id="rId2" imgW="10946836" imgH="2453579" progId="ChemDraw.Document.6.0">
                  <p:embed/>
                  <p:pic>
                    <p:nvPicPr>
                      <p:cNvPr id="2" name="Object 1">
                        <a:extLst>
                          <a:ext uri="{FF2B5EF4-FFF2-40B4-BE49-F238E27FC236}">
                            <a16:creationId xmlns:a16="http://schemas.microsoft.com/office/drawing/2014/main" id="{446596D6-350C-7046-A460-7725F0EBB0EB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3"/>
                      <a:stretch>
                        <a:fillRect/>
                      </a:stretch>
                    </p:blipFill>
                    <p:spPr>
                      <a:xfrm>
                        <a:off x="622300" y="2200275"/>
                        <a:ext cx="10947400" cy="2454275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337452408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>
            <a:extLst>
              <a:ext uri="{FF2B5EF4-FFF2-40B4-BE49-F238E27FC236}">
                <a16:creationId xmlns:a16="http://schemas.microsoft.com/office/drawing/2014/main" id="{D3807344-C4D9-8225-E1F1-30C5C33D279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01202"/>
            <a:ext cx="10515600" cy="1325563"/>
          </a:xfrm>
        </p:spPr>
        <p:txBody>
          <a:bodyPr>
            <a:normAutofit/>
          </a:bodyPr>
          <a:lstStyle/>
          <a:p>
            <a:pPr algn="ctr"/>
            <a:r>
              <a:rPr lang="en-CA" sz="2800" b="1">
                <a:latin typeface="+mn-lt"/>
                <a:cs typeface="Arial" panose="020B0604020202020204" pitchFamily="34" charset="0"/>
              </a:rPr>
              <a:t>GLCRCI-11062025R1</a:t>
            </a:r>
          </a:p>
        </p:txBody>
      </p:sp>
      <p:sp>
        <p:nvSpPr>
          <p:cNvPr id="7" name="Footer Placeholder 3">
            <a:extLst>
              <a:ext uri="{FF2B5EF4-FFF2-40B4-BE49-F238E27FC236}">
                <a16:creationId xmlns:a16="http://schemas.microsoft.com/office/drawing/2014/main" id="{D4D9E5A7-5597-3904-0C2F-3F102911C4B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</p:spPr>
        <p:txBody>
          <a:bodyPr/>
          <a:lstStyle/>
          <a:p>
            <a:r>
              <a:rPr lang="en-CA">
                <a:latin typeface="Arial" panose="020B0604020202020204" pitchFamily="34" charset="0"/>
                <a:cs typeface="Arial" panose="020B0604020202020204" pitchFamily="34" charset="0"/>
              </a:rPr>
              <a:t>CONFIDENTIAL</a:t>
            </a:r>
          </a:p>
        </p:txBody>
      </p:sp>
      <p:sp>
        <p:nvSpPr>
          <p:cNvPr id="8" name="Slide Number Placeholder 4">
            <a:extLst>
              <a:ext uri="{FF2B5EF4-FFF2-40B4-BE49-F238E27FC236}">
                <a16:creationId xmlns:a16="http://schemas.microsoft.com/office/drawing/2014/main" id="{22534FBB-4789-FC0C-83BF-B85DF552B52E}"/>
              </a:ext>
            </a:extLst>
          </p:cNvPr>
          <p:cNvSpPr>
            <a:spLocks noGrp="1"/>
          </p:cNvSpPr>
          <p:nvPr/>
        </p:nvSpPr>
        <p:spPr>
          <a:xfrm>
            <a:off x="8899849" y="6492875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8483A229-2BE2-4044-957D-22ED1E4A33A3}" type="slidenum">
              <a:rPr lang="en-US" smtClean="0">
                <a:latin typeface="Arial" panose="020B0604020202020204" pitchFamily="34" charset="0"/>
                <a:cs typeface="Arial" panose="020B0604020202020204" pitchFamily="34" charset="0"/>
              </a:rPr>
              <a:pPr/>
              <a:t>4</a:t>
            </a:fld>
            <a:endParaRPr lang="en-US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1B3CFCA0-EB7A-D89D-2F69-0755E26C3DDD}"/>
              </a:ext>
            </a:extLst>
          </p:cNvPr>
          <p:cNvSpPr txBox="1">
            <a:spLocks/>
          </p:cNvSpPr>
          <p:nvPr/>
        </p:nvSpPr>
        <p:spPr>
          <a:xfrm>
            <a:off x="838200" y="488337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endParaRPr lang="en-US" sz="1800" b="1" i="0" u="none" strike="noStrike" baseline="0">
              <a:solidFill>
                <a:srgbClr val="000000"/>
              </a:solidFill>
              <a:latin typeface="Arial" panose="020B0604020202020204" pitchFamily="34" charset="0"/>
            </a:endParaRPr>
          </a:p>
          <a:p>
            <a:r>
              <a:rPr lang="en-US" sz="1800" b="1" i="0" u="none" strike="noStrike" baseline="0">
                <a:solidFill>
                  <a:srgbClr val="000000"/>
                </a:solidFill>
                <a:latin typeface="Arial" panose="020B0604020202020204" pitchFamily="34" charset="0"/>
              </a:rPr>
              <a:t>LDN-214117 non-GMP Draft Specifications</a:t>
            </a: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E54BD41B-79F9-73E8-4F83-6EDC86D2D66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37810" y="1813900"/>
            <a:ext cx="7916380" cy="289600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8371920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>
            <a:extLst>
              <a:ext uri="{FF2B5EF4-FFF2-40B4-BE49-F238E27FC236}">
                <a16:creationId xmlns:a16="http://schemas.microsoft.com/office/drawing/2014/main" id="{B79A0DBC-6795-8698-1A9F-AA6BE810ADB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01202"/>
            <a:ext cx="10515600" cy="1325563"/>
          </a:xfrm>
        </p:spPr>
        <p:txBody>
          <a:bodyPr>
            <a:normAutofit/>
          </a:bodyPr>
          <a:lstStyle/>
          <a:p>
            <a:pPr algn="ctr"/>
            <a:r>
              <a:rPr lang="en-CA" sz="2800" b="1">
                <a:latin typeface="+mn-lt"/>
                <a:cs typeface="Arial" panose="020B0604020202020204" pitchFamily="34" charset="0"/>
              </a:rPr>
              <a:t>GLCRCI-11062025R1</a:t>
            </a:r>
          </a:p>
        </p:txBody>
      </p:sp>
      <p:sp>
        <p:nvSpPr>
          <p:cNvPr id="5" name="Footer Placeholder 3">
            <a:extLst>
              <a:ext uri="{FF2B5EF4-FFF2-40B4-BE49-F238E27FC236}">
                <a16:creationId xmlns:a16="http://schemas.microsoft.com/office/drawing/2014/main" id="{83C367E8-7C53-48A0-66BE-22A115A38FF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</p:spPr>
        <p:txBody>
          <a:bodyPr/>
          <a:lstStyle/>
          <a:p>
            <a:r>
              <a:rPr lang="en-CA">
                <a:latin typeface="Arial" panose="020B0604020202020204" pitchFamily="34" charset="0"/>
                <a:cs typeface="Arial" panose="020B0604020202020204" pitchFamily="34" charset="0"/>
              </a:rPr>
              <a:t>CONFIDENTIAL</a:t>
            </a:r>
          </a:p>
        </p:txBody>
      </p:sp>
      <p:sp>
        <p:nvSpPr>
          <p:cNvPr id="6" name="Slide Number Placeholder 4">
            <a:extLst>
              <a:ext uri="{FF2B5EF4-FFF2-40B4-BE49-F238E27FC236}">
                <a16:creationId xmlns:a16="http://schemas.microsoft.com/office/drawing/2014/main" id="{4864F500-554E-CA03-234C-B8861030F1BB}"/>
              </a:ext>
            </a:extLst>
          </p:cNvPr>
          <p:cNvSpPr>
            <a:spLocks noGrp="1"/>
          </p:cNvSpPr>
          <p:nvPr/>
        </p:nvSpPr>
        <p:spPr>
          <a:xfrm>
            <a:off x="8899849" y="6492875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8483A229-2BE2-4044-957D-22ED1E4A33A3}" type="slidenum">
              <a:rPr lang="en-US" smtClean="0">
                <a:latin typeface="Arial" panose="020B0604020202020204" pitchFamily="34" charset="0"/>
                <a:cs typeface="Arial" panose="020B0604020202020204" pitchFamily="34" charset="0"/>
              </a:rPr>
              <a:pPr/>
              <a:t>5</a:t>
            </a:fld>
            <a:endParaRPr lang="en-US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7" name="Title 1">
            <a:extLst>
              <a:ext uri="{FF2B5EF4-FFF2-40B4-BE49-F238E27FC236}">
                <a16:creationId xmlns:a16="http://schemas.microsoft.com/office/drawing/2014/main" id="{937B899F-529D-F26E-6A2B-E4F4A8FA176A}"/>
              </a:ext>
            </a:extLst>
          </p:cNvPr>
          <p:cNvSpPr txBox="1">
            <a:spLocks/>
          </p:cNvSpPr>
          <p:nvPr/>
        </p:nvSpPr>
        <p:spPr>
          <a:xfrm>
            <a:off x="838200" y="488337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endParaRPr lang="en-US" sz="1800" b="1" i="0" u="none" strike="noStrike" baseline="0">
              <a:solidFill>
                <a:srgbClr val="000000"/>
              </a:solidFill>
              <a:latin typeface="Arial" panose="020B0604020202020204" pitchFamily="34" charset="0"/>
            </a:endParaRPr>
          </a:p>
          <a:p>
            <a:r>
              <a:rPr lang="en-US" sz="1800" b="1" i="0" u="none" strike="noStrike" baseline="0">
                <a:solidFill>
                  <a:srgbClr val="000000"/>
                </a:solidFill>
                <a:latin typeface="Arial" panose="020B0604020202020204" pitchFamily="34" charset="0"/>
              </a:rPr>
              <a:t>LDN-214117 cGMP Draft Specifications</a:t>
            </a: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66339F60-7EFA-DF15-C044-91E6D62BA38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18757" y="1813900"/>
            <a:ext cx="7954485" cy="33151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4604436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C6F3533-1ADD-67C7-8628-FEC74B6AFB6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>
            <a:extLst>
              <a:ext uri="{FF2B5EF4-FFF2-40B4-BE49-F238E27FC236}">
                <a16:creationId xmlns:a16="http://schemas.microsoft.com/office/drawing/2014/main" id="{6846F5EE-3353-4D30-AF3A-F5D367AD83C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35563" y="-359111"/>
            <a:ext cx="10515600" cy="1325563"/>
          </a:xfrm>
        </p:spPr>
        <p:txBody>
          <a:bodyPr>
            <a:normAutofit/>
          </a:bodyPr>
          <a:lstStyle/>
          <a:p>
            <a:pPr algn="ctr"/>
            <a:r>
              <a:rPr lang="en-CA" sz="2800" b="1">
                <a:latin typeface="+mn-lt"/>
                <a:cs typeface="Arial" panose="020B0604020202020204" pitchFamily="34" charset="0"/>
              </a:rPr>
              <a:t>GLCRCI-11062025R1</a:t>
            </a:r>
          </a:p>
        </p:txBody>
      </p:sp>
      <p:sp>
        <p:nvSpPr>
          <p:cNvPr id="7" name="Footer Placeholder 3">
            <a:extLst>
              <a:ext uri="{FF2B5EF4-FFF2-40B4-BE49-F238E27FC236}">
                <a16:creationId xmlns:a16="http://schemas.microsoft.com/office/drawing/2014/main" id="{FE679322-16C3-26CF-2838-F5B2559A2F1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589497"/>
            <a:ext cx="4114800" cy="365125"/>
          </a:xfrm>
        </p:spPr>
        <p:txBody>
          <a:bodyPr/>
          <a:lstStyle/>
          <a:p>
            <a:r>
              <a:rPr lang="en-CA">
                <a:latin typeface="Arial" panose="020B0604020202020204" pitchFamily="34" charset="0"/>
                <a:cs typeface="Arial" panose="020B0604020202020204" pitchFamily="34" charset="0"/>
              </a:rPr>
              <a:t>CONFIDENTIAL</a:t>
            </a:r>
          </a:p>
        </p:txBody>
      </p:sp>
      <p:sp>
        <p:nvSpPr>
          <p:cNvPr id="8" name="Slide Number Placeholder 4">
            <a:extLst>
              <a:ext uri="{FF2B5EF4-FFF2-40B4-BE49-F238E27FC236}">
                <a16:creationId xmlns:a16="http://schemas.microsoft.com/office/drawing/2014/main" id="{ECE5B8ED-E6F1-58B0-EA5F-CAC33B3DE78B}"/>
              </a:ext>
            </a:extLst>
          </p:cNvPr>
          <p:cNvSpPr>
            <a:spLocks noGrp="1"/>
          </p:cNvSpPr>
          <p:nvPr/>
        </p:nvSpPr>
        <p:spPr>
          <a:xfrm>
            <a:off x="8899849" y="6492875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8483A229-2BE2-4044-957D-22ED1E4A33A3}" type="slidenum">
              <a:rPr lang="en-US" smtClean="0">
                <a:latin typeface="Arial" panose="020B0604020202020204" pitchFamily="34" charset="0"/>
                <a:cs typeface="Arial" panose="020B0604020202020204" pitchFamily="34" charset="0"/>
              </a:rPr>
              <a:pPr/>
              <a:t>6</a:t>
            </a:fld>
            <a:endParaRPr lang="en-US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35E7879C-FAB9-6FF3-C20F-C02060A12584}"/>
              </a:ext>
            </a:extLst>
          </p:cNvPr>
          <p:cNvSpPr txBox="1">
            <a:spLocks/>
          </p:cNvSpPr>
          <p:nvPr/>
        </p:nvSpPr>
        <p:spPr>
          <a:xfrm>
            <a:off x="838200" y="488337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endParaRPr lang="en-US" sz="1800" b="1" i="0" u="none" strike="noStrike" baseline="0">
              <a:solidFill>
                <a:srgbClr val="000000"/>
              </a:solidFill>
              <a:latin typeface="Arial" panose="020B0604020202020204" pitchFamily="34" charset="0"/>
            </a:endParaRPr>
          </a:p>
          <a:p>
            <a:endParaRPr lang="en-US" sz="1800" b="1" i="0" u="none" strike="noStrike" baseline="0">
              <a:solidFill>
                <a:srgbClr val="000000"/>
              </a:solidFill>
              <a:latin typeface="Arial" panose="020B0604020202020204" pitchFamily="34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74396251-2FF5-79D1-DFEB-FF917C1CC3D6}"/>
              </a:ext>
            </a:extLst>
          </p:cNvPr>
          <p:cNvSpPr txBox="1"/>
          <p:nvPr/>
        </p:nvSpPr>
        <p:spPr>
          <a:xfrm>
            <a:off x="449096" y="652931"/>
            <a:ext cx="6579637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800" b="1"/>
              <a:t>Step 1: </a:t>
            </a:r>
            <a:r>
              <a:rPr lang="en-US" b="1"/>
              <a:t>Suzuki</a:t>
            </a:r>
            <a:r>
              <a:rPr lang="en-US" sz="1800" b="1"/>
              <a:t> </a:t>
            </a:r>
            <a:r>
              <a:rPr lang="en-US" b="1"/>
              <a:t>c</a:t>
            </a:r>
            <a:r>
              <a:rPr lang="en-US" sz="1800" b="1"/>
              <a:t>oupling by using </a:t>
            </a:r>
            <a:r>
              <a:rPr lang="en-US" sz="1800" b="1">
                <a:solidFill>
                  <a:srgbClr val="3333FF"/>
                </a:solidFill>
              </a:rPr>
              <a:t>1.10 eq </a:t>
            </a:r>
            <a:r>
              <a:rPr lang="en-US" sz="1800" b="1"/>
              <a:t>compound 2 boronic acid and K</a:t>
            </a:r>
            <a:r>
              <a:rPr lang="en-US" sz="1800" b="1" baseline="-25000"/>
              <a:t>2</a:t>
            </a:r>
            <a:r>
              <a:rPr lang="en-US" sz="1800" b="1"/>
              <a:t>CO</a:t>
            </a:r>
            <a:r>
              <a:rPr lang="en-US" sz="1800" b="1" baseline="-25000"/>
              <a:t>3 </a:t>
            </a:r>
            <a:r>
              <a:rPr lang="en-US" sz="1800" b="1"/>
              <a:t>as base, </a:t>
            </a:r>
            <a:r>
              <a:rPr lang="en-US" sz="1800" b="1">
                <a:solidFill>
                  <a:srgbClr val="3333FF"/>
                </a:solidFill>
              </a:rPr>
              <a:t>scale-up reaction</a:t>
            </a:r>
          </a:p>
        </p:txBody>
      </p:sp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6FE00312-1F4A-D1E0-A786-606E2DD87D6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905424227"/>
              </p:ext>
            </p:extLst>
          </p:nvPr>
        </p:nvGraphicFramePr>
        <p:xfrm>
          <a:off x="84449" y="1716716"/>
          <a:ext cx="11817827" cy="481584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626575">
                  <a:extLst>
                    <a:ext uri="{9D8B030D-6E8A-4147-A177-3AD203B41FA5}">
                      <a16:colId xmlns:a16="http://schemas.microsoft.com/office/drawing/2014/main" val="2967325160"/>
                    </a:ext>
                  </a:extLst>
                </a:gridCol>
                <a:gridCol w="1048877">
                  <a:extLst>
                    <a:ext uri="{9D8B030D-6E8A-4147-A177-3AD203B41FA5}">
                      <a16:colId xmlns:a16="http://schemas.microsoft.com/office/drawing/2014/main" val="1058054721"/>
                    </a:ext>
                  </a:extLst>
                </a:gridCol>
                <a:gridCol w="4236097">
                  <a:extLst>
                    <a:ext uri="{9D8B030D-6E8A-4147-A177-3AD203B41FA5}">
                      <a16:colId xmlns:a16="http://schemas.microsoft.com/office/drawing/2014/main" val="2257075883"/>
                    </a:ext>
                  </a:extLst>
                </a:gridCol>
                <a:gridCol w="5906278">
                  <a:extLst>
                    <a:ext uri="{9D8B030D-6E8A-4147-A177-3AD203B41FA5}">
                      <a16:colId xmlns:a16="http://schemas.microsoft.com/office/drawing/2014/main" val="1958950006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en-CA" sz="1600" b="1"/>
                        <a:t>No.</a:t>
                      </a:r>
                    </a:p>
                  </a:txBody>
                  <a:tcPr>
                    <a:solidFill>
                      <a:srgbClr val="AACDC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CA" sz="1600" b="1"/>
                        <a:t>Scale</a:t>
                      </a:r>
                    </a:p>
                  </a:txBody>
                  <a:tcPr>
                    <a:solidFill>
                      <a:srgbClr val="AACDC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CA" sz="1600" b="1"/>
                        <a:t>Description (in order of addition)</a:t>
                      </a:r>
                    </a:p>
                  </a:txBody>
                  <a:tcPr>
                    <a:solidFill>
                      <a:srgbClr val="AACDC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CA" sz="1600" b="1"/>
                        <a:t>Comments</a:t>
                      </a:r>
                    </a:p>
                  </a:txBody>
                  <a:tcPr>
                    <a:solidFill>
                      <a:srgbClr val="AACDC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40769253"/>
                  </a:ext>
                </a:extLst>
              </a:tr>
              <a:tr h="122205">
                <a:tc>
                  <a:txBody>
                    <a:bodyPr/>
                    <a:lstStyle/>
                    <a:p>
                      <a:pPr algn="ctr"/>
                      <a:r>
                        <a:rPr lang="en-CA" sz="1600"/>
                        <a:t>1</a:t>
                      </a: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CA" sz="1400">
                          <a:solidFill>
                            <a:srgbClr val="3333FF"/>
                          </a:solidFill>
                        </a:rPr>
                        <a:t>10.0 g</a:t>
                      </a: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CA" sz="1400" b="0" i="0" kern="120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3-Bromo-5-chloro-2-methylpyridine</a:t>
                      </a:r>
                      <a:r>
                        <a:rPr lang="en-CA" sz="1400"/>
                        <a:t> (10. g, 1.0 eq), </a:t>
                      </a:r>
                      <a:r>
                        <a:rPr lang="en-CA" sz="1400" b="0" i="0" kern="120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3,4,5-Trimethoxyphenylboronic acid </a:t>
                      </a:r>
                      <a:r>
                        <a:rPr lang="en-CA" sz="1400" b="0"/>
                        <a:t>(</a:t>
                      </a:r>
                      <a:r>
                        <a:rPr lang="en-CA" sz="1400" b="1">
                          <a:solidFill>
                            <a:srgbClr val="3333FF"/>
                          </a:solidFill>
                        </a:rPr>
                        <a:t>1.10 eq</a:t>
                      </a:r>
                      <a:r>
                        <a:rPr lang="en-CA" sz="1400"/>
                        <a:t>), Palladium </a:t>
                      </a:r>
                      <a:r>
                        <a:rPr lang="en-CA" sz="1400" err="1"/>
                        <a:t>tetrakis</a:t>
                      </a:r>
                      <a:r>
                        <a:rPr lang="en-CA" sz="1400"/>
                        <a:t>(triphenylphosphine) (0.05 eq), </a:t>
                      </a:r>
                      <a:r>
                        <a:rPr lang="en-CA" sz="1400">
                          <a:solidFill>
                            <a:srgbClr val="3333FF"/>
                          </a:solidFill>
                        </a:rPr>
                        <a:t>K</a:t>
                      </a:r>
                      <a:r>
                        <a:rPr lang="en-CA" sz="1400" baseline="-25000">
                          <a:solidFill>
                            <a:srgbClr val="3333FF"/>
                          </a:solidFill>
                        </a:rPr>
                        <a:t>2</a:t>
                      </a:r>
                      <a:r>
                        <a:rPr lang="en-CA" sz="1400">
                          <a:solidFill>
                            <a:srgbClr val="3333FF"/>
                          </a:solidFill>
                        </a:rPr>
                        <a:t>CO</a:t>
                      </a:r>
                      <a:r>
                        <a:rPr lang="en-CA" sz="1400" baseline="-25000">
                          <a:solidFill>
                            <a:srgbClr val="3333FF"/>
                          </a:solidFill>
                        </a:rPr>
                        <a:t>3</a:t>
                      </a:r>
                      <a:r>
                        <a:rPr lang="en-CA" sz="1400">
                          <a:solidFill>
                            <a:srgbClr val="3333FF"/>
                          </a:solidFill>
                        </a:rPr>
                        <a:t> </a:t>
                      </a:r>
                      <a:r>
                        <a:rPr lang="en-CA" sz="1400"/>
                        <a:t>(3.0 eq), DME (8V), water (2V), 85°C, 20h.</a:t>
                      </a: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285750" indent="-285750" algn="l">
                        <a:buFont typeface="Arial" panose="020B0604020202020204" pitchFamily="34" charset="0"/>
                        <a:buChar char="•"/>
                      </a:pPr>
                      <a:r>
                        <a:rPr lang="en-CA" sz="1200" i="0" dirty="0"/>
                        <a:t>Charged </a:t>
                      </a:r>
                      <a:r>
                        <a:rPr lang="en-CA" sz="12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3-Bromo-5-chloro-2-methylpyridine </a:t>
                      </a:r>
                      <a:r>
                        <a:rPr lang="en-CA" sz="1200" dirty="0"/>
                        <a:t>(10. g, 1.0 eq) &amp;, </a:t>
                      </a:r>
                      <a:r>
                        <a:rPr lang="en-CA" sz="12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3,4,5-Trimethoxyphenylboronic acid </a:t>
                      </a:r>
                      <a:r>
                        <a:rPr lang="en-CA" sz="1200" dirty="0"/>
                        <a:t>(</a:t>
                      </a:r>
                      <a:r>
                        <a:rPr lang="en-CA" sz="1200" b="1" dirty="0">
                          <a:solidFill>
                            <a:srgbClr val="3333FF"/>
                          </a:solidFill>
                        </a:rPr>
                        <a:t>11.3 g, 1.10 eq</a:t>
                      </a:r>
                      <a:r>
                        <a:rPr lang="en-CA" sz="1200" dirty="0"/>
                        <a:t>) </a:t>
                      </a:r>
                      <a:r>
                        <a:rPr lang="en-CA" sz="1200" i="0" dirty="0"/>
                        <a:t>into a seal tube </a:t>
                      </a:r>
                    </a:p>
                    <a:p>
                      <a:pPr marL="285750" indent="-285750" algn="l">
                        <a:buFont typeface="Arial" panose="020B0604020202020204" pitchFamily="34" charset="0"/>
                        <a:buChar char="•"/>
                      </a:pPr>
                      <a:r>
                        <a:rPr lang="en-CA" sz="1200" i="0" dirty="0"/>
                        <a:t>Added 1,2-Dimethoxyethane (80 mL, 8 V) and water (20 mL, 2 V)</a:t>
                      </a:r>
                    </a:p>
                    <a:p>
                      <a:pPr marL="285750" marR="0" lvl="0" indent="-28575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en-CA" sz="1200" i="0" dirty="0"/>
                        <a:t>Added </a:t>
                      </a:r>
                      <a:r>
                        <a:rPr lang="en-CA" sz="1200" i="0" dirty="0">
                          <a:solidFill>
                            <a:srgbClr val="3333FF"/>
                          </a:solidFill>
                        </a:rPr>
                        <a:t>K</a:t>
                      </a:r>
                      <a:r>
                        <a:rPr lang="en-CA" sz="1200" baseline="-25000" dirty="0">
                          <a:solidFill>
                            <a:srgbClr val="3333FF"/>
                          </a:solidFill>
                        </a:rPr>
                        <a:t>2</a:t>
                      </a:r>
                      <a:r>
                        <a:rPr lang="en-CA" sz="1200" dirty="0">
                          <a:solidFill>
                            <a:srgbClr val="3333FF"/>
                          </a:solidFill>
                        </a:rPr>
                        <a:t>CO</a:t>
                      </a:r>
                      <a:r>
                        <a:rPr lang="en-CA" sz="1200" baseline="-25000" dirty="0">
                          <a:solidFill>
                            <a:srgbClr val="3333FF"/>
                          </a:solidFill>
                        </a:rPr>
                        <a:t>3</a:t>
                      </a:r>
                      <a:r>
                        <a:rPr lang="en-CA" sz="1200" baseline="-25000" dirty="0">
                          <a:solidFill>
                            <a:schemeClr val="tx1"/>
                          </a:solidFill>
                        </a:rPr>
                        <a:t> </a:t>
                      </a:r>
                      <a:r>
                        <a:rPr lang="en-CA" sz="1200" dirty="0">
                          <a:solidFill>
                            <a:schemeClr val="tx1"/>
                          </a:solidFill>
                        </a:rPr>
                        <a:t>(20.1 g</a:t>
                      </a:r>
                      <a:r>
                        <a:rPr lang="en-CA" sz="1200" dirty="0"/>
                        <a:t>, 3.0 eq) at RT</a:t>
                      </a:r>
                      <a:endParaRPr lang="en-CA" sz="1200" i="0" dirty="0"/>
                    </a:p>
                    <a:p>
                      <a:pPr marL="285750" indent="-285750" algn="l">
                        <a:buFont typeface="Arial" panose="020B0604020202020204" pitchFamily="34" charset="0"/>
                        <a:buChar char="•"/>
                      </a:pPr>
                      <a:r>
                        <a:rPr lang="en-CA" sz="1200" i="0" dirty="0"/>
                        <a:t>Degassed with nitrogen for 5-10 min</a:t>
                      </a:r>
                    </a:p>
                    <a:p>
                      <a:pPr marL="285750" indent="-285750" algn="l">
                        <a:buFont typeface="Arial" panose="020B0604020202020204" pitchFamily="34" charset="0"/>
                        <a:buChar char="•"/>
                      </a:pPr>
                      <a:r>
                        <a:rPr lang="en-CA" sz="1200" i="0" dirty="0"/>
                        <a:t>Added </a:t>
                      </a:r>
                      <a:r>
                        <a:rPr lang="en-CA" sz="1200" dirty="0"/>
                        <a:t>palladium </a:t>
                      </a:r>
                      <a:r>
                        <a:rPr lang="en-CA" sz="1200" dirty="0" err="1"/>
                        <a:t>tetrakis</a:t>
                      </a:r>
                      <a:r>
                        <a:rPr lang="en-CA" sz="1200" dirty="0"/>
                        <a:t>(triphenylphosphine) (2.8 g, 0.05 eq)</a:t>
                      </a:r>
                    </a:p>
                    <a:p>
                      <a:pPr marL="285750" marR="0" lvl="0" indent="-28575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en-CA" sz="1200" i="0" dirty="0"/>
                        <a:t>Degassed with nitrogen for 5-10 min</a:t>
                      </a:r>
                    </a:p>
                    <a:p>
                      <a:pPr marL="285750" indent="-285750" algn="l">
                        <a:buFont typeface="Arial" panose="020B0604020202020204" pitchFamily="34" charset="0"/>
                        <a:buChar char="•"/>
                      </a:pPr>
                      <a:r>
                        <a:rPr lang="en-CA" sz="1200" i="0" dirty="0"/>
                        <a:t>Heated to 85 °C and stirred for 6 h</a:t>
                      </a:r>
                    </a:p>
                    <a:p>
                      <a:pPr marL="285750" indent="-285750" algn="l">
                        <a:buFont typeface="Arial" panose="020B0604020202020204" pitchFamily="34" charset="0"/>
                        <a:buChar char="•"/>
                      </a:pPr>
                      <a:r>
                        <a:rPr lang="en-CA" sz="1200" i="0" dirty="0"/>
                        <a:t>Checked LCMS &amp; HPLC after 6 h (~</a:t>
                      </a:r>
                      <a:r>
                        <a:rPr lang="en-CA" sz="1200" b="1" i="0" dirty="0"/>
                        <a:t>4.6 % SM vs product 3 observed by HPLC</a:t>
                      </a:r>
                      <a:r>
                        <a:rPr lang="en-CA" sz="1200" i="0" dirty="0"/>
                        <a:t>)</a:t>
                      </a:r>
                    </a:p>
                    <a:p>
                      <a:pPr marL="285750" indent="-285750" algn="l">
                        <a:buFont typeface="Arial" panose="020B0604020202020204" pitchFamily="34" charset="0"/>
                        <a:buChar char="•"/>
                      </a:pPr>
                      <a:r>
                        <a:rPr lang="en-CA" sz="1200" i="0"/>
                        <a:t>Continu the heating at 85 °C and stirred for another 16 h</a:t>
                      </a:r>
                    </a:p>
                    <a:p>
                      <a:pPr marL="285750" indent="-285750" algn="l">
                        <a:buFont typeface="Arial" panose="020B0604020202020204" pitchFamily="34" charset="0"/>
                        <a:buChar char="•"/>
                      </a:pPr>
                      <a:r>
                        <a:rPr lang="en-CA" sz="1200" i="0" dirty="0"/>
                        <a:t>Checked HPLC after 20 H (~ </a:t>
                      </a:r>
                      <a:r>
                        <a:rPr lang="en-CA" sz="1200" b="1" i="0" dirty="0"/>
                        <a:t>0.17% SM vs product 3 observed by HPLC</a:t>
                      </a:r>
                      <a:r>
                        <a:rPr lang="en-CA" sz="1200" i="0" dirty="0"/>
                        <a:t>)</a:t>
                      </a:r>
                    </a:p>
                    <a:p>
                      <a:pPr marL="285750" indent="-285750" algn="l">
                        <a:buFont typeface="Arial" panose="020B0604020202020204" pitchFamily="34" charset="0"/>
                        <a:buChar char="•"/>
                      </a:pPr>
                      <a:r>
                        <a:rPr lang="en-CA" sz="1200" i="0" dirty="0"/>
                        <a:t>Cooled to RT</a:t>
                      </a:r>
                    </a:p>
                    <a:p>
                      <a:pPr marL="285750" indent="-285750" algn="l">
                        <a:buFont typeface="Arial" panose="020B0604020202020204" pitchFamily="34" charset="0"/>
                        <a:buChar char="•"/>
                      </a:pPr>
                      <a:r>
                        <a:rPr lang="en-CA" sz="1200" i="0" dirty="0"/>
                        <a:t>Filtered to remove the observed solids, washed with </a:t>
                      </a:r>
                      <a:r>
                        <a:rPr lang="en-CA" sz="1200" i="0" dirty="0" err="1"/>
                        <a:t>EtOAc</a:t>
                      </a:r>
                      <a:r>
                        <a:rPr lang="en-CA" sz="1200" i="0" dirty="0"/>
                        <a:t> (50 mL, 5V)</a:t>
                      </a:r>
                    </a:p>
                    <a:p>
                      <a:pPr marL="285750" indent="-285750" algn="l">
                        <a:buFont typeface="Arial" panose="020B0604020202020204" pitchFamily="34" charset="0"/>
                        <a:buChar char="•"/>
                      </a:pPr>
                      <a:r>
                        <a:rPr lang="en-CA" sz="1200" i="0" dirty="0"/>
                        <a:t>Charged water (50 mL, 5 V) and stirred for 10 min at RT</a:t>
                      </a:r>
                    </a:p>
                    <a:p>
                      <a:pPr marL="285750" indent="-285750" algn="l">
                        <a:buFont typeface="Arial" panose="020B0604020202020204" pitchFamily="34" charset="0"/>
                        <a:buChar char="•"/>
                      </a:pPr>
                      <a:r>
                        <a:rPr lang="en-CA" sz="1200" i="0" dirty="0"/>
                        <a:t>Layers separated and aq. layer back extracted with </a:t>
                      </a:r>
                      <a:r>
                        <a:rPr lang="en-CA" sz="1200" i="0" dirty="0" err="1"/>
                        <a:t>EtOAc</a:t>
                      </a:r>
                      <a:r>
                        <a:rPr lang="en-CA" sz="1200" i="0" dirty="0"/>
                        <a:t> (50 mL 5 V)</a:t>
                      </a:r>
                    </a:p>
                    <a:p>
                      <a:pPr marL="285750" indent="-285750" algn="l">
                        <a:buFont typeface="Arial" panose="020B0604020202020204" pitchFamily="34" charset="0"/>
                        <a:buChar char="•"/>
                      </a:pPr>
                      <a:r>
                        <a:rPr lang="en-CA" sz="1200" i="0" dirty="0"/>
                        <a:t>Combined the both layers and washed with brine solution (50 mL, 5 V)</a:t>
                      </a:r>
                    </a:p>
                    <a:p>
                      <a:pPr marL="285750" indent="-285750" algn="l">
                        <a:buFont typeface="Arial" panose="020B0604020202020204" pitchFamily="34" charset="0"/>
                        <a:buChar char="•"/>
                      </a:pPr>
                      <a:r>
                        <a:rPr lang="en-CA" sz="1200" i="0" dirty="0"/>
                        <a:t>Evaporated under vacuum at 40-45 °C,</a:t>
                      </a:r>
                      <a:r>
                        <a:rPr lang="en-CA" sz="1200" b="0" i="0" dirty="0">
                          <a:solidFill>
                            <a:schemeClr val="tx1"/>
                          </a:solidFill>
                        </a:rPr>
                        <a:t> obtained a thick syrup</a:t>
                      </a:r>
                    </a:p>
                    <a:p>
                      <a:pPr marL="285750" marR="0" lvl="0" indent="-28575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en-CA" sz="1200" i="0" dirty="0"/>
                        <a:t>Slowly charged MTBE (50 mL, 5 V), solid precipitated</a:t>
                      </a:r>
                    </a:p>
                    <a:p>
                      <a:pPr marL="285750" indent="-285750" algn="l">
                        <a:buFont typeface="Arial" panose="020B0604020202020204" pitchFamily="34" charset="0"/>
                        <a:buChar char="•"/>
                      </a:pPr>
                      <a:r>
                        <a:rPr lang="en-CA" sz="1200" i="0" dirty="0"/>
                        <a:t>Stirred at RT for 1 h</a:t>
                      </a:r>
                    </a:p>
                    <a:p>
                      <a:pPr marL="285750" indent="-285750" algn="l">
                        <a:buFont typeface="Arial" panose="020B0604020202020204" pitchFamily="34" charset="0"/>
                        <a:buChar char="•"/>
                      </a:pPr>
                      <a:r>
                        <a:rPr lang="en-CA" sz="1200" i="0" dirty="0"/>
                        <a:t>Filtered and washed with MTBE (2 V)</a:t>
                      </a:r>
                    </a:p>
                    <a:p>
                      <a:pPr marL="285750" indent="-285750" algn="l">
                        <a:buFont typeface="Arial" panose="020B0604020202020204" pitchFamily="34" charset="0"/>
                        <a:buChar char="•"/>
                      </a:pPr>
                      <a:r>
                        <a:rPr lang="en-CA" sz="1200" i="0" dirty="0"/>
                        <a:t>Dried under vacuum at 45-50 °C</a:t>
                      </a:r>
                    </a:p>
                    <a:p>
                      <a:pPr marL="285750" indent="-285750" algn="l">
                        <a:buFont typeface="Arial" panose="020B0604020202020204" pitchFamily="34" charset="0"/>
                        <a:buChar char="•"/>
                      </a:pPr>
                      <a:r>
                        <a:rPr lang="en-CA" sz="1200" b="1" i="0" dirty="0">
                          <a:solidFill>
                            <a:srgbClr val="0000FF"/>
                          </a:solidFill>
                        </a:rPr>
                        <a:t>Yield:10.3 g (72%) </a:t>
                      </a:r>
                    </a:p>
                    <a:p>
                      <a:pPr marL="285750" marR="0" lvl="0" indent="-28575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en-CA" sz="1200" b="1" i="0" baseline="30000" dirty="0">
                          <a:solidFill>
                            <a:srgbClr val="0000FF"/>
                          </a:solidFill>
                        </a:rPr>
                        <a:t>1</a:t>
                      </a:r>
                      <a:r>
                        <a:rPr lang="en-CA" sz="1200" b="1" i="0" dirty="0">
                          <a:solidFill>
                            <a:srgbClr val="0000FF"/>
                          </a:solidFill>
                        </a:rPr>
                        <a:t>H-NMR and LCMS confirms conforms with Int-3.</a:t>
                      </a:r>
                    </a:p>
                    <a:p>
                      <a:pPr marL="285750" indent="-285750" algn="l">
                        <a:buFont typeface="Arial" panose="020B0604020202020204" pitchFamily="34" charset="0"/>
                        <a:buChar char="•"/>
                      </a:pPr>
                      <a:r>
                        <a:rPr lang="en-CA" sz="1200" b="1" i="0" dirty="0">
                          <a:solidFill>
                            <a:srgbClr val="0000FF"/>
                          </a:solidFill>
                        </a:rPr>
                        <a:t>HPLC Purity: 99.42%</a:t>
                      </a: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10588666"/>
                  </a:ext>
                </a:extLst>
              </a:tr>
            </a:tbl>
          </a:graphicData>
        </a:graphic>
      </p:graphicFrame>
      <p:graphicFrame>
        <p:nvGraphicFramePr>
          <p:cNvPr id="3" name="Object 2">
            <a:extLst>
              <a:ext uri="{FF2B5EF4-FFF2-40B4-BE49-F238E27FC236}">
                <a16:creationId xmlns:a16="http://schemas.microsoft.com/office/drawing/2014/main" id="{B0B14B25-CC3C-1891-9BCE-4847E84AC9CC}"/>
              </a:ext>
            </a:extLst>
          </p:cNvPr>
          <p:cNvGraphicFramePr>
            <a:graphicFrameLocks noChangeAspect="1"/>
          </p:cNvGraphicFramePr>
          <p:nvPr/>
        </p:nvGraphicFramePr>
        <p:xfrm>
          <a:off x="7405609" y="41573"/>
          <a:ext cx="2479112" cy="1638609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CS ChemDraw Drawing" r:id="rId2" imgW="3712412" imgH="2453579" progId="ChemDraw.Document.6.0">
                  <p:embed/>
                </p:oleObj>
              </mc:Choice>
              <mc:Fallback>
                <p:oleObj name="CS ChemDraw Drawing" r:id="rId2" imgW="3712412" imgH="2453579" progId="ChemDraw.Document.6.0">
                  <p:embed/>
                  <p:pic>
                    <p:nvPicPr>
                      <p:cNvPr id="3" name="Object 2">
                        <a:extLst>
                          <a:ext uri="{FF2B5EF4-FFF2-40B4-BE49-F238E27FC236}">
                            <a16:creationId xmlns:a16="http://schemas.microsoft.com/office/drawing/2014/main" id="{B0B14B25-CC3C-1891-9BCE-4847E84AC9CC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3"/>
                      <a:stretch>
                        <a:fillRect/>
                      </a:stretch>
                    </p:blipFill>
                    <p:spPr>
                      <a:xfrm>
                        <a:off x="7405609" y="41573"/>
                        <a:ext cx="2479112" cy="1638609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266647227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>
            <a:extLst>
              <a:ext uri="{FF2B5EF4-FFF2-40B4-BE49-F238E27FC236}">
                <a16:creationId xmlns:a16="http://schemas.microsoft.com/office/drawing/2014/main" id="{B79A0DBC-6795-8698-1A9F-AA6BE810ADB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51588" y="-243235"/>
            <a:ext cx="10515600" cy="1325563"/>
          </a:xfrm>
        </p:spPr>
        <p:txBody>
          <a:bodyPr>
            <a:normAutofit/>
          </a:bodyPr>
          <a:lstStyle/>
          <a:p>
            <a:pPr algn="ctr"/>
            <a:r>
              <a:rPr lang="en-CA" sz="2800" b="1">
                <a:latin typeface="+mn-lt"/>
                <a:cs typeface="Arial" panose="020B0604020202020204" pitchFamily="34" charset="0"/>
              </a:rPr>
              <a:t>GLCRCI-11062025R1</a:t>
            </a:r>
          </a:p>
        </p:txBody>
      </p:sp>
      <p:sp>
        <p:nvSpPr>
          <p:cNvPr id="5" name="Footer Placeholder 3">
            <a:extLst>
              <a:ext uri="{FF2B5EF4-FFF2-40B4-BE49-F238E27FC236}">
                <a16:creationId xmlns:a16="http://schemas.microsoft.com/office/drawing/2014/main" id="{83C367E8-7C53-48A0-66BE-22A115A38FF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</p:spPr>
        <p:txBody>
          <a:bodyPr/>
          <a:lstStyle/>
          <a:p>
            <a:r>
              <a:rPr lang="en-CA">
                <a:latin typeface="Arial" panose="020B0604020202020204" pitchFamily="34" charset="0"/>
                <a:cs typeface="Arial" panose="020B0604020202020204" pitchFamily="34" charset="0"/>
              </a:rPr>
              <a:t>CONFIDENTIAL</a:t>
            </a:r>
          </a:p>
        </p:txBody>
      </p:sp>
      <p:sp>
        <p:nvSpPr>
          <p:cNvPr id="6" name="Slide Number Placeholder 4">
            <a:extLst>
              <a:ext uri="{FF2B5EF4-FFF2-40B4-BE49-F238E27FC236}">
                <a16:creationId xmlns:a16="http://schemas.microsoft.com/office/drawing/2014/main" id="{4864F500-554E-CA03-234C-B8861030F1BB}"/>
              </a:ext>
            </a:extLst>
          </p:cNvPr>
          <p:cNvSpPr>
            <a:spLocks noGrp="1"/>
          </p:cNvSpPr>
          <p:nvPr/>
        </p:nvSpPr>
        <p:spPr>
          <a:xfrm>
            <a:off x="8899849" y="6492875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8483A229-2BE2-4044-957D-22ED1E4A33A3}" type="slidenum">
              <a:rPr lang="en-US" smtClean="0">
                <a:latin typeface="Arial" panose="020B0604020202020204" pitchFamily="34" charset="0"/>
                <a:cs typeface="Arial" panose="020B0604020202020204" pitchFamily="34" charset="0"/>
              </a:rPr>
              <a:pPr/>
              <a:t>7</a:t>
            </a:fld>
            <a:endParaRPr lang="en-US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7" name="Title 1">
            <a:extLst>
              <a:ext uri="{FF2B5EF4-FFF2-40B4-BE49-F238E27FC236}">
                <a16:creationId xmlns:a16="http://schemas.microsoft.com/office/drawing/2014/main" id="{937B899F-529D-F26E-6A2B-E4F4A8FA176A}"/>
              </a:ext>
            </a:extLst>
          </p:cNvPr>
          <p:cNvSpPr txBox="1">
            <a:spLocks/>
          </p:cNvSpPr>
          <p:nvPr/>
        </p:nvSpPr>
        <p:spPr>
          <a:xfrm>
            <a:off x="651588" y="0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endParaRPr lang="en-US" sz="1800" b="1" i="0" u="none" strike="noStrike" baseline="0">
              <a:solidFill>
                <a:srgbClr val="000000"/>
              </a:solidFill>
              <a:latin typeface="Arial" panose="020B0604020202020204" pitchFamily="34" charset="0"/>
            </a:endParaRPr>
          </a:p>
          <a:p>
            <a:r>
              <a:rPr lang="en-US" sz="2000" b="1">
                <a:latin typeface="+mn-lt"/>
              </a:rPr>
              <a:t>Step-1: HPLC of intermediate-3 IPC, 6h (95.38%) &amp; 20 h (99.92%) </a:t>
            </a:r>
          </a:p>
        </p:txBody>
      </p:sp>
      <p:graphicFrame>
        <p:nvGraphicFramePr>
          <p:cNvPr id="15" name="Object 14">
            <a:extLst>
              <a:ext uri="{FF2B5EF4-FFF2-40B4-BE49-F238E27FC236}">
                <a16:creationId xmlns:a16="http://schemas.microsoft.com/office/drawing/2014/main" id="{8C0574C0-DF7A-8961-3A2F-F03005954AAE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532516642"/>
              </p:ext>
            </p:extLst>
          </p:nvPr>
        </p:nvGraphicFramePr>
        <p:xfrm>
          <a:off x="10411408" y="3610008"/>
          <a:ext cx="593725" cy="6429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CS ChemDraw Drawing" r:id="rId2" imgW="868757" imgH="941648" progId="ChemDraw.Document.6.0">
                  <p:embed/>
                </p:oleObj>
              </mc:Choice>
              <mc:Fallback>
                <p:oleObj name="CS ChemDraw Drawing" r:id="rId2" imgW="868757" imgH="941648" progId="ChemDraw.Document.6.0">
                  <p:embed/>
                  <p:pic>
                    <p:nvPicPr>
                      <p:cNvPr id="15" name="Object 14">
                        <a:extLst>
                          <a:ext uri="{FF2B5EF4-FFF2-40B4-BE49-F238E27FC236}">
                            <a16:creationId xmlns:a16="http://schemas.microsoft.com/office/drawing/2014/main" id="{8C0574C0-DF7A-8961-3A2F-F03005954AAE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3"/>
                      <a:stretch>
                        <a:fillRect/>
                      </a:stretch>
                    </p:blipFill>
                    <p:spPr>
                      <a:xfrm>
                        <a:off x="10411408" y="3610008"/>
                        <a:ext cx="593725" cy="64293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6" name="Object 15">
            <a:extLst>
              <a:ext uri="{FF2B5EF4-FFF2-40B4-BE49-F238E27FC236}">
                <a16:creationId xmlns:a16="http://schemas.microsoft.com/office/drawing/2014/main" id="{1E5439A5-E85F-DD92-F6DC-7B63C0B78DA2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563775290"/>
              </p:ext>
            </p:extLst>
          </p:nvPr>
        </p:nvGraphicFramePr>
        <p:xfrm>
          <a:off x="10308392" y="2271443"/>
          <a:ext cx="1078817" cy="1076424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CS ChemDraw Drawing" r:id="rId4" imgW="1430894" imgH="1426740" progId="ChemDraw.Document.6.0">
                  <p:embed/>
                </p:oleObj>
              </mc:Choice>
              <mc:Fallback>
                <p:oleObj name="CS ChemDraw Drawing" r:id="rId4" imgW="1430894" imgH="1426740" progId="ChemDraw.Document.6.0">
                  <p:embed/>
                  <p:pic>
                    <p:nvPicPr>
                      <p:cNvPr id="16" name="Object 15">
                        <a:extLst>
                          <a:ext uri="{FF2B5EF4-FFF2-40B4-BE49-F238E27FC236}">
                            <a16:creationId xmlns:a16="http://schemas.microsoft.com/office/drawing/2014/main" id="{1E5439A5-E85F-DD92-F6DC-7B63C0B78DA2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0308392" y="2271443"/>
                        <a:ext cx="1078817" cy="1076424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8" name="Picture 7">
            <a:extLst>
              <a:ext uri="{FF2B5EF4-FFF2-40B4-BE49-F238E27FC236}">
                <a16:creationId xmlns:a16="http://schemas.microsoft.com/office/drawing/2014/main" id="{E0793EAF-CD5C-2883-34CA-C61B7BCD5B99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20038" y="991795"/>
            <a:ext cx="4447701" cy="5299388"/>
          </a:xfrm>
          <a:prstGeom prst="rect">
            <a:avLst/>
          </a:prstGeom>
        </p:spPr>
      </p:pic>
      <p:pic>
        <p:nvPicPr>
          <p:cNvPr id="19" name="Picture 18">
            <a:extLst>
              <a:ext uri="{FF2B5EF4-FFF2-40B4-BE49-F238E27FC236}">
                <a16:creationId xmlns:a16="http://schemas.microsoft.com/office/drawing/2014/main" id="{6A14A614-868E-2BB7-62E9-E56CFFCC7C05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467739" y="1052244"/>
            <a:ext cx="4479578" cy="5178490"/>
          </a:xfrm>
          <a:prstGeom prst="rect">
            <a:avLst/>
          </a:prstGeom>
        </p:spPr>
      </p:pic>
      <p:cxnSp>
        <p:nvCxnSpPr>
          <p:cNvPr id="20" name="Straight Arrow Connector 19">
            <a:extLst>
              <a:ext uri="{FF2B5EF4-FFF2-40B4-BE49-F238E27FC236}">
                <a16:creationId xmlns:a16="http://schemas.microsoft.com/office/drawing/2014/main" id="{CC69A389-8613-3C59-D64E-6EE2E3E94E9B}"/>
              </a:ext>
            </a:extLst>
          </p:cNvPr>
          <p:cNvCxnSpPr>
            <a:cxnSpLocks/>
          </p:cNvCxnSpPr>
          <p:nvPr/>
        </p:nvCxnSpPr>
        <p:spPr>
          <a:xfrm flipV="1">
            <a:off x="7899689" y="2858090"/>
            <a:ext cx="2408703" cy="7176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Straight Arrow Connector 21">
            <a:extLst>
              <a:ext uri="{FF2B5EF4-FFF2-40B4-BE49-F238E27FC236}">
                <a16:creationId xmlns:a16="http://schemas.microsoft.com/office/drawing/2014/main" id="{0171D6C7-8AD7-A135-9396-82234FC892A9}"/>
              </a:ext>
            </a:extLst>
          </p:cNvPr>
          <p:cNvCxnSpPr>
            <a:cxnSpLocks/>
          </p:cNvCxnSpPr>
          <p:nvPr/>
        </p:nvCxnSpPr>
        <p:spPr>
          <a:xfrm>
            <a:off x="8065705" y="3877278"/>
            <a:ext cx="2345703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5" name="TextBox 34">
            <a:extLst>
              <a:ext uri="{FF2B5EF4-FFF2-40B4-BE49-F238E27FC236}">
                <a16:creationId xmlns:a16="http://schemas.microsoft.com/office/drawing/2014/main" id="{C1186876-7DF5-CA8E-16F2-8C76178AE677}"/>
              </a:ext>
            </a:extLst>
          </p:cNvPr>
          <p:cNvSpPr txBox="1"/>
          <p:nvPr/>
        </p:nvSpPr>
        <p:spPr>
          <a:xfrm>
            <a:off x="2417300" y="3224150"/>
            <a:ext cx="98982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800" b="1">
                <a:latin typeface="+mn-lt"/>
              </a:rPr>
              <a:t>IPC - 6 h</a:t>
            </a:r>
            <a:endParaRPr lang="en-CA"/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B4F4BB94-F77A-FC8D-D2CB-8DF18C1D66B5}"/>
              </a:ext>
            </a:extLst>
          </p:cNvPr>
          <p:cNvSpPr txBox="1"/>
          <p:nvPr/>
        </p:nvSpPr>
        <p:spPr>
          <a:xfrm>
            <a:off x="6564221" y="3127701"/>
            <a:ext cx="116882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800" b="1">
                <a:latin typeface="+mn-lt"/>
              </a:rPr>
              <a:t>IPC - 20 h</a:t>
            </a:r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216363842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44A0267-CC68-BD01-7A15-1FC160D0AA3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>
            <a:extLst>
              <a:ext uri="{FF2B5EF4-FFF2-40B4-BE49-F238E27FC236}">
                <a16:creationId xmlns:a16="http://schemas.microsoft.com/office/drawing/2014/main" id="{9293D452-E78D-9F3A-FC83-5BCA2EC93E9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51588" y="-243235"/>
            <a:ext cx="10515600" cy="1325563"/>
          </a:xfrm>
        </p:spPr>
        <p:txBody>
          <a:bodyPr>
            <a:normAutofit/>
          </a:bodyPr>
          <a:lstStyle/>
          <a:p>
            <a:pPr algn="ctr"/>
            <a:r>
              <a:rPr lang="en-CA" sz="2800" b="1">
                <a:latin typeface="+mn-lt"/>
                <a:cs typeface="Arial" panose="020B0604020202020204" pitchFamily="34" charset="0"/>
              </a:rPr>
              <a:t>GLCRCI-11062025R1</a:t>
            </a:r>
          </a:p>
        </p:txBody>
      </p:sp>
      <p:sp>
        <p:nvSpPr>
          <p:cNvPr id="5" name="Footer Placeholder 3">
            <a:extLst>
              <a:ext uri="{FF2B5EF4-FFF2-40B4-BE49-F238E27FC236}">
                <a16:creationId xmlns:a16="http://schemas.microsoft.com/office/drawing/2014/main" id="{95B4841E-FAE0-4CC6-98F4-C2B9FB33432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273103" y="6310312"/>
            <a:ext cx="4114800" cy="365125"/>
          </a:xfrm>
        </p:spPr>
        <p:txBody>
          <a:bodyPr/>
          <a:lstStyle/>
          <a:p>
            <a:r>
              <a:rPr lang="en-CA">
                <a:latin typeface="Arial" panose="020B0604020202020204" pitchFamily="34" charset="0"/>
                <a:cs typeface="Arial" panose="020B0604020202020204" pitchFamily="34" charset="0"/>
              </a:rPr>
              <a:t>CONFIDENTIAL</a:t>
            </a:r>
          </a:p>
        </p:txBody>
      </p:sp>
      <p:sp>
        <p:nvSpPr>
          <p:cNvPr id="6" name="Slide Number Placeholder 4">
            <a:extLst>
              <a:ext uri="{FF2B5EF4-FFF2-40B4-BE49-F238E27FC236}">
                <a16:creationId xmlns:a16="http://schemas.microsoft.com/office/drawing/2014/main" id="{1111585D-5C1D-0517-FD9A-949923065035}"/>
              </a:ext>
            </a:extLst>
          </p:cNvPr>
          <p:cNvSpPr>
            <a:spLocks noGrp="1"/>
          </p:cNvSpPr>
          <p:nvPr/>
        </p:nvSpPr>
        <p:spPr>
          <a:xfrm>
            <a:off x="8899849" y="6492875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8483A229-2BE2-4044-957D-22ED1E4A33A3}" type="slidenum">
              <a:rPr lang="en-US" smtClean="0">
                <a:latin typeface="Arial" panose="020B0604020202020204" pitchFamily="34" charset="0"/>
                <a:cs typeface="Arial" panose="020B0604020202020204" pitchFamily="34" charset="0"/>
              </a:rPr>
              <a:pPr/>
              <a:t>8</a:t>
            </a:fld>
            <a:endParaRPr lang="en-US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7" name="Title 1">
            <a:extLst>
              <a:ext uri="{FF2B5EF4-FFF2-40B4-BE49-F238E27FC236}">
                <a16:creationId xmlns:a16="http://schemas.microsoft.com/office/drawing/2014/main" id="{06D23BCA-C472-2BAD-A265-A58A4C57E5D5}"/>
              </a:ext>
            </a:extLst>
          </p:cNvPr>
          <p:cNvSpPr txBox="1">
            <a:spLocks/>
          </p:cNvSpPr>
          <p:nvPr/>
        </p:nvSpPr>
        <p:spPr>
          <a:xfrm>
            <a:off x="651588" y="0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endParaRPr lang="en-US" sz="1800" b="1" i="0" u="none" strike="noStrike" baseline="0">
              <a:solidFill>
                <a:srgbClr val="000000"/>
              </a:solidFill>
              <a:latin typeface="+mn-lt"/>
            </a:endParaRPr>
          </a:p>
          <a:p>
            <a:r>
              <a:rPr lang="en-US" sz="2000" b="1">
                <a:latin typeface="+mn-lt"/>
              </a:rPr>
              <a:t>Step-1: HPLC of Intermediate-3, 99.42 area %</a:t>
            </a:r>
          </a:p>
        </p:txBody>
      </p:sp>
      <p:graphicFrame>
        <p:nvGraphicFramePr>
          <p:cNvPr id="13" name="Object 12">
            <a:extLst>
              <a:ext uri="{FF2B5EF4-FFF2-40B4-BE49-F238E27FC236}">
                <a16:creationId xmlns:a16="http://schemas.microsoft.com/office/drawing/2014/main" id="{A72DDAF9-12B5-1BAE-5924-146907A83C81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683919305"/>
              </p:ext>
            </p:extLst>
          </p:nvPr>
        </p:nvGraphicFramePr>
        <p:xfrm>
          <a:off x="892143" y="1731649"/>
          <a:ext cx="1430337" cy="14271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CS ChemDraw Drawing" r:id="rId2" imgW="1430894" imgH="1426740" progId="ChemDraw.Document.6.0">
                  <p:embed/>
                </p:oleObj>
              </mc:Choice>
              <mc:Fallback>
                <p:oleObj name="CS ChemDraw Drawing" r:id="rId2" imgW="1430894" imgH="1426740" progId="ChemDraw.Document.6.0">
                  <p:embed/>
                  <p:pic>
                    <p:nvPicPr>
                      <p:cNvPr id="13" name="Object 12">
                        <a:extLst>
                          <a:ext uri="{FF2B5EF4-FFF2-40B4-BE49-F238E27FC236}">
                            <a16:creationId xmlns:a16="http://schemas.microsoft.com/office/drawing/2014/main" id="{A72DDAF9-12B5-1BAE-5924-146907A83C81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3"/>
                      <a:stretch>
                        <a:fillRect/>
                      </a:stretch>
                    </p:blipFill>
                    <p:spPr>
                      <a:xfrm>
                        <a:off x="892143" y="1731649"/>
                        <a:ext cx="1430337" cy="1427163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8" name="Picture 7">
            <a:extLst>
              <a:ext uri="{FF2B5EF4-FFF2-40B4-BE49-F238E27FC236}">
                <a16:creationId xmlns:a16="http://schemas.microsoft.com/office/drawing/2014/main" id="{9501050D-BE86-4090-2FEB-85E142BA582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686374" y="971656"/>
            <a:ext cx="6577369" cy="53886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5177632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5C073AF-A2E6-2748-C40B-BC593A9EC03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1" name="Object 10">
            <a:extLst>
              <a:ext uri="{FF2B5EF4-FFF2-40B4-BE49-F238E27FC236}">
                <a16:creationId xmlns:a16="http://schemas.microsoft.com/office/drawing/2014/main" id="{8A1AFBD4-CB32-EF4B-B033-5985046F8021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257156692"/>
              </p:ext>
            </p:extLst>
          </p:nvPr>
        </p:nvGraphicFramePr>
        <p:xfrm>
          <a:off x="2029100" y="799135"/>
          <a:ext cx="8299023" cy="578827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MestReNova" r:id="rId2" imgW="10355438" imgH="7223852" progId="MestReNova.Document.1">
                  <p:embed/>
                </p:oleObj>
              </mc:Choice>
              <mc:Fallback>
                <p:oleObj name="MestReNova" r:id="rId2" imgW="10355438" imgH="7223852" progId="MestReNova.Document.1">
                  <p:embed/>
                  <p:pic>
                    <p:nvPicPr>
                      <p:cNvPr id="11" name="Object 10">
                        <a:extLst>
                          <a:ext uri="{FF2B5EF4-FFF2-40B4-BE49-F238E27FC236}">
                            <a16:creationId xmlns:a16="http://schemas.microsoft.com/office/drawing/2014/main" id="{8A1AFBD4-CB32-EF4B-B033-5985046F8021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3"/>
                      <a:stretch>
                        <a:fillRect/>
                      </a:stretch>
                    </p:blipFill>
                    <p:spPr>
                      <a:xfrm>
                        <a:off x="2029100" y="799135"/>
                        <a:ext cx="8299023" cy="5788278"/>
                      </a:xfrm>
                      <a:prstGeom prst="rect">
                        <a:avLst/>
                      </a:prstGeom>
                      <a:solidFill>
                        <a:schemeClr val="bg1"/>
                      </a:solidFill>
                    </p:spPr>
                  </p:pic>
                </p:oleObj>
              </mc:Fallback>
            </mc:AlternateContent>
          </a:graphicData>
        </a:graphic>
      </p:graphicFrame>
      <p:sp>
        <p:nvSpPr>
          <p:cNvPr id="4" name="Title 1">
            <a:extLst>
              <a:ext uri="{FF2B5EF4-FFF2-40B4-BE49-F238E27FC236}">
                <a16:creationId xmlns:a16="http://schemas.microsoft.com/office/drawing/2014/main" id="{EB97FEF3-35E2-AFB3-9B84-E22CFA135F4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59294" y="103823"/>
            <a:ext cx="10191565" cy="451138"/>
          </a:xfrm>
        </p:spPr>
        <p:txBody>
          <a:bodyPr>
            <a:normAutofit fontScale="90000"/>
          </a:bodyPr>
          <a:lstStyle/>
          <a:p>
            <a:pPr algn="ctr"/>
            <a:r>
              <a:rPr lang="en-CA" sz="2800" b="1">
                <a:latin typeface="+mn-lt"/>
                <a:cs typeface="Arial" panose="020B0604020202020204" pitchFamily="34" charset="0"/>
              </a:rPr>
              <a:t>GLCRCI-11062025R1</a:t>
            </a:r>
          </a:p>
        </p:txBody>
      </p:sp>
      <p:sp>
        <p:nvSpPr>
          <p:cNvPr id="5" name="Footer Placeholder 3">
            <a:extLst>
              <a:ext uri="{FF2B5EF4-FFF2-40B4-BE49-F238E27FC236}">
                <a16:creationId xmlns:a16="http://schemas.microsoft.com/office/drawing/2014/main" id="{D0CB26DE-B0BC-35BC-B491-906B32995F8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492874"/>
            <a:ext cx="4114800" cy="365125"/>
          </a:xfrm>
        </p:spPr>
        <p:txBody>
          <a:bodyPr/>
          <a:lstStyle/>
          <a:p>
            <a:r>
              <a:rPr lang="en-CA">
                <a:latin typeface="Arial" panose="020B0604020202020204" pitchFamily="34" charset="0"/>
                <a:cs typeface="Arial" panose="020B0604020202020204" pitchFamily="34" charset="0"/>
              </a:rPr>
              <a:t>CONFIDENTIAL</a:t>
            </a:r>
          </a:p>
        </p:txBody>
      </p:sp>
      <p:sp>
        <p:nvSpPr>
          <p:cNvPr id="6" name="Slide Number Placeholder 4">
            <a:extLst>
              <a:ext uri="{FF2B5EF4-FFF2-40B4-BE49-F238E27FC236}">
                <a16:creationId xmlns:a16="http://schemas.microsoft.com/office/drawing/2014/main" id="{EC6B4718-C0B8-7A17-0DA4-EFDD5F574BFE}"/>
              </a:ext>
            </a:extLst>
          </p:cNvPr>
          <p:cNvSpPr>
            <a:spLocks noGrp="1"/>
          </p:cNvSpPr>
          <p:nvPr/>
        </p:nvSpPr>
        <p:spPr>
          <a:xfrm>
            <a:off x="8899849" y="6492875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8483A229-2BE2-4044-957D-22ED1E4A33A3}" type="slidenum">
              <a:rPr lang="en-US" smtClean="0">
                <a:latin typeface="Arial" panose="020B0604020202020204" pitchFamily="34" charset="0"/>
                <a:cs typeface="Arial" panose="020B0604020202020204" pitchFamily="34" charset="0"/>
              </a:rPr>
              <a:pPr/>
              <a:t>9</a:t>
            </a:fld>
            <a:endParaRPr lang="en-US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7" name="Title 1">
            <a:extLst>
              <a:ext uri="{FF2B5EF4-FFF2-40B4-BE49-F238E27FC236}">
                <a16:creationId xmlns:a16="http://schemas.microsoft.com/office/drawing/2014/main" id="{77E7B0E7-037E-1FC3-B6FD-98E3176CB57E}"/>
              </a:ext>
            </a:extLst>
          </p:cNvPr>
          <p:cNvSpPr txBox="1">
            <a:spLocks/>
          </p:cNvSpPr>
          <p:nvPr/>
        </p:nvSpPr>
        <p:spPr>
          <a:xfrm>
            <a:off x="651588" y="-55986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endParaRPr lang="en-US" sz="1800" b="1" i="0" u="none" strike="noStrike" baseline="0">
              <a:solidFill>
                <a:srgbClr val="000000"/>
              </a:solidFill>
              <a:latin typeface="Arial" panose="020B0604020202020204" pitchFamily="34" charset="0"/>
            </a:endParaRPr>
          </a:p>
          <a:p>
            <a:endParaRPr lang="en-US" sz="2000" b="1">
              <a:latin typeface="+mn-lt"/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BF6A5A49-E9DB-75E1-8EFD-57D9769E7F37}"/>
              </a:ext>
            </a:extLst>
          </p:cNvPr>
          <p:cNvSpPr txBox="1"/>
          <p:nvPr/>
        </p:nvSpPr>
        <p:spPr>
          <a:xfrm>
            <a:off x="763480" y="530573"/>
            <a:ext cx="6141127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800" b="1">
                <a:latin typeface="+mn-lt"/>
              </a:rPr>
              <a:t>Step-1:  </a:t>
            </a:r>
            <a:r>
              <a:rPr lang="en-US" sz="1800" b="1" baseline="30000">
                <a:latin typeface="+mn-lt"/>
              </a:rPr>
              <a:t>1</a:t>
            </a:r>
            <a:r>
              <a:rPr lang="en-US" sz="1800" b="1">
                <a:latin typeface="+mn-lt"/>
              </a:rPr>
              <a:t>H NMR of Intermediate-3, </a:t>
            </a:r>
            <a:r>
              <a:rPr lang="en-US" b="1"/>
              <a:t>S</a:t>
            </a:r>
            <a:r>
              <a:rPr lang="en-US" sz="1800" b="1">
                <a:latin typeface="+mn-lt"/>
              </a:rPr>
              <a:t>ingle Crop Isolation</a:t>
            </a:r>
          </a:p>
        </p:txBody>
      </p:sp>
      <p:graphicFrame>
        <p:nvGraphicFramePr>
          <p:cNvPr id="19" name="Object 18">
            <a:extLst>
              <a:ext uri="{FF2B5EF4-FFF2-40B4-BE49-F238E27FC236}">
                <a16:creationId xmlns:a16="http://schemas.microsoft.com/office/drawing/2014/main" id="{760B44A9-DE56-4A01-D528-A5628E0436BC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468244596"/>
              </p:ext>
            </p:extLst>
          </p:nvPr>
        </p:nvGraphicFramePr>
        <p:xfrm>
          <a:off x="199058" y="1326655"/>
          <a:ext cx="1430337" cy="14271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CS ChemDraw Drawing" r:id="rId4" imgW="1430894" imgH="1426740" progId="ChemDraw.Document.6.0">
                  <p:embed/>
                </p:oleObj>
              </mc:Choice>
              <mc:Fallback>
                <p:oleObj name="CS ChemDraw Drawing" r:id="rId4" imgW="1430894" imgH="1426740" progId="ChemDraw.Document.6.0">
                  <p:embed/>
                  <p:pic>
                    <p:nvPicPr>
                      <p:cNvPr id="19" name="Object 18">
                        <a:extLst>
                          <a:ext uri="{FF2B5EF4-FFF2-40B4-BE49-F238E27FC236}">
                            <a16:creationId xmlns:a16="http://schemas.microsoft.com/office/drawing/2014/main" id="{760B44A9-DE56-4A01-D528-A5628E0436BC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99058" y="1326655"/>
                        <a:ext cx="1430337" cy="1427163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41341898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355B29C-CFB6-7A55-E8DB-0010374BD4F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>
            <a:extLst>
              <a:ext uri="{FF2B5EF4-FFF2-40B4-BE49-F238E27FC236}">
                <a16:creationId xmlns:a16="http://schemas.microsoft.com/office/drawing/2014/main" id="{663C1B7E-E9DD-5534-F2D9-568DCDCA8B5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51588" y="-243235"/>
            <a:ext cx="10515600" cy="1325563"/>
          </a:xfrm>
        </p:spPr>
        <p:txBody>
          <a:bodyPr>
            <a:normAutofit/>
          </a:bodyPr>
          <a:lstStyle/>
          <a:p>
            <a:pPr algn="ctr"/>
            <a:r>
              <a:rPr lang="en-CA" sz="2800" b="1">
                <a:latin typeface="+mn-lt"/>
                <a:cs typeface="Arial" panose="020B0604020202020204" pitchFamily="34" charset="0"/>
              </a:rPr>
              <a:t>GLCRCI-11062025R1</a:t>
            </a:r>
          </a:p>
        </p:txBody>
      </p:sp>
      <p:sp>
        <p:nvSpPr>
          <p:cNvPr id="5" name="Footer Placeholder 3">
            <a:extLst>
              <a:ext uri="{FF2B5EF4-FFF2-40B4-BE49-F238E27FC236}">
                <a16:creationId xmlns:a16="http://schemas.microsoft.com/office/drawing/2014/main" id="{A572BE6F-C4A4-86E6-146D-021C11E48E3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</p:spPr>
        <p:txBody>
          <a:bodyPr/>
          <a:lstStyle/>
          <a:p>
            <a:r>
              <a:rPr lang="en-CA">
                <a:latin typeface="Arial" panose="020B0604020202020204" pitchFamily="34" charset="0"/>
                <a:cs typeface="Arial" panose="020B0604020202020204" pitchFamily="34" charset="0"/>
              </a:rPr>
              <a:t>CONFIDENTIAL</a:t>
            </a:r>
          </a:p>
        </p:txBody>
      </p:sp>
      <p:sp>
        <p:nvSpPr>
          <p:cNvPr id="6" name="Slide Number Placeholder 4">
            <a:extLst>
              <a:ext uri="{FF2B5EF4-FFF2-40B4-BE49-F238E27FC236}">
                <a16:creationId xmlns:a16="http://schemas.microsoft.com/office/drawing/2014/main" id="{64A8884E-B9A7-B062-9E08-B62FA7317BFA}"/>
              </a:ext>
            </a:extLst>
          </p:cNvPr>
          <p:cNvSpPr>
            <a:spLocks noGrp="1"/>
          </p:cNvSpPr>
          <p:nvPr/>
        </p:nvSpPr>
        <p:spPr>
          <a:xfrm>
            <a:off x="8899849" y="6492875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8483A229-2BE2-4044-957D-22ED1E4A33A3}" type="slidenum">
              <a:rPr lang="en-US" smtClean="0">
                <a:latin typeface="Arial" panose="020B0604020202020204" pitchFamily="34" charset="0"/>
                <a:cs typeface="Arial" panose="020B0604020202020204" pitchFamily="34" charset="0"/>
              </a:rPr>
              <a:pPr/>
              <a:t>10</a:t>
            </a:fld>
            <a:endParaRPr lang="en-US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7" name="Title 1">
            <a:extLst>
              <a:ext uri="{FF2B5EF4-FFF2-40B4-BE49-F238E27FC236}">
                <a16:creationId xmlns:a16="http://schemas.microsoft.com/office/drawing/2014/main" id="{C1D782AC-3429-35BD-C7DB-174B7431A7AD}"/>
              </a:ext>
            </a:extLst>
          </p:cNvPr>
          <p:cNvSpPr txBox="1">
            <a:spLocks/>
          </p:cNvSpPr>
          <p:nvPr/>
        </p:nvSpPr>
        <p:spPr>
          <a:xfrm>
            <a:off x="651588" y="0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endParaRPr lang="en-US" sz="1800" b="1" i="0" u="none" strike="noStrike" baseline="0">
              <a:solidFill>
                <a:srgbClr val="000000"/>
              </a:solidFill>
              <a:latin typeface="Arial" panose="020B0604020202020204" pitchFamily="34" charset="0"/>
            </a:endParaRPr>
          </a:p>
          <a:p>
            <a:r>
              <a:rPr lang="en-US" sz="2000" b="1">
                <a:latin typeface="+mn-lt"/>
              </a:rPr>
              <a:t>Step-1: LCMS of Intermediate-3, Single Crop Isolation 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D8C8C6DA-846F-052D-068B-26EF64114C28}"/>
              </a:ext>
            </a:extLst>
          </p:cNvPr>
          <p:cNvSpPr txBox="1"/>
          <p:nvPr/>
        </p:nvSpPr>
        <p:spPr>
          <a:xfrm>
            <a:off x="556725" y="5563057"/>
            <a:ext cx="2232349" cy="3324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>
              <a:lnSpc>
                <a:spcPct val="120000"/>
              </a:lnSpc>
              <a:buNone/>
            </a:pPr>
            <a:r>
              <a:rPr lang="en-CA" sz="1400" b="1"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m/z = 294.07 [M+1]</a:t>
            </a:r>
            <a:r>
              <a:rPr lang="en-CA" sz="1400" b="1" baseline="30000"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+</a:t>
            </a:r>
            <a:endParaRPr lang="en-CA" sz="140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</p:txBody>
      </p:sp>
      <p:graphicFrame>
        <p:nvGraphicFramePr>
          <p:cNvPr id="3" name="Object 2">
            <a:extLst>
              <a:ext uri="{FF2B5EF4-FFF2-40B4-BE49-F238E27FC236}">
                <a16:creationId xmlns:a16="http://schemas.microsoft.com/office/drawing/2014/main" id="{3AE3AB92-896F-564F-FB56-63B826A6F2B3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806416468"/>
              </p:ext>
            </p:extLst>
          </p:nvPr>
        </p:nvGraphicFramePr>
        <p:xfrm>
          <a:off x="651588" y="3947086"/>
          <a:ext cx="1430337" cy="14271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CS ChemDraw Drawing" r:id="rId2" imgW="1430894" imgH="1426740" progId="ChemDraw.Document.6.0">
                  <p:embed/>
                </p:oleObj>
              </mc:Choice>
              <mc:Fallback>
                <p:oleObj name="CS ChemDraw Drawing" r:id="rId2" imgW="1430894" imgH="1426740" progId="ChemDraw.Document.6.0">
                  <p:embed/>
                  <p:pic>
                    <p:nvPicPr>
                      <p:cNvPr id="3" name="Object 2">
                        <a:extLst>
                          <a:ext uri="{FF2B5EF4-FFF2-40B4-BE49-F238E27FC236}">
                            <a16:creationId xmlns:a16="http://schemas.microsoft.com/office/drawing/2014/main" id="{3AE3AB92-896F-564F-FB56-63B826A6F2B3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3"/>
                      <a:stretch>
                        <a:fillRect/>
                      </a:stretch>
                    </p:blipFill>
                    <p:spPr>
                      <a:xfrm>
                        <a:off x="651588" y="3947086"/>
                        <a:ext cx="1430337" cy="1427163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10" name="Picture 9">
            <a:extLst>
              <a:ext uri="{FF2B5EF4-FFF2-40B4-BE49-F238E27FC236}">
                <a16:creationId xmlns:a16="http://schemas.microsoft.com/office/drawing/2014/main" id="{E327CD96-0C05-1F12-6EE9-F3357D30D23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658446" y="963032"/>
            <a:ext cx="6405466" cy="2795248"/>
          </a:xfrm>
          <a:prstGeom prst="rect">
            <a:avLst/>
          </a:prstGeom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61C552E8-A70F-CDEA-34FE-701222F8E42A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658446" y="3770681"/>
            <a:ext cx="6077339" cy="2598070"/>
          </a:xfrm>
          <a:prstGeom prst="rect">
            <a:avLst/>
          </a:prstGeom>
        </p:spPr>
      </p:pic>
      <p:cxnSp>
        <p:nvCxnSpPr>
          <p:cNvPr id="15" name="Straight Arrow Connector 14">
            <a:extLst>
              <a:ext uri="{FF2B5EF4-FFF2-40B4-BE49-F238E27FC236}">
                <a16:creationId xmlns:a16="http://schemas.microsoft.com/office/drawing/2014/main" id="{59E72743-5E65-526B-612A-5FAA35D37FBC}"/>
              </a:ext>
            </a:extLst>
          </p:cNvPr>
          <p:cNvCxnSpPr>
            <a:cxnSpLocks/>
          </p:cNvCxnSpPr>
          <p:nvPr/>
        </p:nvCxnSpPr>
        <p:spPr>
          <a:xfrm flipH="1">
            <a:off x="2198913" y="4660668"/>
            <a:ext cx="2457928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59614707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5ED8245-8B73-9DCF-000A-D884C17B2D5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>
            <a:extLst>
              <a:ext uri="{FF2B5EF4-FFF2-40B4-BE49-F238E27FC236}">
                <a16:creationId xmlns:a16="http://schemas.microsoft.com/office/drawing/2014/main" id="{84FB1836-2456-1155-9A54-B3985344E5F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35563" y="-359111"/>
            <a:ext cx="10515600" cy="1325563"/>
          </a:xfrm>
        </p:spPr>
        <p:txBody>
          <a:bodyPr>
            <a:normAutofit/>
          </a:bodyPr>
          <a:lstStyle/>
          <a:p>
            <a:pPr algn="ctr"/>
            <a:r>
              <a:rPr lang="en-CA" sz="2800" b="1">
                <a:latin typeface="+mn-lt"/>
                <a:cs typeface="Arial" panose="020B0604020202020204" pitchFamily="34" charset="0"/>
              </a:rPr>
              <a:t>GLCRCI-11062025R1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65B9184-F013-225F-F4A1-3025BF325717}"/>
              </a:ext>
            </a:extLst>
          </p:cNvPr>
          <p:cNvSpPr txBox="1">
            <a:spLocks/>
          </p:cNvSpPr>
          <p:nvPr/>
        </p:nvSpPr>
        <p:spPr>
          <a:xfrm>
            <a:off x="838200" y="488337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endParaRPr lang="en-US" sz="1800" b="1" i="0" u="none" strike="noStrike" baseline="0">
              <a:solidFill>
                <a:srgbClr val="000000"/>
              </a:solidFill>
              <a:latin typeface="Arial" panose="020B0604020202020204" pitchFamily="34" charset="0"/>
            </a:endParaRPr>
          </a:p>
          <a:p>
            <a:endParaRPr lang="en-US" sz="1800" b="1" i="0" u="none" strike="noStrike" baseline="0">
              <a:solidFill>
                <a:srgbClr val="000000"/>
              </a:solidFill>
              <a:latin typeface="Arial" panose="020B0604020202020204" pitchFamily="34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08281659-8147-7715-1F2F-B58CE4BADB66}"/>
              </a:ext>
            </a:extLst>
          </p:cNvPr>
          <p:cNvSpPr txBox="1"/>
          <p:nvPr/>
        </p:nvSpPr>
        <p:spPr>
          <a:xfrm>
            <a:off x="187086" y="488337"/>
            <a:ext cx="6578082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800" b="1"/>
              <a:t>Step 2: </a:t>
            </a:r>
            <a:r>
              <a:rPr lang="en-US" b="1"/>
              <a:t>Suzuki</a:t>
            </a:r>
            <a:r>
              <a:rPr lang="en-US" sz="1800" b="1"/>
              <a:t> coupling (Familiarization with </a:t>
            </a:r>
            <a:r>
              <a:rPr lang="en-US" sz="1800" b="1">
                <a:solidFill>
                  <a:srgbClr val="3333FF"/>
                </a:solidFill>
              </a:rPr>
              <a:t>1.0 eq</a:t>
            </a:r>
            <a:r>
              <a:rPr lang="en-US" sz="1800" b="1"/>
              <a:t>. vs 1.3 eq. compound 4,  </a:t>
            </a:r>
            <a:r>
              <a:rPr lang="en-US" sz="1800" b="1">
                <a:solidFill>
                  <a:srgbClr val="3333FF"/>
                </a:solidFill>
              </a:rPr>
              <a:t>0.05 eq</a:t>
            </a:r>
            <a:r>
              <a:rPr lang="en-US" sz="1800" b="1"/>
              <a:t>. vs 0.20 eq. </a:t>
            </a:r>
            <a:r>
              <a:rPr lang="en-US" sz="1800" b="1" err="1"/>
              <a:t>Xphos</a:t>
            </a:r>
            <a:r>
              <a:rPr lang="en-US" sz="1800" b="1"/>
              <a:t> Pd G3 cat. </a:t>
            </a:r>
            <a:r>
              <a:rPr lang="en-US" b="1"/>
              <a:t>a</a:t>
            </a:r>
            <a:r>
              <a:rPr lang="en-US" sz="1800" b="1"/>
              <a:t>nd Cs</a:t>
            </a:r>
            <a:r>
              <a:rPr lang="en-US" sz="1800" b="1" baseline="-25000"/>
              <a:t>2</a:t>
            </a:r>
            <a:r>
              <a:rPr lang="en-US" sz="1800" b="1"/>
              <a:t>CO</a:t>
            </a:r>
            <a:r>
              <a:rPr lang="en-US" sz="1800" b="1" baseline="-25000"/>
              <a:t>3</a:t>
            </a:r>
            <a:r>
              <a:rPr lang="en-US" sz="1800" b="1"/>
              <a:t>)</a:t>
            </a:r>
          </a:p>
        </p:txBody>
      </p:sp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0F369F0C-7D80-853D-4365-20817BCA710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995037030"/>
              </p:ext>
            </p:extLst>
          </p:nvPr>
        </p:nvGraphicFramePr>
        <p:xfrm>
          <a:off x="187086" y="1279298"/>
          <a:ext cx="11817827" cy="554736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626575">
                  <a:extLst>
                    <a:ext uri="{9D8B030D-6E8A-4147-A177-3AD203B41FA5}">
                      <a16:colId xmlns:a16="http://schemas.microsoft.com/office/drawing/2014/main" val="2967325160"/>
                    </a:ext>
                  </a:extLst>
                </a:gridCol>
                <a:gridCol w="1048877">
                  <a:extLst>
                    <a:ext uri="{9D8B030D-6E8A-4147-A177-3AD203B41FA5}">
                      <a16:colId xmlns:a16="http://schemas.microsoft.com/office/drawing/2014/main" val="1058054721"/>
                    </a:ext>
                  </a:extLst>
                </a:gridCol>
                <a:gridCol w="3241307">
                  <a:extLst>
                    <a:ext uri="{9D8B030D-6E8A-4147-A177-3AD203B41FA5}">
                      <a16:colId xmlns:a16="http://schemas.microsoft.com/office/drawing/2014/main" val="2257075883"/>
                    </a:ext>
                  </a:extLst>
                </a:gridCol>
                <a:gridCol w="6901068">
                  <a:extLst>
                    <a:ext uri="{9D8B030D-6E8A-4147-A177-3AD203B41FA5}">
                      <a16:colId xmlns:a16="http://schemas.microsoft.com/office/drawing/2014/main" val="1958950006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en-CA" sz="1600" b="1"/>
                        <a:t>No.</a:t>
                      </a:r>
                    </a:p>
                  </a:txBody>
                  <a:tcPr>
                    <a:solidFill>
                      <a:srgbClr val="AACDC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CA" sz="1600" b="1"/>
                        <a:t>Scale</a:t>
                      </a:r>
                    </a:p>
                  </a:txBody>
                  <a:tcPr>
                    <a:solidFill>
                      <a:srgbClr val="AACDC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CA" sz="1600" b="1"/>
                        <a:t>Description (in order of addition)</a:t>
                      </a:r>
                    </a:p>
                  </a:txBody>
                  <a:tcPr>
                    <a:solidFill>
                      <a:srgbClr val="AACDC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CA" sz="1600" b="1"/>
                        <a:t>Comments</a:t>
                      </a:r>
                    </a:p>
                  </a:txBody>
                  <a:tcPr>
                    <a:solidFill>
                      <a:srgbClr val="AACDC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4076925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en-US" sz="1600"/>
                        <a:t>2</a:t>
                      </a:r>
                      <a:endParaRPr lang="en-CA" sz="1600"/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CA" sz="1400"/>
                        <a:t>0.5 g</a:t>
                      </a: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CA" sz="1400"/>
                        <a:t>Intermediate-</a:t>
                      </a:r>
                      <a:r>
                        <a:rPr lang="en-CA" sz="1400" b="1"/>
                        <a:t>3</a:t>
                      </a:r>
                      <a:r>
                        <a:rPr lang="en-CA" sz="1400"/>
                        <a:t> (0.5 g, 1.0 eq), 4-(4-Boc-piperazino)phenylboronic acid (</a:t>
                      </a:r>
                      <a:r>
                        <a:rPr lang="en-CA" sz="1400" b="1"/>
                        <a:t>4</a:t>
                      </a:r>
                      <a:r>
                        <a:rPr lang="en-CA" sz="1400"/>
                        <a:t>) (</a:t>
                      </a:r>
                      <a:r>
                        <a:rPr lang="en-CA" sz="1400" b="1">
                          <a:solidFill>
                            <a:srgbClr val="3333FF"/>
                          </a:solidFill>
                        </a:rPr>
                        <a:t>1.00 eq</a:t>
                      </a:r>
                      <a:r>
                        <a:rPr lang="en-CA" sz="1400"/>
                        <a:t>), </a:t>
                      </a:r>
                      <a:r>
                        <a:rPr lang="en-CA" sz="1400" err="1"/>
                        <a:t>Xphos</a:t>
                      </a:r>
                      <a:r>
                        <a:rPr lang="en-CA" sz="1400"/>
                        <a:t> Pd G3 (</a:t>
                      </a:r>
                      <a:r>
                        <a:rPr lang="en-CA" sz="1400" b="1">
                          <a:solidFill>
                            <a:srgbClr val="3333FF"/>
                          </a:solidFill>
                        </a:rPr>
                        <a:t>0.05 eq</a:t>
                      </a:r>
                      <a:r>
                        <a:rPr lang="en-CA" sz="1400"/>
                        <a:t>), Cs</a:t>
                      </a:r>
                      <a:r>
                        <a:rPr lang="en-CA" sz="1400" baseline="-25000"/>
                        <a:t>2</a:t>
                      </a:r>
                      <a:r>
                        <a:rPr lang="en-CA" sz="1400"/>
                        <a:t>CO</a:t>
                      </a:r>
                      <a:r>
                        <a:rPr lang="en-CA" sz="1400" baseline="-25000"/>
                        <a:t>3</a:t>
                      </a:r>
                      <a:r>
                        <a:rPr lang="en-CA" sz="1400"/>
                        <a:t> (3.0 eq), Toluene (8 V), water (2 V), 110 °C, 18 h.</a:t>
                      </a: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285750" indent="-285750" algn="l">
                        <a:buFont typeface="Arial" panose="020B0604020202020204" pitchFamily="34" charset="0"/>
                        <a:buChar char="•"/>
                      </a:pPr>
                      <a:r>
                        <a:rPr lang="en-CA" sz="1200" i="0"/>
                        <a:t>Charged Intermediate-1 (Compound-</a:t>
                      </a:r>
                      <a:r>
                        <a:rPr lang="en-CA" sz="1200" b="1" i="0"/>
                        <a:t>3, </a:t>
                      </a:r>
                      <a:r>
                        <a:rPr lang="en-CA" sz="1200" b="0" i="0"/>
                        <a:t>0.5 g, 1.0 eq.)</a:t>
                      </a:r>
                      <a:r>
                        <a:rPr lang="en-CA" sz="1200" b="0"/>
                        <a:t> </a:t>
                      </a:r>
                      <a:r>
                        <a:rPr lang="en-CA" sz="1200"/>
                        <a:t>&amp; 4-(4-Boc-piperazino)phenylboronic acid (</a:t>
                      </a:r>
                      <a:r>
                        <a:rPr lang="en-CA" sz="1200" b="1"/>
                        <a:t>4, </a:t>
                      </a:r>
                      <a:r>
                        <a:rPr lang="en-CA" sz="1200" b="0"/>
                        <a:t>0.52</a:t>
                      </a:r>
                      <a:r>
                        <a:rPr lang="en-CA" sz="1200" b="1"/>
                        <a:t> </a:t>
                      </a:r>
                      <a:r>
                        <a:rPr lang="en-CA" sz="1200" b="0"/>
                        <a:t>g, </a:t>
                      </a:r>
                      <a:r>
                        <a:rPr lang="en-CA" sz="1200" b="0">
                          <a:solidFill>
                            <a:srgbClr val="3333FF"/>
                          </a:solidFill>
                        </a:rPr>
                        <a:t>1.00 eq</a:t>
                      </a:r>
                      <a:r>
                        <a:rPr lang="en-CA" sz="1200" b="0"/>
                        <a:t>.</a:t>
                      </a:r>
                      <a:r>
                        <a:rPr lang="en-CA" sz="1200" b="0" i="0" baseline="0"/>
                        <a:t>)</a:t>
                      </a:r>
                      <a:r>
                        <a:rPr lang="en-CA" sz="1200" b="1"/>
                        <a:t> </a:t>
                      </a:r>
                      <a:r>
                        <a:rPr lang="en-CA" sz="1200" i="0"/>
                        <a:t>in a seal tube under nitrogen</a:t>
                      </a:r>
                    </a:p>
                    <a:p>
                      <a:pPr marL="285750" indent="-285750" algn="l">
                        <a:buFont typeface="Arial" panose="020B0604020202020204" pitchFamily="34" charset="0"/>
                        <a:buChar char="•"/>
                      </a:pPr>
                      <a:r>
                        <a:rPr lang="en-CA" sz="1200" i="0"/>
                        <a:t>Added toluene (4 mL, 8 V), water (1 mL, 2 V) and </a:t>
                      </a:r>
                      <a:r>
                        <a:rPr lang="en-CA" sz="1200"/>
                        <a:t>Cs</a:t>
                      </a:r>
                      <a:r>
                        <a:rPr lang="en-CA" sz="1200" baseline="-25000"/>
                        <a:t>2</a:t>
                      </a:r>
                      <a:r>
                        <a:rPr lang="en-CA" sz="1200"/>
                        <a:t>CO</a:t>
                      </a:r>
                      <a:r>
                        <a:rPr lang="en-CA" sz="1200" baseline="-25000"/>
                        <a:t>3  </a:t>
                      </a:r>
                      <a:r>
                        <a:rPr lang="en-CA" sz="1200" i="0"/>
                        <a:t> (1.74 g, 3.0 eq)</a:t>
                      </a:r>
                    </a:p>
                    <a:p>
                      <a:pPr marL="285750" indent="-285750" algn="l">
                        <a:buFont typeface="Arial" panose="020B0604020202020204" pitchFamily="34" charset="0"/>
                        <a:buChar char="•"/>
                      </a:pPr>
                      <a:r>
                        <a:rPr lang="en-CA" sz="1200" i="0"/>
                        <a:t>Degassed with nitrogen for 5 min</a:t>
                      </a:r>
                    </a:p>
                    <a:p>
                      <a:pPr marL="285750" indent="-285750" algn="l">
                        <a:buFont typeface="Arial" panose="020B0604020202020204" pitchFamily="34" charset="0"/>
                        <a:buChar char="•"/>
                      </a:pPr>
                      <a:r>
                        <a:rPr lang="en-CA" sz="1200" i="0"/>
                        <a:t>Added </a:t>
                      </a:r>
                      <a:r>
                        <a:rPr lang="en-CA" sz="1200" i="0" err="1"/>
                        <a:t>Xphos</a:t>
                      </a:r>
                      <a:r>
                        <a:rPr lang="en-CA" sz="1200" i="0"/>
                        <a:t> Pd G3 (7 mg, </a:t>
                      </a:r>
                      <a:r>
                        <a:rPr lang="en-CA" sz="1200" i="0">
                          <a:solidFill>
                            <a:srgbClr val="3333FF"/>
                          </a:solidFill>
                        </a:rPr>
                        <a:t>0.05 eq</a:t>
                      </a:r>
                      <a:r>
                        <a:rPr lang="en-CA" sz="1200" i="0"/>
                        <a:t>.)</a:t>
                      </a:r>
                      <a:endParaRPr lang="en-CA" sz="1200"/>
                    </a:p>
                    <a:p>
                      <a:pPr marL="285750" marR="0" lvl="0" indent="-28575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en-CA" sz="1200" i="0"/>
                        <a:t>Degassed with nitrogen for 5 min </a:t>
                      </a:r>
                    </a:p>
                    <a:p>
                      <a:pPr marL="285750" indent="-285750" algn="l">
                        <a:buFont typeface="Arial" panose="020B0604020202020204" pitchFamily="34" charset="0"/>
                        <a:buChar char="•"/>
                      </a:pPr>
                      <a:r>
                        <a:rPr lang="en-CA" sz="1200" i="0"/>
                        <a:t>Heated to 110 °C and stirred for 6 h</a:t>
                      </a:r>
                    </a:p>
                    <a:p>
                      <a:pPr marL="285750" indent="-285750" algn="l">
                        <a:buFont typeface="Arial" panose="020B0604020202020204" pitchFamily="34" charset="0"/>
                        <a:buChar char="•"/>
                      </a:pPr>
                      <a:r>
                        <a:rPr lang="en-CA" sz="1200" i="0"/>
                        <a:t>Checked HPLC after 6 h (</a:t>
                      </a:r>
                      <a:r>
                        <a:rPr lang="en-CA" sz="1200" b="1" i="0"/>
                        <a:t>~42% SM vs product 5 observed by HPLC</a:t>
                      </a:r>
                      <a:r>
                        <a:rPr lang="en-CA" sz="1200" i="0"/>
                        <a:t>)</a:t>
                      </a:r>
                    </a:p>
                    <a:p>
                      <a:pPr marL="285750" indent="-285750" algn="l">
                        <a:buFont typeface="Arial" panose="020B0604020202020204" pitchFamily="34" charset="0"/>
                        <a:buChar char="•"/>
                      </a:pPr>
                      <a:r>
                        <a:rPr lang="en-CA" sz="1200" i="0"/>
                        <a:t>Continue heating for another 14 h</a:t>
                      </a:r>
                    </a:p>
                    <a:p>
                      <a:pPr marL="285750" marR="0" lvl="0" indent="-285750" algn="l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</a:pPr>
                      <a:r>
                        <a:rPr lang="en-CA" sz="1200" i="0"/>
                        <a:t>Checked HPLC after 20 h (</a:t>
                      </a:r>
                      <a:r>
                        <a:rPr lang="en-CA" sz="1200" b="1" i="0"/>
                        <a:t>~40% SM vs product 5 observed by HPLC</a:t>
                      </a:r>
                      <a:r>
                        <a:rPr lang="en-CA" sz="1200" i="0"/>
                        <a:t>)</a:t>
                      </a:r>
                    </a:p>
                    <a:p>
                      <a:pPr marL="285750" marR="0" lvl="0" indent="-28575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en-CA" sz="1200" i="0"/>
                        <a:t>Cooled to RT</a:t>
                      </a:r>
                    </a:p>
                    <a:p>
                      <a:pPr marL="285750" indent="-285750" algn="l">
                        <a:buFont typeface="Arial" panose="020B0604020202020204" pitchFamily="34" charset="0"/>
                        <a:buChar char="•"/>
                      </a:pPr>
                      <a:r>
                        <a:rPr lang="en-CA" sz="1200" i="0"/>
                        <a:t>Added </a:t>
                      </a:r>
                      <a:r>
                        <a:rPr lang="en-CA" sz="1200" i="0" err="1"/>
                        <a:t>Xphos</a:t>
                      </a:r>
                      <a:r>
                        <a:rPr lang="en-CA" sz="1200" i="0"/>
                        <a:t> Pd G3 (7 mg, </a:t>
                      </a:r>
                      <a:r>
                        <a:rPr lang="en-CA" sz="1200" i="0">
                          <a:solidFill>
                            <a:srgbClr val="3333FF"/>
                          </a:solidFill>
                        </a:rPr>
                        <a:t>0.05 eq</a:t>
                      </a:r>
                      <a:r>
                        <a:rPr lang="en-CA" sz="1200" i="0"/>
                        <a:t>.)</a:t>
                      </a:r>
                    </a:p>
                    <a:p>
                      <a:pPr marL="285750" indent="-285750" algn="l">
                        <a:buFont typeface="Arial" panose="020B0604020202020204" pitchFamily="34" charset="0"/>
                        <a:buChar char="•"/>
                      </a:pPr>
                      <a:r>
                        <a:rPr lang="en-CA" sz="1200" i="0"/>
                        <a:t>Heated to 110 °C and stirred for another 16 h</a:t>
                      </a:r>
                    </a:p>
                    <a:p>
                      <a:pPr marL="285750" indent="-285750" algn="l">
                        <a:buFont typeface="Arial" panose="020B0604020202020204" pitchFamily="34" charset="0"/>
                        <a:buChar char="•"/>
                      </a:pPr>
                      <a:r>
                        <a:rPr lang="en-CA" sz="1200" i="0"/>
                        <a:t>Checked HPLC after 36 h (</a:t>
                      </a:r>
                      <a:r>
                        <a:rPr lang="en-CA" sz="1200" b="1" i="0"/>
                        <a:t>~34% SM vs product 5 observed by HPLC</a:t>
                      </a:r>
                      <a:r>
                        <a:rPr lang="en-CA" sz="1200" i="0"/>
                        <a:t>)</a:t>
                      </a:r>
                    </a:p>
                    <a:p>
                      <a:pPr marL="285750" marR="0" lvl="0" indent="-28575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en-CA" sz="1200" i="0"/>
                        <a:t>Cooled to RT</a:t>
                      </a:r>
                    </a:p>
                    <a:p>
                      <a:pPr marL="285750" indent="-285750" algn="l">
                        <a:buFont typeface="Arial" panose="020B0604020202020204" pitchFamily="34" charset="0"/>
                        <a:buChar char="•"/>
                      </a:pPr>
                      <a:r>
                        <a:rPr lang="en-CA" sz="1200" i="0"/>
                        <a:t>Added </a:t>
                      </a:r>
                      <a:r>
                        <a:rPr lang="en-CA" sz="1200"/>
                        <a:t>4-(4-Boc-piperazino)phenylboronic acid (</a:t>
                      </a:r>
                      <a:r>
                        <a:rPr lang="en-CA" sz="1200" b="1"/>
                        <a:t>4, </a:t>
                      </a:r>
                      <a:r>
                        <a:rPr lang="en-CA" sz="1200" b="0"/>
                        <a:t>0.16 g, </a:t>
                      </a:r>
                      <a:r>
                        <a:rPr lang="en-CA" sz="1200" b="0">
                          <a:solidFill>
                            <a:srgbClr val="3333FF"/>
                          </a:solidFill>
                        </a:rPr>
                        <a:t>0.3 eq</a:t>
                      </a:r>
                      <a:r>
                        <a:rPr lang="en-CA" sz="1200" b="0"/>
                        <a:t>.</a:t>
                      </a:r>
                      <a:r>
                        <a:rPr lang="en-CA" sz="1200" b="0" i="0" baseline="0"/>
                        <a:t>)</a:t>
                      </a:r>
                      <a:r>
                        <a:rPr lang="en-CA" sz="1200" b="1"/>
                        <a:t> </a:t>
                      </a:r>
                      <a:r>
                        <a:rPr lang="en-CA" sz="1200" i="0" err="1"/>
                        <a:t>Xphos</a:t>
                      </a:r>
                      <a:r>
                        <a:rPr lang="en-CA" sz="1200" i="0"/>
                        <a:t> Pd G3 (7 mg, </a:t>
                      </a:r>
                      <a:r>
                        <a:rPr lang="en-CA" sz="1200" i="0">
                          <a:solidFill>
                            <a:srgbClr val="3333FF"/>
                          </a:solidFill>
                        </a:rPr>
                        <a:t>0.05 eq</a:t>
                      </a:r>
                      <a:r>
                        <a:rPr lang="en-CA" sz="1200" i="0"/>
                        <a:t>.)</a:t>
                      </a:r>
                    </a:p>
                    <a:p>
                      <a:pPr marL="285750" indent="-285750" algn="l">
                        <a:buFont typeface="Arial" panose="020B0604020202020204" pitchFamily="34" charset="0"/>
                        <a:buChar char="•"/>
                      </a:pPr>
                      <a:r>
                        <a:rPr lang="en-CA" sz="1200" i="0"/>
                        <a:t>Heated to 110 °C and stirred at 110 °C, checked IPC (~56 h)</a:t>
                      </a:r>
                    </a:p>
                    <a:p>
                      <a:pPr marL="285750" indent="-285750" algn="l">
                        <a:buFont typeface="Arial" panose="020B0604020202020204" pitchFamily="34" charset="0"/>
                        <a:buChar char="•"/>
                      </a:pPr>
                      <a:r>
                        <a:rPr lang="en-CA" sz="1200" i="0"/>
                        <a:t>Checked HPLC after 40 h and 56 h (</a:t>
                      </a:r>
                      <a:r>
                        <a:rPr lang="en-CA" sz="1200" b="1" i="0"/>
                        <a:t>~26.0% </a:t>
                      </a:r>
                      <a:r>
                        <a:rPr lang="en-CA" sz="1200" b="0" i="0"/>
                        <a:t>and</a:t>
                      </a:r>
                      <a:r>
                        <a:rPr lang="en-CA" sz="1200" b="1" i="0"/>
                        <a:t>  20.5% SM vs product 5 observed by HPLC</a:t>
                      </a:r>
                      <a:r>
                        <a:rPr lang="en-CA" sz="1200" i="0"/>
                        <a:t>)</a:t>
                      </a:r>
                    </a:p>
                    <a:p>
                      <a:pPr marL="285750" marR="0" lvl="0" indent="-28575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en-CA" sz="1200" i="0"/>
                        <a:t>Cooled to RT</a:t>
                      </a:r>
                    </a:p>
                    <a:p>
                      <a:pPr marL="285750" indent="-285750" algn="l">
                        <a:buFont typeface="Arial" panose="020B0604020202020204" pitchFamily="34" charset="0"/>
                        <a:buChar char="•"/>
                      </a:pPr>
                      <a:r>
                        <a:rPr lang="en-CA" sz="1200" i="0"/>
                        <a:t>Added </a:t>
                      </a:r>
                      <a:r>
                        <a:rPr lang="en-CA" sz="1200"/>
                        <a:t>4-(4-Boc-piperazino)phenylboronic acid (</a:t>
                      </a:r>
                      <a:r>
                        <a:rPr lang="en-CA" sz="1200" b="1"/>
                        <a:t>4, </a:t>
                      </a:r>
                      <a:r>
                        <a:rPr lang="en-CA" sz="1200" b="0"/>
                        <a:t>0.16</a:t>
                      </a:r>
                      <a:r>
                        <a:rPr lang="en-CA" sz="1200" b="1"/>
                        <a:t> </a:t>
                      </a:r>
                      <a:r>
                        <a:rPr lang="en-CA" sz="1200" b="0"/>
                        <a:t>g, </a:t>
                      </a:r>
                      <a:r>
                        <a:rPr lang="en-CA" sz="1200" b="0">
                          <a:solidFill>
                            <a:srgbClr val="3333FF"/>
                          </a:solidFill>
                        </a:rPr>
                        <a:t>0.3 eq</a:t>
                      </a:r>
                      <a:r>
                        <a:rPr lang="en-CA" sz="1200" b="0"/>
                        <a:t>.</a:t>
                      </a:r>
                      <a:r>
                        <a:rPr lang="en-CA" sz="1200" b="0" i="0" baseline="0"/>
                        <a:t>)</a:t>
                      </a:r>
                      <a:r>
                        <a:rPr lang="en-CA" sz="1200" b="1"/>
                        <a:t> </a:t>
                      </a:r>
                      <a:r>
                        <a:rPr lang="en-CA" sz="1200" i="0" err="1"/>
                        <a:t>Xphos</a:t>
                      </a:r>
                      <a:r>
                        <a:rPr lang="en-CA" sz="1200" i="0"/>
                        <a:t> Pd G3 (7 mg, </a:t>
                      </a:r>
                      <a:r>
                        <a:rPr lang="en-CA" sz="1200" i="0">
                          <a:solidFill>
                            <a:srgbClr val="3333FF"/>
                          </a:solidFill>
                        </a:rPr>
                        <a:t>0.05 eq</a:t>
                      </a:r>
                      <a:r>
                        <a:rPr lang="en-CA" sz="1200" i="0"/>
                        <a:t>.)</a:t>
                      </a:r>
                    </a:p>
                    <a:p>
                      <a:pPr marL="285750" marR="0" lvl="0" indent="-28575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en-CA" sz="1200" i="0"/>
                        <a:t>Heated to 110 °C and stirred at 110 °C, checked IPC (~72 h)</a:t>
                      </a:r>
                    </a:p>
                    <a:p>
                      <a:pPr marL="285750" marR="0" lvl="0" indent="-285750" algn="l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</a:pPr>
                      <a:r>
                        <a:rPr lang="en-CA" sz="1200" i="0"/>
                        <a:t>Checked HPLC after 72 h (</a:t>
                      </a:r>
                      <a:r>
                        <a:rPr lang="en-CA" sz="1200" b="1" i="0"/>
                        <a:t>~0.18 % SM vs product 5 observed by HPLC</a:t>
                      </a:r>
                      <a:r>
                        <a:rPr lang="en-CA" sz="1200" i="0"/>
                        <a:t>)</a:t>
                      </a:r>
                      <a:endParaRPr lang="en-CA" sz="1200"/>
                    </a:p>
                    <a:p>
                      <a:pPr marL="285750" indent="-285750" algn="l">
                        <a:buFont typeface="Arial" panose="020B0604020202020204" pitchFamily="34" charset="0"/>
                        <a:buChar char="•"/>
                      </a:pPr>
                      <a:r>
                        <a:rPr lang="en-CA" sz="1200" i="0"/>
                        <a:t>Cooled to RT, filtered through Celite, washed with toluene (2.5 mL, 5 V)</a:t>
                      </a:r>
                    </a:p>
                    <a:p>
                      <a:pPr marL="285750" indent="-285750" algn="l">
                        <a:buFont typeface="Arial" panose="020B0604020202020204" pitchFamily="34" charset="0"/>
                        <a:buChar char="•"/>
                      </a:pPr>
                      <a:r>
                        <a:rPr lang="en-CA" sz="1200" i="0"/>
                        <a:t>Charged water (2.5 mL, 5 V)</a:t>
                      </a:r>
                    </a:p>
                    <a:p>
                      <a:pPr marL="285750" indent="-285750" algn="l">
                        <a:buFont typeface="Arial" panose="020B0604020202020204" pitchFamily="34" charset="0"/>
                        <a:buChar char="•"/>
                      </a:pPr>
                      <a:r>
                        <a:rPr lang="en-CA" sz="1200" i="0"/>
                        <a:t>Layers were separated and aq. layer back extracted with toluene (2.5 mL, 5 V)</a:t>
                      </a:r>
                    </a:p>
                    <a:p>
                      <a:pPr marL="285750" indent="-285750" algn="l">
                        <a:buFont typeface="Arial" panose="020B0604020202020204" pitchFamily="34" charset="0"/>
                        <a:buChar char="•"/>
                      </a:pPr>
                      <a:r>
                        <a:rPr lang="en-CA" sz="1200" i="0"/>
                        <a:t>Combined the both layers and washed with brine solution (2.5 mL, 5 V)</a:t>
                      </a:r>
                    </a:p>
                    <a:p>
                      <a:pPr marL="285750" indent="-285750" algn="l">
                        <a:buFont typeface="Arial" panose="020B0604020202020204" pitchFamily="34" charset="0"/>
                        <a:buChar char="•"/>
                      </a:pPr>
                      <a:r>
                        <a:rPr lang="en-CA" sz="1200" i="0"/>
                        <a:t>Evaporated under vacuum at 40-45 °C</a:t>
                      </a:r>
                      <a:r>
                        <a:rPr lang="en-CA" sz="1200" b="0" i="0">
                          <a:solidFill>
                            <a:schemeClr val="tx1"/>
                          </a:solidFill>
                        </a:rPr>
                        <a:t>, obtained a thick brown syrup</a:t>
                      </a:r>
                    </a:p>
                    <a:p>
                      <a:pPr marL="285750" indent="-285750" algn="l">
                        <a:buFont typeface="Arial" panose="020B0604020202020204" pitchFamily="34" charset="0"/>
                        <a:buChar char="•"/>
                      </a:pPr>
                      <a:r>
                        <a:rPr lang="en-CA" sz="1200" b="0" i="0">
                          <a:solidFill>
                            <a:schemeClr val="tx1"/>
                          </a:solidFill>
                        </a:rPr>
                        <a:t>Combined the crude syrup for isolation with the subsequent scale-up batch</a:t>
                      </a: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10588666"/>
                  </a:ext>
                </a:extLst>
              </a:tr>
            </a:tbl>
          </a:graphicData>
        </a:graphic>
      </p:graphicFrame>
      <p:graphicFrame>
        <p:nvGraphicFramePr>
          <p:cNvPr id="9" name="Object 8">
            <a:extLst>
              <a:ext uri="{FF2B5EF4-FFF2-40B4-BE49-F238E27FC236}">
                <a16:creationId xmlns:a16="http://schemas.microsoft.com/office/drawing/2014/main" id="{42CA53DD-808C-12D9-594F-F14FB69D1FA9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91760679"/>
              </p:ext>
            </p:extLst>
          </p:nvPr>
        </p:nvGraphicFramePr>
        <p:xfrm>
          <a:off x="7763702" y="31342"/>
          <a:ext cx="2705245" cy="114277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CS ChemDraw Drawing" r:id="rId2" imgW="5463527" imgH="2308837" progId="ChemDraw.Document.6.0">
                  <p:embed/>
                </p:oleObj>
              </mc:Choice>
              <mc:Fallback>
                <p:oleObj name="CS ChemDraw Drawing" r:id="rId2" imgW="5463527" imgH="2308837" progId="ChemDraw.Document.6.0">
                  <p:embed/>
                  <p:pic>
                    <p:nvPicPr>
                      <p:cNvPr id="9" name="Object 8">
                        <a:extLst>
                          <a:ext uri="{FF2B5EF4-FFF2-40B4-BE49-F238E27FC236}">
                            <a16:creationId xmlns:a16="http://schemas.microsoft.com/office/drawing/2014/main" id="{42CA53DD-808C-12D9-594F-F14FB69D1FA9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3"/>
                      <a:stretch>
                        <a:fillRect/>
                      </a:stretch>
                    </p:blipFill>
                    <p:spPr>
                      <a:xfrm>
                        <a:off x="7763702" y="31342"/>
                        <a:ext cx="2705245" cy="1142773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7" name="Footer Placeholder 3">
            <a:extLst>
              <a:ext uri="{FF2B5EF4-FFF2-40B4-BE49-F238E27FC236}">
                <a16:creationId xmlns:a16="http://schemas.microsoft.com/office/drawing/2014/main" id="{FD379B0E-F034-D94F-DABA-7FF5D832E7D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1418727" y="6356350"/>
            <a:ext cx="4114800" cy="365125"/>
          </a:xfrm>
        </p:spPr>
        <p:txBody>
          <a:bodyPr/>
          <a:lstStyle/>
          <a:p>
            <a:r>
              <a:rPr lang="en-CA">
                <a:latin typeface="Arial" panose="020B0604020202020204" pitchFamily="34" charset="0"/>
                <a:cs typeface="Arial" panose="020B0604020202020204" pitchFamily="34" charset="0"/>
              </a:rPr>
              <a:t>CONFIDENTIAL</a:t>
            </a:r>
          </a:p>
        </p:txBody>
      </p:sp>
      <p:sp>
        <p:nvSpPr>
          <p:cNvPr id="8" name="Slide Number Placeholder 4">
            <a:extLst>
              <a:ext uri="{FF2B5EF4-FFF2-40B4-BE49-F238E27FC236}">
                <a16:creationId xmlns:a16="http://schemas.microsoft.com/office/drawing/2014/main" id="{D8C60CF2-3CE4-5190-E045-6FFF7DBC3C6A}"/>
              </a:ext>
            </a:extLst>
          </p:cNvPr>
          <p:cNvSpPr>
            <a:spLocks noGrp="1"/>
          </p:cNvSpPr>
          <p:nvPr/>
        </p:nvSpPr>
        <p:spPr>
          <a:xfrm>
            <a:off x="8899849" y="6492875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8483A229-2BE2-4044-957D-22ED1E4A33A3}" type="slidenum">
              <a:rPr lang="en-US" smtClean="0">
                <a:latin typeface="Arial" panose="020B0604020202020204" pitchFamily="34" charset="0"/>
                <a:cs typeface="Arial" panose="020B0604020202020204" pitchFamily="34" charset="0"/>
              </a:rPr>
              <a:pPr/>
              <a:t>11</a:t>
            </a:fld>
            <a:endParaRPr lang="en-US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67198613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12F183F-E624-8F37-3F4E-1B3624ADAA7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>
            <a:extLst>
              <a:ext uri="{FF2B5EF4-FFF2-40B4-BE49-F238E27FC236}">
                <a16:creationId xmlns:a16="http://schemas.microsoft.com/office/drawing/2014/main" id="{467BC343-46B2-5CBD-7A2E-26560B42CC2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0769" y="-373031"/>
            <a:ext cx="10515600" cy="1325563"/>
          </a:xfrm>
        </p:spPr>
        <p:txBody>
          <a:bodyPr>
            <a:normAutofit/>
          </a:bodyPr>
          <a:lstStyle/>
          <a:p>
            <a:pPr algn="ctr"/>
            <a:r>
              <a:rPr lang="en-CA" sz="2800" b="1">
                <a:latin typeface="+mn-lt"/>
                <a:cs typeface="Arial" panose="020B0604020202020204" pitchFamily="34" charset="0"/>
              </a:rPr>
              <a:t>GLCRCI-11062025R1</a:t>
            </a:r>
          </a:p>
        </p:txBody>
      </p:sp>
      <p:sp>
        <p:nvSpPr>
          <p:cNvPr id="5" name="Footer Placeholder 3">
            <a:extLst>
              <a:ext uri="{FF2B5EF4-FFF2-40B4-BE49-F238E27FC236}">
                <a16:creationId xmlns:a16="http://schemas.microsoft.com/office/drawing/2014/main" id="{034375F5-33D2-DFAA-22D2-86FE6E1B5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538912"/>
            <a:ext cx="4114800" cy="365125"/>
          </a:xfrm>
        </p:spPr>
        <p:txBody>
          <a:bodyPr/>
          <a:lstStyle/>
          <a:p>
            <a:r>
              <a:rPr lang="en-CA">
                <a:latin typeface="Arial" panose="020B0604020202020204" pitchFamily="34" charset="0"/>
                <a:cs typeface="Arial" panose="020B0604020202020204" pitchFamily="34" charset="0"/>
              </a:rPr>
              <a:t>CONFIDENTIAL</a:t>
            </a:r>
          </a:p>
        </p:txBody>
      </p:sp>
      <p:sp>
        <p:nvSpPr>
          <p:cNvPr id="6" name="Slide Number Placeholder 4">
            <a:extLst>
              <a:ext uri="{FF2B5EF4-FFF2-40B4-BE49-F238E27FC236}">
                <a16:creationId xmlns:a16="http://schemas.microsoft.com/office/drawing/2014/main" id="{92CE7909-53DE-E0B7-35D7-E9F701696BA2}"/>
              </a:ext>
            </a:extLst>
          </p:cNvPr>
          <p:cNvSpPr>
            <a:spLocks noGrp="1"/>
          </p:cNvSpPr>
          <p:nvPr/>
        </p:nvSpPr>
        <p:spPr>
          <a:xfrm>
            <a:off x="8899849" y="6492875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8483A229-2BE2-4044-957D-22ED1E4A33A3}" type="slidenum">
              <a:rPr lang="en-US" smtClean="0">
                <a:latin typeface="Arial" panose="020B0604020202020204" pitchFamily="34" charset="0"/>
                <a:cs typeface="Arial" panose="020B0604020202020204" pitchFamily="34" charset="0"/>
              </a:rPr>
              <a:pPr/>
              <a:t>12</a:t>
            </a:fld>
            <a:endParaRPr lang="en-US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7" name="Title 1">
            <a:extLst>
              <a:ext uri="{FF2B5EF4-FFF2-40B4-BE49-F238E27FC236}">
                <a16:creationId xmlns:a16="http://schemas.microsoft.com/office/drawing/2014/main" id="{9FE1A5B2-98AB-5F17-ED5E-01B62A4025A8}"/>
              </a:ext>
            </a:extLst>
          </p:cNvPr>
          <p:cNvSpPr txBox="1">
            <a:spLocks/>
          </p:cNvSpPr>
          <p:nvPr/>
        </p:nvSpPr>
        <p:spPr>
          <a:xfrm>
            <a:off x="670769" y="-128041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endParaRPr lang="en-US" sz="1800" b="1" i="0" u="none" strike="noStrike" baseline="0">
              <a:solidFill>
                <a:srgbClr val="000000"/>
              </a:solidFill>
              <a:latin typeface="+mn-lt"/>
            </a:endParaRPr>
          </a:p>
          <a:p>
            <a:r>
              <a:rPr lang="en-US" sz="2000" b="1">
                <a:latin typeface="+mn-lt"/>
              </a:rPr>
              <a:t>Step-2: HPLC of intermediate-5 IPC, 6 h (58.13%) &amp; 72 H (99.82%) </a:t>
            </a:r>
          </a:p>
        </p:txBody>
      </p:sp>
      <p:graphicFrame>
        <p:nvGraphicFramePr>
          <p:cNvPr id="22" name="Object 21">
            <a:extLst>
              <a:ext uri="{FF2B5EF4-FFF2-40B4-BE49-F238E27FC236}">
                <a16:creationId xmlns:a16="http://schemas.microsoft.com/office/drawing/2014/main" id="{62CD780D-485B-7A9A-4BCD-63A071D319C6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098274101"/>
              </p:ext>
            </p:extLst>
          </p:nvPr>
        </p:nvGraphicFramePr>
        <p:xfrm>
          <a:off x="10409262" y="1898562"/>
          <a:ext cx="1719489" cy="1052196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CS ChemDraw Drawing" r:id="rId2" imgW="1411525" imgH="864315" progId="ChemDraw.Document.6.0">
                  <p:embed/>
                </p:oleObj>
              </mc:Choice>
              <mc:Fallback>
                <p:oleObj name="CS ChemDraw Drawing" r:id="rId2" imgW="1411525" imgH="864315" progId="ChemDraw.Document.6.0">
                  <p:embed/>
                  <p:pic>
                    <p:nvPicPr>
                      <p:cNvPr id="22" name="Object 21">
                        <a:extLst>
                          <a:ext uri="{FF2B5EF4-FFF2-40B4-BE49-F238E27FC236}">
                            <a16:creationId xmlns:a16="http://schemas.microsoft.com/office/drawing/2014/main" id="{62CD780D-485B-7A9A-4BCD-63A071D319C6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3"/>
                      <a:stretch>
                        <a:fillRect/>
                      </a:stretch>
                    </p:blipFill>
                    <p:spPr>
                      <a:xfrm>
                        <a:off x="10409262" y="1898562"/>
                        <a:ext cx="1719489" cy="1052196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8" name="Picture 7">
            <a:extLst>
              <a:ext uri="{FF2B5EF4-FFF2-40B4-BE49-F238E27FC236}">
                <a16:creationId xmlns:a16="http://schemas.microsoft.com/office/drawing/2014/main" id="{AF513CE5-A013-0BDC-E36C-2C5AAAF09E2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406080" y="1130538"/>
            <a:ext cx="4673422" cy="5110081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8E9CC5F7-A3DF-4F5F-44E2-7F289E5A41CB}"/>
              </a:ext>
            </a:extLst>
          </p:cNvPr>
          <p:cNvSpPr txBox="1"/>
          <p:nvPr/>
        </p:nvSpPr>
        <p:spPr>
          <a:xfrm>
            <a:off x="6691604" y="2604462"/>
            <a:ext cx="1183433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800" b="1">
                <a:latin typeface="+mn-lt"/>
              </a:rPr>
              <a:t>IPC – 72 h</a:t>
            </a:r>
            <a:endParaRPr lang="en-CA"/>
          </a:p>
        </p:txBody>
      </p:sp>
      <p:cxnSp>
        <p:nvCxnSpPr>
          <p:cNvPr id="12" name="Straight Arrow Connector 11">
            <a:extLst>
              <a:ext uri="{FF2B5EF4-FFF2-40B4-BE49-F238E27FC236}">
                <a16:creationId xmlns:a16="http://schemas.microsoft.com/office/drawing/2014/main" id="{2F941BB3-2032-1EF5-37D5-263205EAD200}"/>
              </a:ext>
            </a:extLst>
          </p:cNvPr>
          <p:cNvCxnSpPr>
            <a:cxnSpLocks/>
          </p:cNvCxnSpPr>
          <p:nvPr/>
        </p:nvCxnSpPr>
        <p:spPr>
          <a:xfrm>
            <a:off x="8899849" y="2501826"/>
            <a:ext cx="1830355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Straight Arrow Connector 13">
            <a:extLst>
              <a:ext uri="{FF2B5EF4-FFF2-40B4-BE49-F238E27FC236}">
                <a16:creationId xmlns:a16="http://schemas.microsoft.com/office/drawing/2014/main" id="{86D71F19-CCB6-89C4-9C49-609996AEF520}"/>
              </a:ext>
            </a:extLst>
          </p:cNvPr>
          <p:cNvCxnSpPr>
            <a:cxnSpLocks/>
          </p:cNvCxnSpPr>
          <p:nvPr/>
        </p:nvCxnSpPr>
        <p:spPr>
          <a:xfrm>
            <a:off x="8153400" y="3786341"/>
            <a:ext cx="2750492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16" name="Object 15">
            <a:extLst>
              <a:ext uri="{FF2B5EF4-FFF2-40B4-BE49-F238E27FC236}">
                <a16:creationId xmlns:a16="http://schemas.microsoft.com/office/drawing/2014/main" id="{1B112A23-A8AF-83E9-F466-1B0D8B069222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577454632"/>
              </p:ext>
            </p:extLst>
          </p:nvPr>
        </p:nvGraphicFramePr>
        <p:xfrm>
          <a:off x="10903892" y="3077778"/>
          <a:ext cx="1054536" cy="1052196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CS ChemDraw Drawing" r:id="rId5" imgW="1430894" imgH="1426740" progId="ChemDraw.Document.6.0">
                  <p:embed/>
                </p:oleObj>
              </mc:Choice>
              <mc:Fallback>
                <p:oleObj name="CS ChemDraw Drawing" r:id="rId5" imgW="1430894" imgH="1426740" progId="ChemDraw.Document.6.0">
                  <p:embed/>
                  <p:pic>
                    <p:nvPicPr>
                      <p:cNvPr id="16" name="Object 15">
                        <a:extLst>
                          <a:ext uri="{FF2B5EF4-FFF2-40B4-BE49-F238E27FC236}">
                            <a16:creationId xmlns:a16="http://schemas.microsoft.com/office/drawing/2014/main" id="{1B112A23-A8AF-83E9-F466-1B0D8B069222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10903892" y="3077778"/>
                        <a:ext cx="1054536" cy="1052196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18" name="Picture 17">
            <a:extLst>
              <a:ext uri="{FF2B5EF4-FFF2-40B4-BE49-F238E27FC236}">
                <a16:creationId xmlns:a16="http://schemas.microsoft.com/office/drawing/2014/main" id="{76570B73-950B-7A0E-C44A-55EE77A9C3AE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22993" y="1082327"/>
            <a:ext cx="4770719" cy="5206505"/>
          </a:xfrm>
          <a:prstGeom prst="rect">
            <a:avLst/>
          </a:prstGeom>
        </p:spPr>
      </p:pic>
      <p:sp>
        <p:nvSpPr>
          <p:cNvPr id="20" name="TextBox 19">
            <a:extLst>
              <a:ext uri="{FF2B5EF4-FFF2-40B4-BE49-F238E27FC236}">
                <a16:creationId xmlns:a16="http://schemas.microsoft.com/office/drawing/2014/main" id="{CE28DE6C-3433-488F-1973-6BF9EB7EBB43}"/>
              </a:ext>
            </a:extLst>
          </p:cNvPr>
          <p:cNvSpPr txBox="1"/>
          <p:nvPr/>
        </p:nvSpPr>
        <p:spPr>
          <a:xfrm>
            <a:off x="1824182" y="2789128"/>
            <a:ext cx="98982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800" b="1">
                <a:latin typeface="+mn-lt"/>
              </a:rPr>
              <a:t>IPC - 6 h</a:t>
            </a:r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394268736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AB7D1B1-3709-3211-B12A-E16B5DE328D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>
            <a:extLst>
              <a:ext uri="{FF2B5EF4-FFF2-40B4-BE49-F238E27FC236}">
                <a16:creationId xmlns:a16="http://schemas.microsoft.com/office/drawing/2014/main" id="{701720B3-B89C-5FB9-5A3A-B042D8F0D85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35563" y="-359111"/>
            <a:ext cx="10515600" cy="1325563"/>
          </a:xfrm>
        </p:spPr>
        <p:txBody>
          <a:bodyPr>
            <a:normAutofit/>
          </a:bodyPr>
          <a:lstStyle/>
          <a:p>
            <a:pPr algn="ctr"/>
            <a:r>
              <a:rPr lang="en-CA" sz="2800" b="1">
                <a:latin typeface="+mn-lt"/>
                <a:cs typeface="Arial" panose="020B0604020202020204" pitchFamily="34" charset="0"/>
              </a:rPr>
              <a:t>GLCRCI-11062025R1</a:t>
            </a:r>
          </a:p>
        </p:txBody>
      </p:sp>
      <p:sp>
        <p:nvSpPr>
          <p:cNvPr id="7" name="Footer Placeholder 3">
            <a:extLst>
              <a:ext uri="{FF2B5EF4-FFF2-40B4-BE49-F238E27FC236}">
                <a16:creationId xmlns:a16="http://schemas.microsoft.com/office/drawing/2014/main" id="{01429DDA-A51E-CA7D-903C-EF442190C33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</p:spPr>
        <p:txBody>
          <a:bodyPr/>
          <a:lstStyle/>
          <a:p>
            <a:r>
              <a:rPr lang="en-CA">
                <a:latin typeface="Arial" panose="020B0604020202020204" pitchFamily="34" charset="0"/>
                <a:cs typeface="Arial" panose="020B0604020202020204" pitchFamily="34" charset="0"/>
              </a:rPr>
              <a:t>CONFIDENTIAL</a:t>
            </a:r>
          </a:p>
        </p:txBody>
      </p:sp>
      <p:sp>
        <p:nvSpPr>
          <p:cNvPr id="8" name="Slide Number Placeholder 4">
            <a:extLst>
              <a:ext uri="{FF2B5EF4-FFF2-40B4-BE49-F238E27FC236}">
                <a16:creationId xmlns:a16="http://schemas.microsoft.com/office/drawing/2014/main" id="{73107EBF-153F-C80A-9EE5-32F45DFCB9DF}"/>
              </a:ext>
            </a:extLst>
          </p:cNvPr>
          <p:cNvSpPr>
            <a:spLocks noGrp="1"/>
          </p:cNvSpPr>
          <p:nvPr/>
        </p:nvSpPr>
        <p:spPr>
          <a:xfrm>
            <a:off x="8899849" y="6492875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8483A229-2BE2-4044-957D-22ED1E4A33A3}" type="slidenum">
              <a:rPr lang="en-US" smtClean="0">
                <a:latin typeface="Arial" panose="020B0604020202020204" pitchFamily="34" charset="0"/>
                <a:cs typeface="Arial" panose="020B0604020202020204" pitchFamily="34" charset="0"/>
              </a:rPr>
              <a:pPr/>
              <a:t>13</a:t>
            </a:fld>
            <a:endParaRPr lang="en-US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0714E1F9-FD3E-F781-CF71-5DD8C73F91FE}"/>
              </a:ext>
            </a:extLst>
          </p:cNvPr>
          <p:cNvSpPr txBox="1">
            <a:spLocks/>
          </p:cNvSpPr>
          <p:nvPr/>
        </p:nvSpPr>
        <p:spPr>
          <a:xfrm>
            <a:off x="838200" y="488337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endParaRPr lang="en-US" sz="1800" b="1" i="0" u="none" strike="noStrike" baseline="0">
              <a:solidFill>
                <a:srgbClr val="000000"/>
              </a:solidFill>
              <a:latin typeface="Arial" panose="020B0604020202020204" pitchFamily="34" charset="0"/>
            </a:endParaRPr>
          </a:p>
          <a:p>
            <a:endParaRPr lang="en-US" sz="1800" b="1" i="0" u="none" strike="noStrike" baseline="0">
              <a:solidFill>
                <a:srgbClr val="000000"/>
              </a:solidFill>
              <a:latin typeface="Arial" panose="020B0604020202020204" pitchFamily="34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82AACF82-4B31-2AB8-C15D-FC33ACAA16BA}"/>
              </a:ext>
            </a:extLst>
          </p:cNvPr>
          <p:cNvSpPr txBox="1"/>
          <p:nvPr/>
        </p:nvSpPr>
        <p:spPr>
          <a:xfrm>
            <a:off x="0" y="606490"/>
            <a:ext cx="6578082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800" b="1"/>
              <a:t>Step 2: </a:t>
            </a:r>
            <a:r>
              <a:rPr lang="en-US" b="1"/>
              <a:t>Suzuki</a:t>
            </a:r>
            <a:r>
              <a:rPr lang="en-US" sz="1800" b="1"/>
              <a:t> coupling with </a:t>
            </a:r>
            <a:r>
              <a:rPr lang="en-US" sz="1800" b="1">
                <a:solidFill>
                  <a:srgbClr val="3333FF"/>
                </a:solidFill>
              </a:rPr>
              <a:t>1.30 eq</a:t>
            </a:r>
            <a:r>
              <a:rPr lang="en-US" sz="1800" b="1"/>
              <a:t>. compound 4,  </a:t>
            </a:r>
            <a:r>
              <a:rPr lang="en-US" sz="1800" b="1" err="1"/>
              <a:t>Xphos</a:t>
            </a:r>
            <a:r>
              <a:rPr lang="en-US" sz="1800" b="1"/>
              <a:t> Pd G3 cat. </a:t>
            </a:r>
            <a:r>
              <a:rPr lang="en-US" b="1"/>
              <a:t>a</a:t>
            </a:r>
            <a:r>
              <a:rPr lang="en-US" sz="1800" b="1"/>
              <a:t>nd Cs</a:t>
            </a:r>
            <a:r>
              <a:rPr lang="en-US" sz="1800" b="1" baseline="-25000"/>
              <a:t>2</a:t>
            </a:r>
            <a:r>
              <a:rPr lang="en-US" sz="1800" b="1"/>
              <a:t>CO</a:t>
            </a:r>
            <a:r>
              <a:rPr lang="en-US" sz="1800" b="1" baseline="-25000"/>
              <a:t>3</a:t>
            </a:r>
            <a:r>
              <a:rPr lang="en-US" sz="1800" b="1"/>
              <a:t>), </a:t>
            </a:r>
            <a:r>
              <a:rPr lang="en-US" b="1">
                <a:solidFill>
                  <a:srgbClr val="3333FF"/>
                </a:solidFill>
              </a:rPr>
              <a:t>Scale-up Batch</a:t>
            </a:r>
            <a:endParaRPr lang="en-US" sz="1800" b="1"/>
          </a:p>
        </p:txBody>
      </p:sp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F6C3037E-9094-9934-9986-A4362C88404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394783028"/>
              </p:ext>
            </p:extLst>
          </p:nvPr>
        </p:nvGraphicFramePr>
        <p:xfrm>
          <a:off x="261731" y="2110159"/>
          <a:ext cx="11817827" cy="445008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626575">
                  <a:extLst>
                    <a:ext uri="{9D8B030D-6E8A-4147-A177-3AD203B41FA5}">
                      <a16:colId xmlns:a16="http://schemas.microsoft.com/office/drawing/2014/main" val="2967325160"/>
                    </a:ext>
                  </a:extLst>
                </a:gridCol>
                <a:gridCol w="1048877">
                  <a:extLst>
                    <a:ext uri="{9D8B030D-6E8A-4147-A177-3AD203B41FA5}">
                      <a16:colId xmlns:a16="http://schemas.microsoft.com/office/drawing/2014/main" val="1058054721"/>
                    </a:ext>
                  </a:extLst>
                </a:gridCol>
                <a:gridCol w="4236097">
                  <a:extLst>
                    <a:ext uri="{9D8B030D-6E8A-4147-A177-3AD203B41FA5}">
                      <a16:colId xmlns:a16="http://schemas.microsoft.com/office/drawing/2014/main" val="2257075883"/>
                    </a:ext>
                  </a:extLst>
                </a:gridCol>
                <a:gridCol w="5906278">
                  <a:extLst>
                    <a:ext uri="{9D8B030D-6E8A-4147-A177-3AD203B41FA5}">
                      <a16:colId xmlns:a16="http://schemas.microsoft.com/office/drawing/2014/main" val="1958950006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en-CA" sz="1600" b="1" dirty="0"/>
                        <a:t>No.</a:t>
                      </a:r>
                    </a:p>
                  </a:txBody>
                  <a:tcPr>
                    <a:solidFill>
                      <a:srgbClr val="AACDC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CA" sz="1600" b="1" dirty="0"/>
                        <a:t>Scale</a:t>
                      </a:r>
                    </a:p>
                  </a:txBody>
                  <a:tcPr>
                    <a:solidFill>
                      <a:srgbClr val="AACDC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CA" sz="1600" b="1" dirty="0"/>
                        <a:t>Description (in order of addition)</a:t>
                      </a:r>
                    </a:p>
                  </a:txBody>
                  <a:tcPr>
                    <a:solidFill>
                      <a:srgbClr val="AACDC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CA" sz="1600" b="1" dirty="0"/>
                        <a:t>Comments</a:t>
                      </a:r>
                    </a:p>
                  </a:txBody>
                  <a:tcPr>
                    <a:solidFill>
                      <a:srgbClr val="AACDC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4076925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3</a:t>
                      </a:r>
                      <a:endParaRPr lang="en-CA" sz="1600" dirty="0"/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CA" sz="1400" dirty="0">
                          <a:solidFill>
                            <a:srgbClr val="3333FF"/>
                          </a:solidFill>
                        </a:rPr>
                        <a:t>5.0 g</a:t>
                      </a: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CA" sz="1400" dirty="0"/>
                        <a:t>Intermediate-</a:t>
                      </a:r>
                      <a:r>
                        <a:rPr lang="en-CA" sz="1400" b="1" dirty="0"/>
                        <a:t>3</a:t>
                      </a:r>
                      <a:r>
                        <a:rPr lang="en-CA" sz="1400" dirty="0"/>
                        <a:t> (5.0 g, 1.0 eq), 4-(4-Boc-piperazino)phenylboronic acid (</a:t>
                      </a:r>
                      <a:r>
                        <a:rPr lang="en-CA" sz="1400" b="1" dirty="0"/>
                        <a:t>4</a:t>
                      </a:r>
                      <a:r>
                        <a:rPr lang="en-CA" sz="1400" dirty="0"/>
                        <a:t>) (</a:t>
                      </a:r>
                      <a:r>
                        <a:rPr lang="en-CA" sz="1400" b="1" dirty="0">
                          <a:solidFill>
                            <a:srgbClr val="3333FF"/>
                          </a:solidFill>
                        </a:rPr>
                        <a:t>1.30 eq</a:t>
                      </a:r>
                      <a:r>
                        <a:rPr lang="en-CA" sz="1400" dirty="0"/>
                        <a:t>), </a:t>
                      </a:r>
                      <a:r>
                        <a:rPr lang="en-CA" sz="1400" dirty="0" err="1"/>
                        <a:t>Xphos</a:t>
                      </a:r>
                      <a:r>
                        <a:rPr lang="en-CA" sz="1400" dirty="0"/>
                        <a:t> Pd G3 (0.20 eq), Cs</a:t>
                      </a:r>
                      <a:r>
                        <a:rPr lang="en-CA" sz="1400" baseline="-25000" dirty="0"/>
                        <a:t>2</a:t>
                      </a:r>
                      <a:r>
                        <a:rPr lang="en-CA" sz="1400" dirty="0"/>
                        <a:t>CO</a:t>
                      </a:r>
                      <a:r>
                        <a:rPr lang="en-CA" sz="1400" baseline="-25000" dirty="0"/>
                        <a:t>3</a:t>
                      </a:r>
                      <a:r>
                        <a:rPr lang="en-CA" sz="1400" dirty="0"/>
                        <a:t> (3.0 eq), Toluene (8 V), water (2 V), 110 °C, 18 h.</a:t>
                      </a: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285750" indent="-285750" algn="l">
                        <a:buFont typeface="Arial" panose="020B0604020202020204" pitchFamily="34" charset="0"/>
                        <a:buChar char="•"/>
                      </a:pPr>
                      <a:r>
                        <a:rPr lang="en-CA" sz="1200" i="0" dirty="0"/>
                        <a:t>Charged Intermediate-1 (Compound-</a:t>
                      </a:r>
                      <a:r>
                        <a:rPr lang="en-CA" sz="1200" b="1" i="0" dirty="0"/>
                        <a:t>3, </a:t>
                      </a:r>
                      <a:r>
                        <a:rPr lang="en-CA" sz="1200" b="0" i="0" dirty="0"/>
                        <a:t>5.0 g, 1.0 eq.)</a:t>
                      </a:r>
                      <a:r>
                        <a:rPr lang="en-CA" sz="1200" b="0" dirty="0"/>
                        <a:t> </a:t>
                      </a:r>
                      <a:r>
                        <a:rPr lang="en-CA" sz="1200" dirty="0"/>
                        <a:t>&amp; 4-(4-Boc-piperazino)phenylboronic acid (</a:t>
                      </a:r>
                      <a:r>
                        <a:rPr lang="en-CA" sz="1200" b="1" dirty="0"/>
                        <a:t>4, </a:t>
                      </a:r>
                      <a:r>
                        <a:rPr lang="en-CA" sz="1200" b="0" dirty="0"/>
                        <a:t>5.73 g, </a:t>
                      </a:r>
                      <a:r>
                        <a:rPr lang="en-CA" sz="1200" b="0" dirty="0">
                          <a:solidFill>
                            <a:srgbClr val="3333FF"/>
                          </a:solidFill>
                        </a:rPr>
                        <a:t>1.30 eq</a:t>
                      </a:r>
                      <a:r>
                        <a:rPr lang="en-CA" sz="1200" b="0" dirty="0"/>
                        <a:t>.</a:t>
                      </a:r>
                      <a:r>
                        <a:rPr lang="en-CA" sz="1200" b="0" i="0" baseline="0" dirty="0"/>
                        <a:t>)</a:t>
                      </a:r>
                      <a:r>
                        <a:rPr lang="en-CA" sz="1200" b="1" dirty="0"/>
                        <a:t> </a:t>
                      </a:r>
                      <a:r>
                        <a:rPr lang="en-CA" sz="1200" i="0" dirty="0"/>
                        <a:t>in a sealed tube vessel under N</a:t>
                      </a:r>
                      <a:r>
                        <a:rPr lang="en-CA" sz="1200" i="0" baseline="-25000" dirty="0"/>
                        <a:t>2</a:t>
                      </a:r>
                    </a:p>
                    <a:p>
                      <a:pPr marL="285750" indent="-285750" algn="l">
                        <a:buFont typeface="Arial" panose="020B0604020202020204" pitchFamily="34" charset="0"/>
                        <a:buChar char="•"/>
                      </a:pPr>
                      <a:r>
                        <a:rPr lang="en-CA" sz="1200" i="0" dirty="0"/>
                        <a:t>Added toluene (40 mL, 8 V), water (10 mL, 2 V) and </a:t>
                      </a:r>
                      <a:r>
                        <a:rPr lang="en-CA" sz="1200" dirty="0"/>
                        <a:t>Cs</a:t>
                      </a:r>
                      <a:r>
                        <a:rPr lang="en-CA" sz="1200" baseline="-25000" dirty="0"/>
                        <a:t>2</a:t>
                      </a:r>
                      <a:r>
                        <a:rPr lang="en-CA" sz="1200" dirty="0"/>
                        <a:t>CO</a:t>
                      </a:r>
                      <a:r>
                        <a:rPr lang="en-CA" sz="1200" baseline="-25000" dirty="0"/>
                        <a:t>3  </a:t>
                      </a:r>
                      <a:r>
                        <a:rPr lang="en-CA" sz="1200" i="0" dirty="0"/>
                        <a:t> (17.4 g, 3.0 eq)</a:t>
                      </a:r>
                    </a:p>
                    <a:p>
                      <a:pPr marL="285750" indent="-285750" algn="l">
                        <a:buFont typeface="Arial" panose="020B0604020202020204" pitchFamily="34" charset="0"/>
                        <a:buChar char="•"/>
                      </a:pPr>
                      <a:r>
                        <a:rPr lang="en-CA" sz="1200" i="0" dirty="0"/>
                        <a:t>Degassed with nitrogen for 5 min</a:t>
                      </a:r>
                    </a:p>
                    <a:p>
                      <a:pPr marL="285750" indent="-285750" algn="l">
                        <a:buFont typeface="Arial" panose="020B0604020202020204" pitchFamily="34" charset="0"/>
                        <a:buChar char="•"/>
                      </a:pPr>
                      <a:r>
                        <a:rPr lang="en-CA" sz="1200" i="0" dirty="0"/>
                        <a:t>Added </a:t>
                      </a:r>
                      <a:r>
                        <a:rPr lang="en-CA" sz="1200" i="0" dirty="0" err="1"/>
                        <a:t>Xphos</a:t>
                      </a:r>
                      <a:r>
                        <a:rPr lang="en-CA" sz="1200" i="0" dirty="0"/>
                        <a:t> Pd G3 (2.88 g, 0.20 eq.)</a:t>
                      </a:r>
                      <a:endParaRPr lang="en-CA" sz="1200" dirty="0"/>
                    </a:p>
                    <a:p>
                      <a:pPr marL="285750" marR="0" lvl="0" indent="-28575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en-CA" sz="1200" i="0" dirty="0"/>
                        <a:t>Degassed with nitrogen for 5 min </a:t>
                      </a:r>
                    </a:p>
                    <a:p>
                      <a:pPr marL="285750" indent="-285750" algn="l">
                        <a:buFont typeface="Arial" panose="020B0604020202020204" pitchFamily="34" charset="0"/>
                        <a:buChar char="•"/>
                      </a:pPr>
                      <a:r>
                        <a:rPr lang="en-CA" sz="1200" i="0" dirty="0"/>
                        <a:t>Heated to 110 °C and stirred for 16 h</a:t>
                      </a:r>
                    </a:p>
                    <a:p>
                      <a:pPr marL="285750" indent="-285750" algn="l">
                        <a:buFont typeface="Arial" panose="020B0604020202020204" pitchFamily="34" charset="0"/>
                        <a:buChar char="•"/>
                      </a:pPr>
                      <a:r>
                        <a:rPr lang="en-CA" sz="1200" i="0" dirty="0"/>
                        <a:t>Checked HPLC after 16h (</a:t>
                      </a:r>
                      <a:r>
                        <a:rPr lang="en-CA" sz="1200" b="1" i="0" dirty="0"/>
                        <a:t>~0.05% SM residual</a:t>
                      </a:r>
                      <a:r>
                        <a:rPr lang="en-CA" sz="1200" i="0" dirty="0"/>
                        <a:t>)</a:t>
                      </a:r>
                    </a:p>
                    <a:p>
                      <a:pPr marL="285750" indent="-285750" algn="l">
                        <a:buFont typeface="Arial" panose="020B0604020202020204" pitchFamily="34" charset="0"/>
                        <a:buChar char="•"/>
                      </a:pPr>
                      <a:r>
                        <a:rPr lang="en-CA" sz="1200" i="0" dirty="0"/>
                        <a:t>Cooled to RT, filtered through Celite, washed with toluene (25 mL, 5 V)</a:t>
                      </a:r>
                    </a:p>
                    <a:p>
                      <a:pPr marL="285750" indent="-285750" algn="l">
                        <a:buFont typeface="Arial" panose="020B0604020202020204" pitchFamily="34" charset="0"/>
                        <a:buChar char="•"/>
                      </a:pPr>
                      <a:r>
                        <a:rPr lang="en-CA" sz="1200" i="0" dirty="0"/>
                        <a:t>Charged water (25 mL, 5 V)</a:t>
                      </a:r>
                    </a:p>
                    <a:p>
                      <a:pPr marL="285750" indent="-285750" algn="l">
                        <a:buFont typeface="Arial" panose="020B0604020202020204" pitchFamily="34" charset="0"/>
                        <a:buChar char="•"/>
                      </a:pPr>
                      <a:r>
                        <a:rPr lang="en-CA" sz="1200" i="0" dirty="0"/>
                        <a:t>Layers were separated and aq. layer back extracted with toluene (25 mL, 5 V)</a:t>
                      </a:r>
                    </a:p>
                    <a:p>
                      <a:pPr marL="285750" indent="-285750" algn="l">
                        <a:buFont typeface="Arial" panose="020B0604020202020204" pitchFamily="34" charset="0"/>
                        <a:buChar char="•"/>
                      </a:pPr>
                      <a:r>
                        <a:rPr lang="en-CA" sz="1200" i="0" dirty="0"/>
                        <a:t>Combined the both layers and washed with brine solution (25 mL, 5 V)</a:t>
                      </a:r>
                    </a:p>
                    <a:p>
                      <a:pPr marL="285750" indent="-285750" algn="l">
                        <a:buFont typeface="Arial" panose="020B0604020202020204" pitchFamily="34" charset="0"/>
                        <a:buChar char="•"/>
                      </a:pPr>
                      <a:r>
                        <a:rPr lang="en-CA" sz="1200" i="0" dirty="0"/>
                        <a:t>Evaporated under vacuum at 40-45 °C</a:t>
                      </a:r>
                      <a:r>
                        <a:rPr lang="en-CA" sz="1200" b="0" i="0" dirty="0">
                          <a:solidFill>
                            <a:schemeClr val="tx1"/>
                          </a:solidFill>
                        </a:rPr>
                        <a:t>, obtained a thick black syrup</a:t>
                      </a:r>
                    </a:p>
                    <a:p>
                      <a:pPr marL="285750" marR="0" lvl="0" indent="-28575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en-CA" sz="1200" b="0" i="0" dirty="0">
                          <a:solidFill>
                            <a:schemeClr val="tx1"/>
                          </a:solidFill>
                        </a:rPr>
                        <a:t>Dissolved in DCM (25 mL, 5V) and filtered through Celite, washed with DCM (10 mL, 2 V), evaporated under vacuum </a:t>
                      </a:r>
                      <a:r>
                        <a:rPr lang="en-CA" sz="1200" i="0" dirty="0"/>
                        <a:t>at 40-45 °C</a:t>
                      </a:r>
                      <a:r>
                        <a:rPr lang="en-CA" sz="1200" b="0" i="0" dirty="0">
                          <a:solidFill>
                            <a:schemeClr val="tx1"/>
                          </a:solidFill>
                        </a:rPr>
                        <a:t>, obtained a thick brown syrup</a:t>
                      </a:r>
                    </a:p>
                    <a:p>
                      <a:pPr marL="285750" indent="-285750" algn="l">
                        <a:buFont typeface="Arial" panose="020B0604020202020204" pitchFamily="34" charset="0"/>
                        <a:buChar char="•"/>
                      </a:pPr>
                      <a:r>
                        <a:rPr lang="en-CA" sz="1200" b="0" i="0" dirty="0">
                          <a:solidFill>
                            <a:schemeClr val="tx1"/>
                          </a:solidFill>
                        </a:rPr>
                        <a:t>Slowly added MTBE (10 V) at RT, solid crystallized</a:t>
                      </a:r>
                    </a:p>
                    <a:p>
                      <a:pPr marL="285750" indent="-285750" algn="l">
                        <a:buFont typeface="Arial" panose="020B0604020202020204" pitchFamily="34" charset="0"/>
                        <a:buChar char="•"/>
                      </a:pPr>
                      <a:r>
                        <a:rPr lang="en-CA" sz="1200" b="0" i="0" dirty="0">
                          <a:solidFill>
                            <a:schemeClr val="tx1"/>
                          </a:solidFill>
                        </a:rPr>
                        <a:t>Stirred at RT for 1 h</a:t>
                      </a:r>
                    </a:p>
                    <a:p>
                      <a:pPr marL="285750" indent="-285750" algn="l">
                        <a:buFont typeface="Arial" panose="020B0604020202020204" pitchFamily="34" charset="0"/>
                        <a:buChar char="•"/>
                      </a:pPr>
                      <a:r>
                        <a:rPr lang="en-CA" sz="1200" i="0" dirty="0"/>
                        <a:t>Filtered and washed with MTBE (10 mL, 2 V)</a:t>
                      </a:r>
                    </a:p>
                    <a:p>
                      <a:pPr marL="285750" indent="-285750" algn="l">
                        <a:buFont typeface="Arial" panose="020B0604020202020204" pitchFamily="34" charset="0"/>
                        <a:buChar char="•"/>
                      </a:pPr>
                      <a:r>
                        <a:rPr lang="en-CA" sz="1200" i="0" dirty="0"/>
                        <a:t>Dried under vacuum at 45-50 °C</a:t>
                      </a:r>
                    </a:p>
                    <a:p>
                      <a:pPr marL="285750" indent="-285750" algn="l">
                        <a:buFont typeface="Arial" panose="020B0604020202020204" pitchFamily="34" charset="0"/>
                        <a:buChar char="•"/>
                      </a:pPr>
                      <a:r>
                        <a:rPr lang="en-CA" sz="1200" b="1" i="0" dirty="0">
                          <a:solidFill>
                            <a:srgbClr val="0000FF"/>
                          </a:solidFill>
                        </a:rPr>
                        <a:t>Yield: 5.80 g (60%) </a:t>
                      </a:r>
                    </a:p>
                    <a:p>
                      <a:pPr marL="285750" marR="0" lvl="0" indent="-28575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en-CA" sz="1200" b="1" i="0" baseline="30000" dirty="0">
                          <a:solidFill>
                            <a:srgbClr val="0000FF"/>
                          </a:solidFill>
                        </a:rPr>
                        <a:t>1</a:t>
                      </a:r>
                      <a:r>
                        <a:rPr lang="en-CA" sz="1200" b="1" i="0" dirty="0">
                          <a:solidFill>
                            <a:srgbClr val="0000FF"/>
                          </a:solidFill>
                        </a:rPr>
                        <a:t>H-NMR and LCMS confirms with Int-5</a:t>
                      </a:r>
                    </a:p>
                    <a:p>
                      <a:pPr marL="285750" indent="-285750" algn="l">
                        <a:buFont typeface="Arial" panose="020B0604020202020204" pitchFamily="34" charset="0"/>
                        <a:buChar char="•"/>
                      </a:pPr>
                      <a:r>
                        <a:rPr lang="en-CA" sz="1200" b="1" i="0" dirty="0">
                          <a:solidFill>
                            <a:srgbClr val="0000FF"/>
                          </a:solidFill>
                        </a:rPr>
                        <a:t>HPLC Purity: 96.15%</a:t>
                      </a: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10588666"/>
                  </a:ext>
                </a:extLst>
              </a:tr>
            </a:tbl>
          </a:graphicData>
        </a:graphic>
      </p:graphicFrame>
      <p:graphicFrame>
        <p:nvGraphicFramePr>
          <p:cNvPr id="9" name="Object 8">
            <a:extLst>
              <a:ext uri="{FF2B5EF4-FFF2-40B4-BE49-F238E27FC236}">
                <a16:creationId xmlns:a16="http://schemas.microsoft.com/office/drawing/2014/main" id="{8DF66EE0-84A3-C4CE-7026-E226E1E323BF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392634745"/>
              </p:ext>
            </p:extLst>
          </p:nvPr>
        </p:nvGraphicFramePr>
        <p:xfrm>
          <a:off x="6357256" y="192076"/>
          <a:ext cx="4540606" cy="191808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CS ChemDraw Drawing" r:id="rId2" imgW="5463527" imgH="2308837" progId="ChemDraw.Document.6.0">
                  <p:embed/>
                </p:oleObj>
              </mc:Choice>
              <mc:Fallback>
                <p:oleObj name="CS ChemDraw Drawing" r:id="rId2" imgW="5463527" imgH="2308837" progId="ChemDraw.Document.6.0">
                  <p:embed/>
                  <p:pic>
                    <p:nvPicPr>
                      <p:cNvPr id="9" name="Object 8">
                        <a:extLst>
                          <a:ext uri="{FF2B5EF4-FFF2-40B4-BE49-F238E27FC236}">
                            <a16:creationId xmlns:a16="http://schemas.microsoft.com/office/drawing/2014/main" id="{8DF66EE0-84A3-C4CE-7026-E226E1E323BF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3"/>
                      <a:stretch>
                        <a:fillRect/>
                      </a:stretch>
                    </p:blipFill>
                    <p:spPr>
                      <a:xfrm>
                        <a:off x="6357256" y="192076"/>
                        <a:ext cx="4540606" cy="1918083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2972575232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3071730-728B-8303-AA68-60DCE56614B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>
            <a:extLst>
              <a:ext uri="{FF2B5EF4-FFF2-40B4-BE49-F238E27FC236}">
                <a16:creationId xmlns:a16="http://schemas.microsoft.com/office/drawing/2014/main" id="{2B5BD005-8BAA-059A-FED3-9F618D5E52C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51588" y="-243235"/>
            <a:ext cx="10515600" cy="1325563"/>
          </a:xfrm>
        </p:spPr>
        <p:txBody>
          <a:bodyPr>
            <a:normAutofit/>
          </a:bodyPr>
          <a:lstStyle/>
          <a:p>
            <a:pPr algn="ctr"/>
            <a:r>
              <a:rPr lang="en-CA" sz="2800" b="1">
                <a:latin typeface="+mn-lt"/>
                <a:cs typeface="Arial" panose="020B0604020202020204" pitchFamily="34" charset="0"/>
              </a:rPr>
              <a:t>GLCRCI-11062025R1</a:t>
            </a:r>
          </a:p>
        </p:txBody>
      </p:sp>
      <p:sp>
        <p:nvSpPr>
          <p:cNvPr id="5" name="Footer Placeholder 3">
            <a:extLst>
              <a:ext uri="{FF2B5EF4-FFF2-40B4-BE49-F238E27FC236}">
                <a16:creationId xmlns:a16="http://schemas.microsoft.com/office/drawing/2014/main" id="{3AF4A7BD-966B-C3B3-22F3-2A0FF695663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538912"/>
            <a:ext cx="4114800" cy="365125"/>
          </a:xfrm>
        </p:spPr>
        <p:txBody>
          <a:bodyPr/>
          <a:lstStyle/>
          <a:p>
            <a:r>
              <a:rPr lang="en-CA">
                <a:latin typeface="Arial" panose="020B0604020202020204" pitchFamily="34" charset="0"/>
                <a:cs typeface="Arial" panose="020B0604020202020204" pitchFamily="34" charset="0"/>
              </a:rPr>
              <a:t>CONFIDENTIAL</a:t>
            </a:r>
          </a:p>
        </p:txBody>
      </p:sp>
      <p:sp>
        <p:nvSpPr>
          <p:cNvPr id="6" name="Slide Number Placeholder 4">
            <a:extLst>
              <a:ext uri="{FF2B5EF4-FFF2-40B4-BE49-F238E27FC236}">
                <a16:creationId xmlns:a16="http://schemas.microsoft.com/office/drawing/2014/main" id="{753892E6-9C10-A0B2-AD08-256E261C7C90}"/>
              </a:ext>
            </a:extLst>
          </p:cNvPr>
          <p:cNvSpPr>
            <a:spLocks noGrp="1"/>
          </p:cNvSpPr>
          <p:nvPr/>
        </p:nvSpPr>
        <p:spPr>
          <a:xfrm>
            <a:off x="8899849" y="6492875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8483A229-2BE2-4044-957D-22ED1E4A33A3}" type="slidenum">
              <a:rPr lang="en-US" smtClean="0">
                <a:latin typeface="Arial" panose="020B0604020202020204" pitchFamily="34" charset="0"/>
                <a:cs typeface="Arial" panose="020B0604020202020204" pitchFamily="34" charset="0"/>
              </a:rPr>
              <a:pPr/>
              <a:t>14</a:t>
            </a:fld>
            <a:endParaRPr lang="en-US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7" name="Title 1">
            <a:extLst>
              <a:ext uri="{FF2B5EF4-FFF2-40B4-BE49-F238E27FC236}">
                <a16:creationId xmlns:a16="http://schemas.microsoft.com/office/drawing/2014/main" id="{ADC76462-A8C3-EC43-7692-A85E8A4BA750}"/>
              </a:ext>
            </a:extLst>
          </p:cNvPr>
          <p:cNvSpPr txBox="1">
            <a:spLocks/>
          </p:cNvSpPr>
          <p:nvPr/>
        </p:nvSpPr>
        <p:spPr>
          <a:xfrm>
            <a:off x="670769" y="-86186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endParaRPr lang="en-US" sz="1800" b="1" i="0" u="none" strike="noStrike" baseline="0">
              <a:solidFill>
                <a:srgbClr val="000000"/>
              </a:solidFill>
              <a:latin typeface="+mn-lt"/>
            </a:endParaRPr>
          </a:p>
          <a:p>
            <a:r>
              <a:rPr lang="en-US" sz="2000" b="1">
                <a:latin typeface="+mn-lt"/>
              </a:rPr>
              <a:t>Step-2: HPLC of intermediate-5 IPC (~99.81% conversion) </a:t>
            </a:r>
          </a:p>
        </p:txBody>
      </p:sp>
      <p:graphicFrame>
        <p:nvGraphicFramePr>
          <p:cNvPr id="22" name="Object 21">
            <a:extLst>
              <a:ext uri="{FF2B5EF4-FFF2-40B4-BE49-F238E27FC236}">
                <a16:creationId xmlns:a16="http://schemas.microsoft.com/office/drawing/2014/main" id="{91A2864A-F5D5-FF0C-7913-DEBE291D0937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304941424"/>
              </p:ext>
            </p:extLst>
          </p:nvPr>
        </p:nvGraphicFramePr>
        <p:xfrm>
          <a:off x="9411704" y="1765621"/>
          <a:ext cx="1719489" cy="1052196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CS ChemDraw Drawing" r:id="rId2" imgW="1411525" imgH="864315" progId="ChemDraw.Document.6.0">
                  <p:embed/>
                </p:oleObj>
              </mc:Choice>
              <mc:Fallback>
                <p:oleObj name="CS ChemDraw Drawing" r:id="rId2" imgW="1411525" imgH="864315" progId="ChemDraw.Document.6.0">
                  <p:embed/>
                  <p:pic>
                    <p:nvPicPr>
                      <p:cNvPr id="22" name="Object 21">
                        <a:extLst>
                          <a:ext uri="{FF2B5EF4-FFF2-40B4-BE49-F238E27FC236}">
                            <a16:creationId xmlns:a16="http://schemas.microsoft.com/office/drawing/2014/main" id="{91A2864A-F5D5-FF0C-7913-DEBE291D0937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3"/>
                      <a:stretch>
                        <a:fillRect/>
                      </a:stretch>
                    </p:blipFill>
                    <p:spPr>
                      <a:xfrm>
                        <a:off x="9411704" y="1765621"/>
                        <a:ext cx="1719489" cy="1052196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8" name="Picture 7">
            <a:extLst>
              <a:ext uri="{FF2B5EF4-FFF2-40B4-BE49-F238E27FC236}">
                <a16:creationId xmlns:a16="http://schemas.microsoft.com/office/drawing/2014/main" id="{3B6ECBDE-FEA3-C36B-63DF-95106DA4C0E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322527" y="926488"/>
            <a:ext cx="4935742" cy="5396910"/>
          </a:xfrm>
          <a:prstGeom prst="rect">
            <a:avLst/>
          </a:prstGeom>
        </p:spPr>
      </p:pic>
      <p:cxnSp>
        <p:nvCxnSpPr>
          <p:cNvPr id="12" name="Straight Arrow Connector 11">
            <a:extLst>
              <a:ext uri="{FF2B5EF4-FFF2-40B4-BE49-F238E27FC236}">
                <a16:creationId xmlns:a16="http://schemas.microsoft.com/office/drawing/2014/main" id="{FDA3143C-46CF-204D-532A-71E434689589}"/>
              </a:ext>
            </a:extLst>
          </p:cNvPr>
          <p:cNvCxnSpPr>
            <a:cxnSpLocks/>
          </p:cNvCxnSpPr>
          <p:nvPr/>
        </p:nvCxnSpPr>
        <p:spPr>
          <a:xfrm>
            <a:off x="7001832" y="2291719"/>
            <a:ext cx="2710896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Straight Arrow Connector 13">
            <a:extLst>
              <a:ext uri="{FF2B5EF4-FFF2-40B4-BE49-F238E27FC236}">
                <a16:creationId xmlns:a16="http://schemas.microsoft.com/office/drawing/2014/main" id="{3D6B86C3-813E-AC8A-6F8C-358BC12548FE}"/>
              </a:ext>
            </a:extLst>
          </p:cNvPr>
          <p:cNvCxnSpPr>
            <a:cxnSpLocks/>
          </p:cNvCxnSpPr>
          <p:nvPr/>
        </p:nvCxnSpPr>
        <p:spPr>
          <a:xfrm>
            <a:off x="6149357" y="3739687"/>
            <a:ext cx="3153263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16" name="Object 15">
            <a:extLst>
              <a:ext uri="{FF2B5EF4-FFF2-40B4-BE49-F238E27FC236}">
                <a16:creationId xmlns:a16="http://schemas.microsoft.com/office/drawing/2014/main" id="{70300849-5184-FA14-2B96-6F58B1A37D88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882955641"/>
              </p:ext>
            </p:extLst>
          </p:nvPr>
        </p:nvGraphicFramePr>
        <p:xfrm>
          <a:off x="9185460" y="2902902"/>
          <a:ext cx="1054536" cy="1052196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CS ChemDraw Drawing" r:id="rId5" imgW="1430894" imgH="1426740" progId="ChemDraw.Document.6.0">
                  <p:embed/>
                </p:oleObj>
              </mc:Choice>
              <mc:Fallback>
                <p:oleObj name="CS ChemDraw Drawing" r:id="rId5" imgW="1430894" imgH="1426740" progId="ChemDraw.Document.6.0">
                  <p:embed/>
                  <p:pic>
                    <p:nvPicPr>
                      <p:cNvPr id="16" name="Object 15">
                        <a:extLst>
                          <a:ext uri="{FF2B5EF4-FFF2-40B4-BE49-F238E27FC236}">
                            <a16:creationId xmlns:a16="http://schemas.microsoft.com/office/drawing/2014/main" id="{70300849-5184-FA14-2B96-6F58B1A37D88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9185460" y="2902902"/>
                        <a:ext cx="1054536" cy="1052196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3635767055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74C7641-DBF6-864C-4A60-C3370205116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>
            <a:extLst>
              <a:ext uri="{FF2B5EF4-FFF2-40B4-BE49-F238E27FC236}">
                <a16:creationId xmlns:a16="http://schemas.microsoft.com/office/drawing/2014/main" id="{1727D3CF-A9A0-1BF1-8D89-E8251A172AE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51588" y="-243235"/>
            <a:ext cx="10515600" cy="1325563"/>
          </a:xfrm>
        </p:spPr>
        <p:txBody>
          <a:bodyPr>
            <a:normAutofit/>
          </a:bodyPr>
          <a:lstStyle/>
          <a:p>
            <a:pPr algn="ctr"/>
            <a:r>
              <a:rPr lang="en-CA" sz="2800" b="1">
                <a:latin typeface="+mn-lt"/>
                <a:cs typeface="Arial" panose="020B0604020202020204" pitchFamily="34" charset="0"/>
              </a:rPr>
              <a:t>GLCRCI-11062025R1</a:t>
            </a:r>
          </a:p>
        </p:txBody>
      </p:sp>
      <p:sp>
        <p:nvSpPr>
          <p:cNvPr id="5" name="Footer Placeholder 3">
            <a:extLst>
              <a:ext uri="{FF2B5EF4-FFF2-40B4-BE49-F238E27FC236}">
                <a16:creationId xmlns:a16="http://schemas.microsoft.com/office/drawing/2014/main" id="{9A787EA1-65C6-D3FB-1682-A707E693FD8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273103" y="6310312"/>
            <a:ext cx="4114800" cy="365125"/>
          </a:xfrm>
        </p:spPr>
        <p:txBody>
          <a:bodyPr/>
          <a:lstStyle/>
          <a:p>
            <a:r>
              <a:rPr lang="en-CA">
                <a:latin typeface="Arial" panose="020B0604020202020204" pitchFamily="34" charset="0"/>
                <a:cs typeface="Arial" panose="020B0604020202020204" pitchFamily="34" charset="0"/>
              </a:rPr>
              <a:t>CONFIDENTIAL</a:t>
            </a:r>
          </a:p>
        </p:txBody>
      </p:sp>
      <p:sp>
        <p:nvSpPr>
          <p:cNvPr id="6" name="Slide Number Placeholder 4">
            <a:extLst>
              <a:ext uri="{FF2B5EF4-FFF2-40B4-BE49-F238E27FC236}">
                <a16:creationId xmlns:a16="http://schemas.microsoft.com/office/drawing/2014/main" id="{67F3741B-EC76-E152-5606-5CA7E8DF891C}"/>
              </a:ext>
            </a:extLst>
          </p:cNvPr>
          <p:cNvSpPr>
            <a:spLocks noGrp="1"/>
          </p:cNvSpPr>
          <p:nvPr/>
        </p:nvSpPr>
        <p:spPr>
          <a:xfrm>
            <a:off x="8899849" y="6492875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8483A229-2BE2-4044-957D-22ED1E4A33A3}" type="slidenum">
              <a:rPr lang="en-US" smtClean="0">
                <a:latin typeface="Arial" panose="020B0604020202020204" pitchFamily="34" charset="0"/>
                <a:cs typeface="Arial" panose="020B0604020202020204" pitchFamily="34" charset="0"/>
              </a:rPr>
              <a:pPr/>
              <a:t>15</a:t>
            </a:fld>
            <a:endParaRPr lang="en-US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7" name="Title 1">
            <a:extLst>
              <a:ext uri="{FF2B5EF4-FFF2-40B4-BE49-F238E27FC236}">
                <a16:creationId xmlns:a16="http://schemas.microsoft.com/office/drawing/2014/main" id="{24B96C93-50DF-5F91-4F08-CF730E91FB4E}"/>
              </a:ext>
            </a:extLst>
          </p:cNvPr>
          <p:cNvSpPr txBox="1">
            <a:spLocks/>
          </p:cNvSpPr>
          <p:nvPr/>
        </p:nvSpPr>
        <p:spPr>
          <a:xfrm>
            <a:off x="651588" y="0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endParaRPr lang="en-US" sz="1800" b="1" i="0" u="none" strike="noStrike" baseline="0">
              <a:solidFill>
                <a:srgbClr val="000000"/>
              </a:solidFill>
              <a:latin typeface="+mn-lt"/>
            </a:endParaRPr>
          </a:p>
          <a:p>
            <a:r>
              <a:rPr lang="en-US" sz="2000" b="1" dirty="0">
                <a:latin typeface="+mn-lt"/>
              </a:rPr>
              <a:t>Step-2: HPLC of Intermediate-5, 96.15% area</a:t>
            </a:r>
            <a:endParaRPr lang="en-US" sz="2000" b="1" dirty="0">
              <a:latin typeface="+mn-lt"/>
              <a:ea typeface="Calibri"/>
              <a:cs typeface="Calibri"/>
            </a:endParaRPr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54CA319E-79D7-99D5-4163-2AC83DE0D49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39143" y="954652"/>
            <a:ext cx="5812971" cy="5422665"/>
          </a:xfrm>
          <a:prstGeom prst="rect">
            <a:avLst/>
          </a:prstGeom>
        </p:spPr>
      </p:pic>
      <p:graphicFrame>
        <p:nvGraphicFramePr>
          <p:cNvPr id="3" name="Object 2">
            <a:extLst>
              <a:ext uri="{FF2B5EF4-FFF2-40B4-BE49-F238E27FC236}">
                <a16:creationId xmlns:a16="http://schemas.microsoft.com/office/drawing/2014/main" id="{738A3669-A4ED-1408-2ED3-667B97E2B65F}"/>
              </a:ext>
            </a:extLst>
          </p:cNvPr>
          <p:cNvGraphicFramePr>
            <a:graphicFrameLocks noChangeAspect="1"/>
          </p:cNvGraphicFramePr>
          <p:nvPr/>
        </p:nvGraphicFramePr>
        <p:xfrm>
          <a:off x="136430" y="1920876"/>
          <a:ext cx="2166221" cy="13255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CS ChemDraw Drawing" r:id="rId3" imgW="1411525" imgH="864315" progId="ChemDraw.Document.6.0">
                  <p:embed/>
                </p:oleObj>
              </mc:Choice>
              <mc:Fallback>
                <p:oleObj name="CS ChemDraw Drawing" r:id="rId3" imgW="1411525" imgH="864315" progId="ChemDraw.Document.6.0">
                  <p:embed/>
                  <p:pic>
                    <p:nvPicPr>
                      <p:cNvPr id="3" name="Object 2">
                        <a:extLst>
                          <a:ext uri="{FF2B5EF4-FFF2-40B4-BE49-F238E27FC236}">
                            <a16:creationId xmlns:a16="http://schemas.microsoft.com/office/drawing/2014/main" id="{738A3669-A4ED-1408-2ED3-667B97E2B65F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36430" y="1920876"/>
                        <a:ext cx="2166221" cy="1325562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2008016642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9A2B808-F1E2-C0D4-E024-75E8563498E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>
            <a:extLst>
              <a:ext uri="{FF2B5EF4-FFF2-40B4-BE49-F238E27FC236}">
                <a16:creationId xmlns:a16="http://schemas.microsoft.com/office/drawing/2014/main" id="{19887EE2-A3EF-C550-B23C-6F0CCFA6A35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51588" y="-243235"/>
            <a:ext cx="10515600" cy="1325563"/>
          </a:xfrm>
        </p:spPr>
        <p:txBody>
          <a:bodyPr>
            <a:normAutofit/>
          </a:bodyPr>
          <a:lstStyle/>
          <a:p>
            <a:pPr algn="ctr"/>
            <a:r>
              <a:rPr lang="en-CA" sz="2800" b="1">
                <a:latin typeface="+mn-lt"/>
                <a:cs typeface="Arial" panose="020B0604020202020204" pitchFamily="34" charset="0"/>
              </a:rPr>
              <a:t>GLCRCI-11062025R1</a:t>
            </a:r>
          </a:p>
        </p:txBody>
      </p:sp>
      <p:sp>
        <p:nvSpPr>
          <p:cNvPr id="5" name="Footer Placeholder 3">
            <a:extLst>
              <a:ext uri="{FF2B5EF4-FFF2-40B4-BE49-F238E27FC236}">
                <a16:creationId xmlns:a16="http://schemas.microsoft.com/office/drawing/2014/main" id="{301B1B8D-87E3-868A-88D4-8012F1EB486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618722" y="6492874"/>
            <a:ext cx="4114800" cy="365125"/>
          </a:xfrm>
        </p:spPr>
        <p:txBody>
          <a:bodyPr/>
          <a:lstStyle/>
          <a:p>
            <a:r>
              <a:rPr lang="en-CA">
                <a:latin typeface="Arial" panose="020B0604020202020204" pitchFamily="34" charset="0"/>
                <a:cs typeface="Arial" panose="020B0604020202020204" pitchFamily="34" charset="0"/>
              </a:rPr>
              <a:t>CONFIDENTIAL</a:t>
            </a:r>
          </a:p>
        </p:txBody>
      </p:sp>
      <p:sp>
        <p:nvSpPr>
          <p:cNvPr id="6" name="Slide Number Placeholder 4">
            <a:extLst>
              <a:ext uri="{FF2B5EF4-FFF2-40B4-BE49-F238E27FC236}">
                <a16:creationId xmlns:a16="http://schemas.microsoft.com/office/drawing/2014/main" id="{A0C366F7-5F1E-1DD0-E4B5-5877DD3D6B70}"/>
              </a:ext>
            </a:extLst>
          </p:cNvPr>
          <p:cNvSpPr>
            <a:spLocks noGrp="1"/>
          </p:cNvSpPr>
          <p:nvPr/>
        </p:nvSpPr>
        <p:spPr>
          <a:xfrm>
            <a:off x="8899849" y="6492875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8483A229-2BE2-4044-957D-22ED1E4A33A3}" type="slidenum">
              <a:rPr lang="en-US" smtClean="0">
                <a:latin typeface="Arial" panose="020B0604020202020204" pitchFamily="34" charset="0"/>
                <a:cs typeface="Arial" panose="020B0604020202020204" pitchFamily="34" charset="0"/>
              </a:rPr>
              <a:pPr/>
              <a:t>16</a:t>
            </a:fld>
            <a:endParaRPr lang="en-US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7" name="Title 1">
            <a:extLst>
              <a:ext uri="{FF2B5EF4-FFF2-40B4-BE49-F238E27FC236}">
                <a16:creationId xmlns:a16="http://schemas.microsoft.com/office/drawing/2014/main" id="{938B747E-7096-E347-CCD8-5C2A973D2028}"/>
              </a:ext>
            </a:extLst>
          </p:cNvPr>
          <p:cNvSpPr txBox="1">
            <a:spLocks/>
          </p:cNvSpPr>
          <p:nvPr/>
        </p:nvSpPr>
        <p:spPr>
          <a:xfrm>
            <a:off x="651588" y="0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endParaRPr lang="en-US" sz="1800" b="1" i="0" u="none" strike="noStrike" baseline="0">
              <a:solidFill>
                <a:srgbClr val="000000"/>
              </a:solidFill>
              <a:latin typeface="+mn-lt"/>
            </a:endParaRPr>
          </a:p>
          <a:p>
            <a:r>
              <a:rPr lang="en-US" sz="2000" b="1">
                <a:latin typeface="+mn-lt"/>
              </a:rPr>
              <a:t>Step-2: </a:t>
            </a:r>
            <a:r>
              <a:rPr lang="en-US" sz="2000" b="1" baseline="30000"/>
              <a:t>1</a:t>
            </a:r>
            <a:r>
              <a:rPr lang="en-US" sz="2000" b="1">
                <a:latin typeface="+mn-lt"/>
              </a:rPr>
              <a:t>H NMR of Intermediate-5</a:t>
            </a:r>
          </a:p>
        </p:txBody>
      </p:sp>
      <p:graphicFrame>
        <p:nvGraphicFramePr>
          <p:cNvPr id="8" name="Object 7">
            <a:extLst>
              <a:ext uri="{FF2B5EF4-FFF2-40B4-BE49-F238E27FC236}">
                <a16:creationId xmlns:a16="http://schemas.microsoft.com/office/drawing/2014/main" id="{A3361593-6201-5ACE-E301-12D2375DE4FD}"/>
              </a:ext>
            </a:extLst>
          </p:cNvPr>
          <p:cNvGraphicFramePr>
            <a:graphicFrameLocks noChangeAspect="1"/>
          </p:cNvGraphicFramePr>
          <p:nvPr/>
        </p:nvGraphicFramePr>
        <p:xfrm>
          <a:off x="136430" y="1920876"/>
          <a:ext cx="2166221" cy="13255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CS ChemDraw Drawing" r:id="rId2" imgW="1411525" imgH="864315" progId="ChemDraw.Document.6.0">
                  <p:embed/>
                </p:oleObj>
              </mc:Choice>
              <mc:Fallback>
                <p:oleObj name="CS ChemDraw Drawing" r:id="rId2" imgW="1411525" imgH="864315" progId="ChemDraw.Document.6.0">
                  <p:embed/>
                  <p:pic>
                    <p:nvPicPr>
                      <p:cNvPr id="8" name="Object 7">
                        <a:extLst>
                          <a:ext uri="{FF2B5EF4-FFF2-40B4-BE49-F238E27FC236}">
                            <a16:creationId xmlns:a16="http://schemas.microsoft.com/office/drawing/2014/main" id="{A3361593-6201-5ACE-E301-12D2375DE4FD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3"/>
                      <a:stretch>
                        <a:fillRect/>
                      </a:stretch>
                    </p:blipFill>
                    <p:spPr>
                      <a:xfrm>
                        <a:off x="136430" y="1920876"/>
                        <a:ext cx="2166221" cy="1325562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" name="Object 2">
            <a:extLst>
              <a:ext uri="{FF2B5EF4-FFF2-40B4-BE49-F238E27FC236}">
                <a16:creationId xmlns:a16="http://schemas.microsoft.com/office/drawing/2014/main" id="{125D4706-7071-1505-0EC1-E03013AD2B60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765319678"/>
              </p:ext>
            </p:extLst>
          </p:nvPr>
        </p:nvGraphicFramePr>
        <p:xfrm>
          <a:off x="2324358" y="1082328"/>
          <a:ext cx="7790025" cy="5435834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MestReNova" r:id="rId4" imgW="10355438" imgH="7223852" progId="MestReNova.Document.1">
                  <p:embed/>
                </p:oleObj>
              </mc:Choice>
              <mc:Fallback>
                <p:oleObj name="MestReNova" r:id="rId4" imgW="10355438" imgH="7223852" progId="MestReNova.Document.1">
                  <p:embed/>
                  <p:pic>
                    <p:nvPicPr>
                      <p:cNvPr id="3" name="Object 2">
                        <a:extLst>
                          <a:ext uri="{FF2B5EF4-FFF2-40B4-BE49-F238E27FC236}">
                            <a16:creationId xmlns:a16="http://schemas.microsoft.com/office/drawing/2014/main" id="{125D4706-7071-1505-0EC1-E03013AD2B60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2324358" y="1082328"/>
                        <a:ext cx="7790025" cy="5435834"/>
                      </a:xfrm>
                      <a:prstGeom prst="rect">
                        <a:avLst/>
                      </a:prstGeom>
                      <a:solidFill>
                        <a:schemeClr val="bg1"/>
                      </a:solidFill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1181120606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4467A23-252D-DF4E-476D-5131050CD7D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>
            <a:extLst>
              <a:ext uri="{FF2B5EF4-FFF2-40B4-BE49-F238E27FC236}">
                <a16:creationId xmlns:a16="http://schemas.microsoft.com/office/drawing/2014/main" id="{CD80FB50-B1FC-5D5C-BD05-E387947D245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51588" y="-243235"/>
            <a:ext cx="10515600" cy="1325563"/>
          </a:xfrm>
        </p:spPr>
        <p:txBody>
          <a:bodyPr>
            <a:normAutofit/>
          </a:bodyPr>
          <a:lstStyle/>
          <a:p>
            <a:pPr algn="ctr"/>
            <a:r>
              <a:rPr lang="en-CA" sz="2800" b="1">
                <a:latin typeface="+mn-lt"/>
                <a:cs typeface="Arial" panose="020B0604020202020204" pitchFamily="34" charset="0"/>
              </a:rPr>
              <a:t>GLCRCI-11062025R1</a:t>
            </a:r>
          </a:p>
        </p:txBody>
      </p:sp>
      <p:sp>
        <p:nvSpPr>
          <p:cNvPr id="5" name="Footer Placeholder 3">
            <a:extLst>
              <a:ext uri="{FF2B5EF4-FFF2-40B4-BE49-F238E27FC236}">
                <a16:creationId xmlns:a16="http://schemas.microsoft.com/office/drawing/2014/main" id="{8145C7B9-95C2-6200-F02D-9B97DE790D7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</p:spPr>
        <p:txBody>
          <a:bodyPr/>
          <a:lstStyle/>
          <a:p>
            <a:r>
              <a:rPr lang="en-CA">
                <a:latin typeface="Arial" panose="020B0604020202020204" pitchFamily="34" charset="0"/>
                <a:cs typeface="Arial" panose="020B0604020202020204" pitchFamily="34" charset="0"/>
              </a:rPr>
              <a:t>CONFIDENTIAL</a:t>
            </a:r>
          </a:p>
        </p:txBody>
      </p:sp>
      <p:sp>
        <p:nvSpPr>
          <p:cNvPr id="6" name="Slide Number Placeholder 4">
            <a:extLst>
              <a:ext uri="{FF2B5EF4-FFF2-40B4-BE49-F238E27FC236}">
                <a16:creationId xmlns:a16="http://schemas.microsoft.com/office/drawing/2014/main" id="{3C5FB891-71D3-0463-C0BC-832467E215A1}"/>
              </a:ext>
            </a:extLst>
          </p:cNvPr>
          <p:cNvSpPr>
            <a:spLocks noGrp="1"/>
          </p:cNvSpPr>
          <p:nvPr/>
        </p:nvSpPr>
        <p:spPr>
          <a:xfrm>
            <a:off x="8899849" y="6492875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8483A229-2BE2-4044-957D-22ED1E4A33A3}" type="slidenum">
              <a:rPr lang="en-US" smtClean="0">
                <a:latin typeface="Arial" panose="020B0604020202020204" pitchFamily="34" charset="0"/>
                <a:cs typeface="Arial" panose="020B0604020202020204" pitchFamily="34" charset="0"/>
              </a:rPr>
              <a:pPr/>
              <a:t>17</a:t>
            </a:fld>
            <a:endParaRPr lang="en-US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7" name="Title 1">
            <a:extLst>
              <a:ext uri="{FF2B5EF4-FFF2-40B4-BE49-F238E27FC236}">
                <a16:creationId xmlns:a16="http://schemas.microsoft.com/office/drawing/2014/main" id="{0F5E744D-BC3C-1C44-AD4F-31D0624F8CC7}"/>
              </a:ext>
            </a:extLst>
          </p:cNvPr>
          <p:cNvSpPr txBox="1">
            <a:spLocks/>
          </p:cNvSpPr>
          <p:nvPr/>
        </p:nvSpPr>
        <p:spPr>
          <a:xfrm>
            <a:off x="651588" y="0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endParaRPr lang="en-US" sz="1800" b="1" i="0" u="none" strike="noStrike" baseline="0">
              <a:solidFill>
                <a:srgbClr val="000000"/>
              </a:solidFill>
              <a:latin typeface="Arial" panose="020B0604020202020204" pitchFamily="34" charset="0"/>
            </a:endParaRPr>
          </a:p>
          <a:p>
            <a:r>
              <a:rPr lang="en-US" sz="2000" b="1">
                <a:latin typeface="+mn-lt"/>
              </a:rPr>
              <a:t>Step-2: LCMS of Intermediate-5 IPC</a:t>
            </a:r>
          </a:p>
        </p:txBody>
      </p:sp>
      <p:graphicFrame>
        <p:nvGraphicFramePr>
          <p:cNvPr id="2" name="Object 1">
            <a:extLst>
              <a:ext uri="{FF2B5EF4-FFF2-40B4-BE49-F238E27FC236}">
                <a16:creationId xmlns:a16="http://schemas.microsoft.com/office/drawing/2014/main" id="{478768F8-A3F1-8689-A8F4-35F6336BF7C3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935642931"/>
              </p:ext>
            </p:extLst>
          </p:nvPr>
        </p:nvGraphicFramePr>
        <p:xfrm>
          <a:off x="9410700" y="3791738"/>
          <a:ext cx="2166223" cy="13255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CS ChemDraw Drawing" r:id="rId2" imgW="1411525" imgH="864315" progId="ChemDraw.Document.6.0">
                  <p:embed/>
                </p:oleObj>
              </mc:Choice>
              <mc:Fallback>
                <p:oleObj name="CS ChemDraw Drawing" r:id="rId2" imgW="1411525" imgH="864315" progId="ChemDraw.Document.6.0">
                  <p:embed/>
                  <p:pic>
                    <p:nvPicPr>
                      <p:cNvPr id="2" name="Object 1">
                        <a:extLst>
                          <a:ext uri="{FF2B5EF4-FFF2-40B4-BE49-F238E27FC236}">
                            <a16:creationId xmlns:a16="http://schemas.microsoft.com/office/drawing/2014/main" id="{478768F8-A3F1-8689-A8F4-35F6336BF7C3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3"/>
                      <a:stretch>
                        <a:fillRect/>
                      </a:stretch>
                    </p:blipFill>
                    <p:spPr>
                      <a:xfrm>
                        <a:off x="9410700" y="3791738"/>
                        <a:ext cx="2166223" cy="1325563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4" name="TextBox 13">
            <a:extLst>
              <a:ext uri="{FF2B5EF4-FFF2-40B4-BE49-F238E27FC236}">
                <a16:creationId xmlns:a16="http://schemas.microsoft.com/office/drawing/2014/main" id="{AA7FF816-D2A0-3FCB-3791-C06C1ACD9288}"/>
              </a:ext>
            </a:extLst>
          </p:cNvPr>
          <p:cNvSpPr txBox="1"/>
          <p:nvPr/>
        </p:nvSpPr>
        <p:spPr>
          <a:xfrm>
            <a:off x="9696757" y="5169128"/>
            <a:ext cx="2232349" cy="3324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>
              <a:lnSpc>
                <a:spcPct val="120000"/>
              </a:lnSpc>
              <a:buNone/>
            </a:pPr>
            <a:r>
              <a:rPr lang="en-CA" sz="1400" b="1"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m/z = 520.10 [M+1]</a:t>
            </a:r>
            <a:r>
              <a:rPr lang="en-CA" sz="1400" b="1" baseline="30000"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+</a:t>
            </a:r>
            <a:endParaRPr lang="en-CA" sz="140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030CC222-FF4E-4766-99DD-5C64DAF692F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495243" y="1082328"/>
            <a:ext cx="6281920" cy="2729269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E4E8DD8D-E552-19A7-200F-096DF6A4B842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495243" y="3772695"/>
            <a:ext cx="6281920" cy="2654732"/>
          </a:xfrm>
          <a:prstGeom prst="rect">
            <a:avLst/>
          </a:prstGeom>
        </p:spPr>
      </p:pic>
      <p:cxnSp>
        <p:nvCxnSpPr>
          <p:cNvPr id="15" name="Straight Arrow Connector 14">
            <a:extLst>
              <a:ext uri="{FF2B5EF4-FFF2-40B4-BE49-F238E27FC236}">
                <a16:creationId xmlns:a16="http://schemas.microsoft.com/office/drawing/2014/main" id="{75E98F6F-73E2-A52F-0E91-28283FF2714D}"/>
              </a:ext>
            </a:extLst>
          </p:cNvPr>
          <p:cNvCxnSpPr>
            <a:cxnSpLocks/>
          </p:cNvCxnSpPr>
          <p:nvPr/>
        </p:nvCxnSpPr>
        <p:spPr>
          <a:xfrm>
            <a:off x="5909388" y="4348719"/>
            <a:ext cx="3894355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193218715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FE12125-F2F8-3BCC-539E-FCE50B527AE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>
            <a:extLst>
              <a:ext uri="{FF2B5EF4-FFF2-40B4-BE49-F238E27FC236}">
                <a16:creationId xmlns:a16="http://schemas.microsoft.com/office/drawing/2014/main" id="{D2EBA240-F182-6061-D175-2038EE16743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35563" y="-359111"/>
            <a:ext cx="10515600" cy="1325563"/>
          </a:xfrm>
        </p:spPr>
        <p:txBody>
          <a:bodyPr>
            <a:normAutofit/>
          </a:bodyPr>
          <a:lstStyle/>
          <a:p>
            <a:pPr algn="ctr"/>
            <a:r>
              <a:rPr lang="en-CA" sz="2800" b="1">
                <a:latin typeface="+mn-lt"/>
                <a:cs typeface="Arial" panose="020B0604020202020204" pitchFamily="34" charset="0"/>
              </a:rPr>
              <a:t>GLCRCI-11062025R1</a:t>
            </a:r>
          </a:p>
        </p:txBody>
      </p:sp>
      <p:sp>
        <p:nvSpPr>
          <p:cNvPr id="7" name="Footer Placeholder 3">
            <a:extLst>
              <a:ext uri="{FF2B5EF4-FFF2-40B4-BE49-F238E27FC236}">
                <a16:creationId xmlns:a16="http://schemas.microsoft.com/office/drawing/2014/main" id="{58797237-6496-E8A9-32E5-CDD86CC9AFF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</p:spPr>
        <p:txBody>
          <a:bodyPr/>
          <a:lstStyle/>
          <a:p>
            <a:r>
              <a:rPr lang="en-CA">
                <a:latin typeface="Arial" panose="020B0604020202020204" pitchFamily="34" charset="0"/>
                <a:cs typeface="Arial" panose="020B0604020202020204" pitchFamily="34" charset="0"/>
              </a:rPr>
              <a:t>CONFIDENTIAL</a:t>
            </a:r>
          </a:p>
        </p:txBody>
      </p:sp>
      <p:sp>
        <p:nvSpPr>
          <p:cNvPr id="8" name="Slide Number Placeholder 4">
            <a:extLst>
              <a:ext uri="{FF2B5EF4-FFF2-40B4-BE49-F238E27FC236}">
                <a16:creationId xmlns:a16="http://schemas.microsoft.com/office/drawing/2014/main" id="{E08AB03A-E1C0-1F39-DC07-8E5A9DE76D03}"/>
              </a:ext>
            </a:extLst>
          </p:cNvPr>
          <p:cNvSpPr>
            <a:spLocks noGrp="1"/>
          </p:cNvSpPr>
          <p:nvPr/>
        </p:nvSpPr>
        <p:spPr>
          <a:xfrm>
            <a:off x="8899849" y="6492875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8483A229-2BE2-4044-957D-22ED1E4A33A3}" type="slidenum">
              <a:rPr lang="en-US" smtClean="0">
                <a:latin typeface="Arial" panose="020B0604020202020204" pitchFamily="34" charset="0"/>
                <a:cs typeface="Arial" panose="020B0604020202020204" pitchFamily="34" charset="0"/>
              </a:rPr>
              <a:pPr/>
              <a:t>18</a:t>
            </a:fld>
            <a:endParaRPr lang="en-US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10ECFF41-E1E8-9BF0-A7EF-8AF9E3EFA4ED}"/>
              </a:ext>
            </a:extLst>
          </p:cNvPr>
          <p:cNvSpPr txBox="1">
            <a:spLocks/>
          </p:cNvSpPr>
          <p:nvPr/>
        </p:nvSpPr>
        <p:spPr>
          <a:xfrm>
            <a:off x="838200" y="488337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endParaRPr lang="en-US" sz="1800" b="1" i="0" u="none" strike="noStrike" baseline="0">
              <a:solidFill>
                <a:srgbClr val="000000"/>
              </a:solidFill>
              <a:latin typeface="Arial" panose="020B0604020202020204" pitchFamily="34" charset="0"/>
            </a:endParaRPr>
          </a:p>
          <a:p>
            <a:endParaRPr lang="en-US" sz="1800" b="1" i="0" u="none" strike="noStrike" baseline="0">
              <a:solidFill>
                <a:srgbClr val="000000"/>
              </a:solidFill>
              <a:latin typeface="Arial" panose="020B0604020202020204" pitchFamily="34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DF8EC8DE-9D2A-9AE9-1921-9785A6194FE8}"/>
              </a:ext>
            </a:extLst>
          </p:cNvPr>
          <p:cNvSpPr txBox="1"/>
          <p:nvPr/>
        </p:nvSpPr>
        <p:spPr>
          <a:xfrm>
            <a:off x="0" y="606490"/>
            <a:ext cx="6578082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800" b="1"/>
              <a:t>Step 2: </a:t>
            </a:r>
            <a:r>
              <a:rPr lang="en-US" b="1"/>
              <a:t>Suzuki</a:t>
            </a:r>
            <a:r>
              <a:rPr lang="en-US" sz="1800" b="1"/>
              <a:t> coupling with </a:t>
            </a:r>
            <a:r>
              <a:rPr lang="en-US" sz="1800" b="1">
                <a:solidFill>
                  <a:srgbClr val="3333FF"/>
                </a:solidFill>
              </a:rPr>
              <a:t>1.30 eq</a:t>
            </a:r>
            <a:r>
              <a:rPr lang="en-US" sz="1800" b="1"/>
              <a:t>. compound 4, </a:t>
            </a:r>
            <a:r>
              <a:rPr lang="en-US" sz="1800" b="1" err="1"/>
              <a:t>Xphos</a:t>
            </a:r>
            <a:r>
              <a:rPr lang="en-US" sz="1800" b="1"/>
              <a:t> Pd G3 cat. </a:t>
            </a:r>
            <a:r>
              <a:rPr lang="en-US" b="1"/>
              <a:t>a</a:t>
            </a:r>
            <a:r>
              <a:rPr lang="en-US" sz="1800" b="1"/>
              <a:t>nd Cs</a:t>
            </a:r>
            <a:r>
              <a:rPr lang="en-US" sz="1800" b="1" baseline="-25000"/>
              <a:t>2</a:t>
            </a:r>
            <a:r>
              <a:rPr lang="en-US" sz="1800" b="1"/>
              <a:t>CO</a:t>
            </a:r>
            <a:r>
              <a:rPr lang="en-US" sz="1800" b="1" baseline="-25000"/>
              <a:t>3</a:t>
            </a:r>
            <a:r>
              <a:rPr lang="en-US" b="1" baseline="-25000"/>
              <a:t> </a:t>
            </a:r>
            <a:r>
              <a:rPr lang="en-US" sz="1800" b="1"/>
              <a:t>and </a:t>
            </a:r>
            <a:r>
              <a:rPr lang="en-US" sz="1800" b="1" err="1">
                <a:solidFill>
                  <a:srgbClr val="3333FF"/>
                </a:solidFill>
              </a:rPr>
              <a:t>SiliaMetS</a:t>
            </a:r>
            <a:r>
              <a:rPr lang="en-US" sz="1800" b="1">
                <a:solidFill>
                  <a:srgbClr val="3333FF"/>
                </a:solidFill>
              </a:rPr>
              <a:t> Thiol scavenger treatment in DCM</a:t>
            </a:r>
            <a:endParaRPr lang="en-US" sz="1800" b="1"/>
          </a:p>
        </p:txBody>
      </p:sp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5AB1FCD8-B177-338C-2856-80C732E7996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947371276"/>
              </p:ext>
            </p:extLst>
          </p:nvPr>
        </p:nvGraphicFramePr>
        <p:xfrm>
          <a:off x="187086" y="2338982"/>
          <a:ext cx="11817827" cy="298704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626575">
                  <a:extLst>
                    <a:ext uri="{9D8B030D-6E8A-4147-A177-3AD203B41FA5}">
                      <a16:colId xmlns:a16="http://schemas.microsoft.com/office/drawing/2014/main" val="2967325160"/>
                    </a:ext>
                  </a:extLst>
                </a:gridCol>
                <a:gridCol w="1048877">
                  <a:extLst>
                    <a:ext uri="{9D8B030D-6E8A-4147-A177-3AD203B41FA5}">
                      <a16:colId xmlns:a16="http://schemas.microsoft.com/office/drawing/2014/main" val="1058054721"/>
                    </a:ext>
                  </a:extLst>
                </a:gridCol>
                <a:gridCol w="4236097">
                  <a:extLst>
                    <a:ext uri="{9D8B030D-6E8A-4147-A177-3AD203B41FA5}">
                      <a16:colId xmlns:a16="http://schemas.microsoft.com/office/drawing/2014/main" val="2257075883"/>
                    </a:ext>
                  </a:extLst>
                </a:gridCol>
                <a:gridCol w="5906278">
                  <a:extLst>
                    <a:ext uri="{9D8B030D-6E8A-4147-A177-3AD203B41FA5}">
                      <a16:colId xmlns:a16="http://schemas.microsoft.com/office/drawing/2014/main" val="1958950006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en-CA" sz="1600" b="1"/>
                        <a:t>No.</a:t>
                      </a:r>
                    </a:p>
                  </a:txBody>
                  <a:tcPr>
                    <a:solidFill>
                      <a:srgbClr val="AACDC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CA" sz="1600" b="1"/>
                        <a:t>Scale</a:t>
                      </a:r>
                    </a:p>
                  </a:txBody>
                  <a:tcPr>
                    <a:solidFill>
                      <a:srgbClr val="AACDC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CA" sz="1600" b="1"/>
                        <a:t>Description (in order of addition)</a:t>
                      </a:r>
                    </a:p>
                  </a:txBody>
                  <a:tcPr>
                    <a:solidFill>
                      <a:srgbClr val="AACDC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CA" sz="1600" b="1"/>
                        <a:t>Comments</a:t>
                      </a:r>
                    </a:p>
                  </a:txBody>
                  <a:tcPr>
                    <a:solidFill>
                      <a:srgbClr val="AACDC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4076925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en-US" sz="1600"/>
                        <a:t>4</a:t>
                      </a:r>
                      <a:endParaRPr lang="en-CA" sz="1600"/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CA" sz="1400">
                          <a:solidFill>
                            <a:srgbClr val="3333FF"/>
                          </a:solidFill>
                        </a:rPr>
                        <a:t>3.5 g</a:t>
                      </a: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CA" sz="1400"/>
                        <a:t>Intermediate-</a:t>
                      </a:r>
                      <a:r>
                        <a:rPr lang="en-CA" sz="1400" b="1"/>
                        <a:t>3</a:t>
                      </a:r>
                      <a:r>
                        <a:rPr lang="en-CA" sz="1400"/>
                        <a:t> (3.5 g, 1.0 eq), 4-(4-Boc-piperazino)phenylboronic acid (</a:t>
                      </a:r>
                      <a:r>
                        <a:rPr lang="en-CA" sz="1400" b="1"/>
                        <a:t>4</a:t>
                      </a:r>
                      <a:r>
                        <a:rPr lang="en-CA" sz="1400"/>
                        <a:t>) (</a:t>
                      </a:r>
                      <a:r>
                        <a:rPr lang="en-CA" sz="1400" b="1">
                          <a:solidFill>
                            <a:srgbClr val="3333FF"/>
                          </a:solidFill>
                        </a:rPr>
                        <a:t>1.30 eq</a:t>
                      </a:r>
                      <a:r>
                        <a:rPr lang="en-CA" sz="1400"/>
                        <a:t>), </a:t>
                      </a:r>
                      <a:r>
                        <a:rPr lang="en-CA" sz="1400" err="1"/>
                        <a:t>Xphos</a:t>
                      </a:r>
                      <a:r>
                        <a:rPr lang="en-CA" sz="1400"/>
                        <a:t> Pd G3 (0.15 eq), Cs</a:t>
                      </a:r>
                      <a:r>
                        <a:rPr lang="en-CA" sz="1400" baseline="-25000"/>
                        <a:t>2</a:t>
                      </a:r>
                      <a:r>
                        <a:rPr lang="en-CA" sz="1400"/>
                        <a:t>CO</a:t>
                      </a:r>
                      <a:r>
                        <a:rPr lang="en-CA" sz="1400" baseline="-25000"/>
                        <a:t>3</a:t>
                      </a:r>
                      <a:r>
                        <a:rPr lang="en-CA" sz="1400"/>
                        <a:t> (3.0 eq), Toluene (8 V), water (2 V), 110 °C, 18 h.</a:t>
                      </a: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285750" indent="-285750" algn="l">
                        <a:buFont typeface="Arial" panose="020B0604020202020204" pitchFamily="34" charset="0"/>
                        <a:buChar char="•"/>
                      </a:pPr>
                      <a:r>
                        <a:rPr lang="en-CA" sz="1200" i="0"/>
                        <a:t>Charged Intermediate-1 (Compound-</a:t>
                      </a:r>
                      <a:r>
                        <a:rPr lang="en-CA" sz="1200" b="1" i="0"/>
                        <a:t>3, </a:t>
                      </a:r>
                      <a:r>
                        <a:rPr lang="en-CA" sz="1200" b="0" i="0"/>
                        <a:t>3.5 g, 1.0 eq.)</a:t>
                      </a:r>
                      <a:r>
                        <a:rPr lang="en-CA" sz="1200" b="0"/>
                        <a:t> </a:t>
                      </a:r>
                      <a:r>
                        <a:rPr lang="en-CA" sz="1200"/>
                        <a:t>&amp; 4-(4-Boc-piperazino)phenylboronic acid (</a:t>
                      </a:r>
                      <a:r>
                        <a:rPr lang="en-CA" sz="1200" b="1"/>
                        <a:t>4, </a:t>
                      </a:r>
                      <a:r>
                        <a:rPr lang="en-CA" sz="1200" b="0"/>
                        <a:t>4.01 g, </a:t>
                      </a:r>
                      <a:r>
                        <a:rPr lang="en-CA" sz="1200" b="0">
                          <a:solidFill>
                            <a:srgbClr val="3333FF"/>
                          </a:solidFill>
                        </a:rPr>
                        <a:t>1.30 eq</a:t>
                      </a:r>
                      <a:r>
                        <a:rPr lang="en-CA" sz="1200" b="0"/>
                        <a:t>.</a:t>
                      </a:r>
                      <a:r>
                        <a:rPr lang="en-CA" sz="1200" b="0" i="0" baseline="0"/>
                        <a:t>)</a:t>
                      </a:r>
                      <a:r>
                        <a:rPr lang="en-CA" sz="1200" b="1"/>
                        <a:t> </a:t>
                      </a:r>
                      <a:r>
                        <a:rPr lang="en-CA" sz="1200" i="0"/>
                        <a:t>in a sealed tube under nitrogen</a:t>
                      </a:r>
                    </a:p>
                    <a:p>
                      <a:pPr marL="285750" indent="-285750" algn="l">
                        <a:buFont typeface="Arial" panose="020B0604020202020204" pitchFamily="34" charset="0"/>
                        <a:buChar char="•"/>
                      </a:pPr>
                      <a:r>
                        <a:rPr lang="en-CA" sz="1200" i="0"/>
                        <a:t>Added toluene (28 mL, 8 V), water (7 mL, 2 V) and </a:t>
                      </a:r>
                      <a:r>
                        <a:rPr lang="en-CA" sz="1200"/>
                        <a:t>Cs</a:t>
                      </a:r>
                      <a:r>
                        <a:rPr lang="en-CA" sz="1200" baseline="-25000"/>
                        <a:t>2</a:t>
                      </a:r>
                      <a:r>
                        <a:rPr lang="en-CA" sz="1200"/>
                        <a:t>CO</a:t>
                      </a:r>
                      <a:r>
                        <a:rPr lang="en-CA" sz="1200" baseline="-25000"/>
                        <a:t>3  </a:t>
                      </a:r>
                      <a:r>
                        <a:rPr lang="en-CA" sz="1200" i="0"/>
                        <a:t> (12.2 g, 3.0 eq)</a:t>
                      </a:r>
                    </a:p>
                    <a:p>
                      <a:pPr marL="285750" indent="-285750" algn="l">
                        <a:buFont typeface="Arial" panose="020B0604020202020204" pitchFamily="34" charset="0"/>
                        <a:buChar char="•"/>
                      </a:pPr>
                      <a:r>
                        <a:rPr lang="en-CA" sz="1200" i="0"/>
                        <a:t>Degassed with nitrogen for 5 min</a:t>
                      </a:r>
                    </a:p>
                    <a:p>
                      <a:pPr marL="285750" indent="-285750" algn="l">
                        <a:buFont typeface="Arial" panose="020B0604020202020204" pitchFamily="34" charset="0"/>
                        <a:buChar char="•"/>
                      </a:pPr>
                      <a:r>
                        <a:rPr lang="en-CA" sz="1200" i="0"/>
                        <a:t>Added </a:t>
                      </a:r>
                      <a:r>
                        <a:rPr lang="en-CA" sz="1200" i="0" err="1"/>
                        <a:t>Xphos</a:t>
                      </a:r>
                      <a:r>
                        <a:rPr lang="en-CA" sz="1200" i="0"/>
                        <a:t> Pd G3 (2.02 g, 0.15 eq.)</a:t>
                      </a:r>
                      <a:endParaRPr lang="en-CA" sz="1200"/>
                    </a:p>
                    <a:p>
                      <a:pPr marL="285750" marR="0" lvl="0" indent="-28575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en-CA" sz="1200" i="0"/>
                        <a:t>Degassed with nitrogen for 5 min </a:t>
                      </a:r>
                    </a:p>
                    <a:p>
                      <a:pPr marL="285750" indent="-285750" algn="l">
                        <a:buFont typeface="Arial" panose="020B0604020202020204" pitchFamily="34" charset="0"/>
                        <a:buChar char="•"/>
                      </a:pPr>
                      <a:r>
                        <a:rPr lang="en-CA" sz="1200" i="0"/>
                        <a:t>Heated to 110 °C and stirred for 16 h</a:t>
                      </a:r>
                    </a:p>
                    <a:p>
                      <a:pPr marL="285750" indent="-285750" algn="l">
                        <a:buFont typeface="Arial" panose="020B0604020202020204" pitchFamily="34" charset="0"/>
                        <a:buChar char="•"/>
                      </a:pPr>
                      <a:r>
                        <a:rPr lang="en-CA" sz="1200" i="0"/>
                        <a:t>Checked HPLC after 16h (</a:t>
                      </a:r>
                      <a:r>
                        <a:rPr lang="en-CA" sz="1200" b="1" i="0"/>
                        <a:t>~0.08% SM residual</a:t>
                      </a:r>
                      <a:r>
                        <a:rPr lang="en-CA" sz="1200" i="0"/>
                        <a:t>)</a:t>
                      </a:r>
                    </a:p>
                    <a:p>
                      <a:pPr marL="285750" indent="-285750" algn="l">
                        <a:buFont typeface="Arial" panose="020B0604020202020204" pitchFamily="34" charset="0"/>
                        <a:buChar char="•"/>
                      </a:pPr>
                      <a:r>
                        <a:rPr lang="en-CA" sz="1200" i="0"/>
                        <a:t>Cooled to RT, filtered through Celite, washed with toluene (17.5 mL, 5V)</a:t>
                      </a:r>
                    </a:p>
                    <a:p>
                      <a:pPr marL="285750" indent="-285750" algn="l">
                        <a:buFont typeface="Arial" panose="020B0604020202020204" pitchFamily="34" charset="0"/>
                        <a:buChar char="•"/>
                      </a:pPr>
                      <a:r>
                        <a:rPr lang="en-CA" sz="1200" i="0"/>
                        <a:t>Charged water (17.5 mL, 5 V)</a:t>
                      </a:r>
                    </a:p>
                    <a:p>
                      <a:pPr marL="285750" indent="-285750" algn="l">
                        <a:buFont typeface="Arial" panose="020B0604020202020204" pitchFamily="34" charset="0"/>
                        <a:buChar char="•"/>
                      </a:pPr>
                      <a:r>
                        <a:rPr lang="en-CA" sz="1200" i="0"/>
                        <a:t>Layers were separated and aq. layer back extracted with toluene (17.5 mL, 5 V)</a:t>
                      </a:r>
                    </a:p>
                    <a:p>
                      <a:pPr marL="285750" indent="-285750" algn="l">
                        <a:buFont typeface="Arial" panose="020B0604020202020204" pitchFamily="34" charset="0"/>
                        <a:buChar char="•"/>
                      </a:pPr>
                      <a:r>
                        <a:rPr lang="en-CA" sz="1200" i="0"/>
                        <a:t>Combined the both layers and washed with brine solution (17.5 mL, 5 V)</a:t>
                      </a:r>
                    </a:p>
                    <a:p>
                      <a:pPr marL="285750" indent="-285750" algn="l">
                        <a:buFont typeface="Arial" panose="020B0604020202020204" pitchFamily="34" charset="0"/>
                        <a:buChar char="•"/>
                      </a:pPr>
                      <a:r>
                        <a:rPr lang="en-CA" sz="1200" i="0"/>
                        <a:t>Evaporated under vacuum at 40-45 °C</a:t>
                      </a:r>
                      <a:r>
                        <a:rPr lang="en-CA" sz="1200" b="0" i="0">
                          <a:solidFill>
                            <a:schemeClr val="tx1"/>
                          </a:solidFill>
                        </a:rPr>
                        <a:t>, obtained a thick black semi solid</a:t>
                      </a:r>
                    </a:p>
                    <a:p>
                      <a:pPr marL="285750" indent="-285750" algn="l">
                        <a:buFont typeface="Arial" panose="020B0604020202020204" pitchFamily="34" charset="0"/>
                        <a:buChar char="•"/>
                      </a:pPr>
                      <a:r>
                        <a:rPr lang="en-CA" sz="1200" b="1" i="0">
                          <a:solidFill>
                            <a:srgbClr val="0000FF"/>
                          </a:solidFill>
                        </a:rPr>
                        <a:t>Semi solid crude </a:t>
                      </a:r>
                      <a:r>
                        <a:rPr lang="en-CA" sz="1200" b="1" i="0" err="1">
                          <a:solidFill>
                            <a:srgbClr val="0000FF"/>
                          </a:solidFill>
                        </a:rPr>
                        <a:t>wt</a:t>
                      </a:r>
                      <a:r>
                        <a:rPr lang="en-CA" sz="1200" b="1" i="0">
                          <a:solidFill>
                            <a:srgbClr val="0000FF"/>
                          </a:solidFill>
                        </a:rPr>
                        <a:t>: 12.25 g </a:t>
                      </a: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10588666"/>
                  </a:ext>
                </a:extLst>
              </a:tr>
            </a:tbl>
          </a:graphicData>
        </a:graphic>
      </p:graphicFrame>
      <p:graphicFrame>
        <p:nvGraphicFramePr>
          <p:cNvPr id="9" name="Object 8">
            <a:extLst>
              <a:ext uri="{FF2B5EF4-FFF2-40B4-BE49-F238E27FC236}">
                <a16:creationId xmlns:a16="http://schemas.microsoft.com/office/drawing/2014/main" id="{DDFC86C9-964A-CD59-A71C-43ED684EEC8E}"/>
              </a:ext>
            </a:extLst>
          </p:cNvPr>
          <p:cNvGraphicFramePr>
            <a:graphicFrameLocks noChangeAspect="1"/>
          </p:cNvGraphicFramePr>
          <p:nvPr/>
        </p:nvGraphicFramePr>
        <p:xfrm>
          <a:off x="6096000" y="439780"/>
          <a:ext cx="4540606" cy="191808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CS ChemDraw Drawing" r:id="rId2" imgW="5463527" imgH="2308837" progId="ChemDraw.Document.6.0">
                  <p:embed/>
                </p:oleObj>
              </mc:Choice>
              <mc:Fallback>
                <p:oleObj name="CS ChemDraw Drawing" r:id="rId2" imgW="5463527" imgH="2308837" progId="ChemDraw.Document.6.0">
                  <p:embed/>
                  <p:pic>
                    <p:nvPicPr>
                      <p:cNvPr id="9" name="Object 8">
                        <a:extLst>
                          <a:ext uri="{FF2B5EF4-FFF2-40B4-BE49-F238E27FC236}">
                            <a16:creationId xmlns:a16="http://schemas.microsoft.com/office/drawing/2014/main" id="{DDFC86C9-964A-CD59-A71C-43ED684EEC8E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3"/>
                      <a:stretch>
                        <a:fillRect/>
                      </a:stretch>
                    </p:blipFill>
                    <p:spPr>
                      <a:xfrm>
                        <a:off x="6096000" y="439780"/>
                        <a:ext cx="4540606" cy="1918083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3794937549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A99BB83-C219-6390-67D5-9C89143A09C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>
            <a:extLst>
              <a:ext uri="{FF2B5EF4-FFF2-40B4-BE49-F238E27FC236}">
                <a16:creationId xmlns:a16="http://schemas.microsoft.com/office/drawing/2014/main" id="{BFC64904-3B16-C037-09D0-3F7F53B2253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35563" y="-359111"/>
            <a:ext cx="10515600" cy="1325563"/>
          </a:xfrm>
        </p:spPr>
        <p:txBody>
          <a:bodyPr>
            <a:normAutofit/>
          </a:bodyPr>
          <a:lstStyle/>
          <a:p>
            <a:pPr algn="ctr"/>
            <a:r>
              <a:rPr lang="en-CA" sz="2800" b="1">
                <a:latin typeface="+mn-lt"/>
                <a:cs typeface="Arial" panose="020B0604020202020204" pitchFamily="34" charset="0"/>
              </a:rPr>
              <a:t>GLCRCI-11062025R1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37BBB7E5-032D-33F4-D66F-363C642D6877}"/>
              </a:ext>
            </a:extLst>
          </p:cNvPr>
          <p:cNvSpPr txBox="1">
            <a:spLocks/>
          </p:cNvSpPr>
          <p:nvPr/>
        </p:nvSpPr>
        <p:spPr>
          <a:xfrm>
            <a:off x="838200" y="488337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endParaRPr lang="en-US" sz="1800" b="1" i="0" u="none" strike="noStrike" baseline="0">
              <a:solidFill>
                <a:srgbClr val="000000"/>
              </a:solidFill>
              <a:latin typeface="Arial" panose="020B0604020202020204" pitchFamily="34" charset="0"/>
            </a:endParaRPr>
          </a:p>
          <a:p>
            <a:endParaRPr lang="en-US" sz="1800" b="1" i="0" u="none" strike="noStrike" baseline="0">
              <a:solidFill>
                <a:srgbClr val="000000"/>
              </a:solidFill>
              <a:latin typeface="Arial" panose="020B0604020202020204" pitchFamily="34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3CC5DB54-F80F-BF04-CB19-CDB8954EDC34}"/>
              </a:ext>
            </a:extLst>
          </p:cNvPr>
          <p:cNvSpPr txBox="1"/>
          <p:nvPr/>
        </p:nvSpPr>
        <p:spPr>
          <a:xfrm>
            <a:off x="-1" y="606490"/>
            <a:ext cx="7147249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800" b="1"/>
              <a:t>Step 2: </a:t>
            </a:r>
            <a:r>
              <a:rPr lang="en-US" sz="1800" b="1" err="1">
                <a:solidFill>
                  <a:srgbClr val="3333FF"/>
                </a:solidFill>
              </a:rPr>
              <a:t>SiliaMetS</a:t>
            </a:r>
            <a:r>
              <a:rPr lang="en-US" sz="1800" b="1">
                <a:solidFill>
                  <a:srgbClr val="3333FF"/>
                </a:solidFill>
              </a:rPr>
              <a:t> Thiol Scavenger 20% &amp; 30% </a:t>
            </a:r>
            <a:r>
              <a:rPr lang="en-US" sz="1800" b="1"/>
              <a:t>treatment in DCM for </a:t>
            </a:r>
            <a:r>
              <a:rPr lang="en-US" sz="1800" b="1">
                <a:solidFill>
                  <a:srgbClr val="3333FF"/>
                </a:solidFill>
              </a:rPr>
              <a:t>Pd </a:t>
            </a:r>
            <a:r>
              <a:rPr lang="en-US" sz="1800" b="1"/>
              <a:t>Remediatio</a:t>
            </a:r>
            <a:r>
              <a:rPr lang="en-US" b="1"/>
              <a:t>n</a:t>
            </a:r>
            <a:endParaRPr lang="en-US" sz="1800" b="1"/>
          </a:p>
        </p:txBody>
      </p:sp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338ACB8B-94E7-2CEF-AC30-07587187CDD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065010452"/>
              </p:ext>
            </p:extLst>
          </p:nvPr>
        </p:nvGraphicFramePr>
        <p:xfrm>
          <a:off x="187086" y="1631485"/>
          <a:ext cx="11817827" cy="490728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626575">
                  <a:extLst>
                    <a:ext uri="{9D8B030D-6E8A-4147-A177-3AD203B41FA5}">
                      <a16:colId xmlns:a16="http://schemas.microsoft.com/office/drawing/2014/main" val="2967325160"/>
                    </a:ext>
                  </a:extLst>
                </a:gridCol>
                <a:gridCol w="1048877">
                  <a:extLst>
                    <a:ext uri="{9D8B030D-6E8A-4147-A177-3AD203B41FA5}">
                      <a16:colId xmlns:a16="http://schemas.microsoft.com/office/drawing/2014/main" val="1058054721"/>
                    </a:ext>
                  </a:extLst>
                </a:gridCol>
                <a:gridCol w="4236097">
                  <a:extLst>
                    <a:ext uri="{9D8B030D-6E8A-4147-A177-3AD203B41FA5}">
                      <a16:colId xmlns:a16="http://schemas.microsoft.com/office/drawing/2014/main" val="2257075883"/>
                    </a:ext>
                  </a:extLst>
                </a:gridCol>
                <a:gridCol w="5906278">
                  <a:extLst>
                    <a:ext uri="{9D8B030D-6E8A-4147-A177-3AD203B41FA5}">
                      <a16:colId xmlns:a16="http://schemas.microsoft.com/office/drawing/2014/main" val="1958950006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en-CA" sz="1600" b="1"/>
                        <a:t>No.</a:t>
                      </a:r>
                    </a:p>
                  </a:txBody>
                  <a:tcPr>
                    <a:solidFill>
                      <a:srgbClr val="AACDC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CA" sz="1600" b="1"/>
                        <a:t>Scale</a:t>
                      </a:r>
                    </a:p>
                  </a:txBody>
                  <a:tcPr>
                    <a:solidFill>
                      <a:srgbClr val="AACDC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CA" sz="1600" b="1"/>
                        <a:t>Description (in order of addition)</a:t>
                      </a:r>
                    </a:p>
                  </a:txBody>
                  <a:tcPr>
                    <a:solidFill>
                      <a:srgbClr val="AACDC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CA" sz="1600" b="1"/>
                        <a:t>Comments</a:t>
                      </a:r>
                    </a:p>
                  </a:txBody>
                  <a:tcPr>
                    <a:solidFill>
                      <a:srgbClr val="AACDC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40769253"/>
                  </a:ext>
                </a:extLst>
              </a:tr>
              <a:tr h="2005943">
                <a:tc>
                  <a:txBody>
                    <a:bodyPr/>
                    <a:lstStyle/>
                    <a:p>
                      <a:pPr algn="ctr"/>
                      <a:r>
                        <a:rPr lang="en-US" sz="1600"/>
                        <a:t>5</a:t>
                      </a:r>
                      <a:endParaRPr lang="en-CA" sz="1600"/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CA" sz="1400">
                          <a:solidFill>
                            <a:srgbClr val="3333FF"/>
                          </a:solidFill>
                        </a:rPr>
                        <a:t>~0.5 g</a:t>
                      </a: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CA" sz="1400"/>
                        <a:t>Step-2 crude (</a:t>
                      </a:r>
                      <a:r>
                        <a:rPr lang="en-CA" sz="1400" i="0"/>
                        <a:t>Compound-</a:t>
                      </a:r>
                      <a:r>
                        <a:rPr lang="en-CA" sz="1400" b="1" i="0"/>
                        <a:t>5, </a:t>
                      </a:r>
                      <a:r>
                        <a:rPr lang="en-CA" sz="1400" b="1">
                          <a:solidFill>
                            <a:srgbClr val="3333FF"/>
                          </a:solidFill>
                        </a:rPr>
                        <a:t>3.5 g ~0.5 g</a:t>
                      </a:r>
                      <a:r>
                        <a:rPr lang="en-CA" sz="1400"/>
                        <a:t>), </a:t>
                      </a:r>
                      <a:r>
                        <a:rPr lang="en-CA" sz="1400" err="1"/>
                        <a:t>SiliaMetS</a:t>
                      </a:r>
                      <a:r>
                        <a:rPr lang="en-CA" sz="1400"/>
                        <a:t> Thiol (</a:t>
                      </a:r>
                      <a:r>
                        <a:rPr lang="en-CA" sz="1400" b="1">
                          <a:solidFill>
                            <a:srgbClr val="3333FF"/>
                          </a:solidFill>
                        </a:rPr>
                        <a:t>100 mg, 20 </a:t>
                      </a:r>
                      <a:r>
                        <a:rPr lang="en-CA" sz="1400" b="1" err="1">
                          <a:solidFill>
                            <a:srgbClr val="3333FF"/>
                          </a:solidFill>
                        </a:rPr>
                        <a:t>wt</a:t>
                      </a:r>
                      <a:r>
                        <a:rPr lang="en-CA" sz="1400" b="1">
                          <a:solidFill>
                            <a:srgbClr val="3333FF"/>
                          </a:solidFill>
                        </a:rPr>
                        <a:t> %</a:t>
                      </a:r>
                      <a:r>
                        <a:rPr lang="en-CA" sz="1400"/>
                        <a:t>), DCM (5 mL, 10 V), 20-25 °C, 2 h.</a:t>
                      </a: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285750" indent="-285750" algn="l">
                        <a:buFont typeface="Arial" panose="020B0604020202020204" pitchFamily="34" charset="0"/>
                        <a:buChar char="•"/>
                      </a:pPr>
                      <a:r>
                        <a:rPr lang="en-CA" sz="1200" i="0"/>
                        <a:t>Charged crude Intermediate-5 black semi solid (</a:t>
                      </a:r>
                      <a:r>
                        <a:rPr lang="en-CA" sz="1200" b="0" i="0"/>
                        <a:t>3.5 g, containing ~0.5 g </a:t>
                      </a:r>
                      <a:r>
                        <a:rPr lang="en-CA" sz="1200" i="0"/>
                        <a:t>Compound-</a:t>
                      </a:r>
                      <a:r>
                        <a:rPr lang="en-CA" sz="1200" b="1" i="0"/>
                        <a:t>5</a:t>
                      </a:r>
                      <a:r>
                        <a:rPr lang="en-CA" sz="1200" b="0" i="0"/>
                        <a:t>)</a:t>
                      </a:r>
                      <a:r>
                        <a:rPr lang="en-CA" sz="1200" b="0"/>
                        <a:t> </a:t>
                      </a:r>
                      <a:r>
                        <a:rPr lang="en-CA" sz="1200"/>
                        <a:t>&amp; DCM (5 mL, 10 V) in a 50 mL RBF</a:t>
                      </a:r>
                      <a:endParaRPr lang="en-CA" sz="1200" i="0"/>
                    </a:p>
                    <a:p>
                      <a:pPr marL="285750" indent="-285750" algn="l">
                        <a:buFont typeface="Arial" panose="020B0604020202020204" pitchFamily="34" charset="0"/>
                        <a:buChar char="•"/>
                      </a:pPr>
                      <a:r>
                        <a:rPr lang="en-CA" sz="1200" i="0"/>
                        <a:t>Added </a:t>
                      </a:r>
                      <a:r>
                        <a:rPr lang="en-CA" sz="1200" i="0" err="1"/>
                        <a:t>SiliaMetS</a:t>
                      </a:r>
                      <a:r>
                        <a:rPr lang="en-CA" sz="1200" i="0"/>
                        <a:t> Thiol solid (100 mg, 20 </a:t>
                      </a:r>
                      <a:r>
                        <a:rPr lang="en-CA" sz="1200" i="0" err="1"/>
                        <a:t>wt</a:t>
                      </a:r>
                      <a:r>
                        <a:rPr lang="en-CA" sz="1200" i="0"/>
                        <a:t> %) at RT</a:t>
                      </a:r>
                    </a:p>
                    <a:p>
                      <a:pPr marL="285750" indent="-285750" algn="l">
                        <a:buFont typeface="Arial" panose="020B0604020202020204" pitchFamily="34" charset="0"/>
                        <a:buChar char="•"/>
                      </a:pPr>
                      <a:r>
                        <a:rPr lang="en-CA" sz="1200" i="0"/>
                        <a:t>Stirred at RT for 2 h</a:t>
                      </a:r>
                    </a:p>
                    <a:p>
                      <a:pPr marL="285750" indent="-285750" algn="l">
                        <a:buFont typeface="Arial" panose="020B0604020202020204" pitchFamily="34" charset="0"/>
                        <a:buChar char="•"/>
                      </a:pPr>
                      <a:r>
                        <a:rPr lang="en-CA" sz="1200" i="0"/>
                        <a:t>Filtered through Celite bed (sintered funnel), washed with DCM (5 mL, 10 V)</a:t>
                      </a:r>
                    </a:p>
                    <a:p>
                      <a:pPr marL="285750" indent="-285750" algn="l">
                        <a:buFont typeface="Arial" panose="020B0604020202020204" pitchFamily="34" charset="0"/>
                        <a:buChar char="•"/>
                      </a:pPr>
                      <a:r>
                        <a:rPr lang="en-CA" sz="1200" i="0"/>
                        <a:t>Evaporated under vacuum at 40-45 °C</a:t>
                      </a:r>
                      <a:r>
                        <a:rPr lang="en-CA" sz="1200" b="0" i="0">
                          <a:solidFill>
                            <a:schemeClr val="tx1"/>
                          </a:solidFill>
                        </a:rPr>
                        <a:t>, obtained a thick brown syrup</a:t>
                      </a:r>
                    </a:p>
                    <a:p>
                      <a:pPr marL="285750" indent="-285750" algn="l">
                        <a:buFont typeface="Arial" panose="020B0604020202020204" pitchFamily="34" charset="0"/>
                        <a:buChar char="•"/>
                      </a:pPr>
                      <a:r>
                        <a:rPr lang="en-CA" sz="1200" b="0" i="0">
                          <a:solidFill>
                            <a:schemeClr val="tx1"/>
                          </a:solidFill>
                        </a:rPr>
                        <a:t>Slowly added MTBE (10 V) at RT, solid crystallized</a:t>
                      </a:r>
                    </a:p>
                    <a:p>
                      <a:pPr marL="285750" indent="-285750" algn="l">
                        <a:buFont typeface="Arial" panose="020B0604020202020204" pitchFamily="34" charset="0"/>
                        <a:buChar char="•"/>
                      </a:pPr>
                      <a:r>
                        <a:rPr lang="en-CA" sz="1200" b="0" i="0">
                          <a:solidFill>
                            <a:schemeClr val="tx1"/>
                          </a:solidFill>
                        </a:rPr>
                        <a:t>Stirred at RT for 1 h</a:t>
                      </a:r>
                    </a:p>
                    <a:p>
                      <a:pPr marL="285750" indent="-285750" algn="l">
                        <a:buFont typeface="Arial" panose="020B0604020202020204" pitchFamily="34" charset="0"/>
                        <a:buChar char="•"/>
                      </a:pPr>
                      <a:r>
                        <a:rPr lang="en-CA" sz="1200" i="0"/>
                        <a:t>Filtered and washed with MTBE (2 mL, 4 V)</a:t>
                      </a:r>
                    </a:p>
                    <a:p>
                      <a:pPr marL="285750" indent="-285750" algn="l">
                        <a:buFont typeface="Arial" panose="020B0604020202020204" pitchFamily="34" charset="0"/>
                        <a:buChar char="•"/>
                      </a:pPr>
                      <a:r>
                        <a:rPr lang="en-CA" sz="1200" i="0"/>
                        <a:t>Dried under vacuum at 45-50 °C</a:t>
                      </a:r>
                    </a:p>
                    <a:p>
                      <a:pPr marL="285750" indent="-285750" algn="l">
                        <a:buFont typeface="Arial" panose="020B0604020202020204" pitchFamily="34" charset="0"/>
                        <a:buChar char="•"/>
                      </a:pPr>
                      <a:r>
                        <a:rPr lang="en-CA" sz="1200" b="1" i="0">
                          <a:solidFill>
                            <a:srgbClr val="0000FF"/>
                          </a:solidFill>
                        </a:rPr>
                        <a:t>Dry solid </a:t>
                      </a:r>
                      <a:r>
                        <a:rPr lang="en-CA" sz="1200" b="1" i="0" err="1">
                          <a:solidFill>
                            <a:srgbClr val="0000FF"/>
                          </a:solidFill>
                        </a:rPr>
                        <a:t>wt</a:t>
                      </a:r>
                      <a:r>
                        <a:rPr lang="en-CA" sz="1200" b="1" i="0">
                          <a:solidFill>
                            <a:srgbClr val="0000FF"/>
                          </a:solidFill>
                        </a:rPr>
                        <a:t>: 552 mg </a:t>
                      </a:r>
                    </a:p>
                    <a:p>
                      <a:pPr marL="285750" indent="-285750" algn="l">
                        <a:buFont typeface="Arial" panose="020B0604020202020204" pitchFamily="34" charset="0"/>
                        <a:buChar char="•"/>
                      </a:pPr>
                      <a:r>
                        <a:rPr lang="en-CA" sz="1200" b="1" i="0">
                          <a:solidFill>
                            <a:srgbClr val="0000FF"/>
                          </a:solidFill>
                        </a:rPr>
                        <a:t>Sample sent for IPC analysis to check Pd content</a:t>
                      </a: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10588666"/>
                  </a:ext>
                </a:extLst>
              </a:tr>
              <a:tr h="1653229">
                <a:tc>
                  <a:txBody>
                    <a:bodyPr/>
                    <a:lstStyle/>
                    <a:p>
                      <a:pPr algn="ctr"/>
                      <a:r>
                        <a:rPr lang="en-US" sz="1600"/>
                        <a:t>6</a:t>
                      </a:r>
                      <a:endParaRPr lang="en-CA" sz="1600"/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CA" sz="1400">
                          <a:solidFill>
                            <a:srgbClr val="3333FF"/>
                          </a:solidFill>
                        </a:rPr>
                        <a:t>~0.5 g</a:t>
                      </a: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CA" sz="1400"/>
                        <a:t>Step-2 crude (</a:t>
                      </a:r>
                      <a:r>
                        <a:rPr lang="en-CA" sz="1400" i="0"/>
                        <a:t>Compound-</a:t>
                      </a:r>
                      <a:r>
                        <a:rPr lang="en-CA" sz="1400" b="1" i="0"/>
                        <a:t>5, </a:t>
                      </a:r>
                      <a:r>
                        <a:rPr lang="en-CA" sz="1400" b="1">
                          <a:solidFill>
                            <a:srgbClr val="3333FF"/>
                          </a:solidFill>
                        </a:rPr>
                        <a:t>3.5 g ~0.5 g</a:t>
                      </a:r>
                      <a:r>
                        <a:rPr lang="en-CA" sz="1400"/>
                        <a:t>), </a:t>
                      </a:r>
                      <a:r>
                        <a:rPr lang="en-CA" sz="1400" err="1"/>
                        <a:t>SiliaMetS</a:t>
                      </a:r>
                      <a:r>
                        <a:rPr lang="en-CA" sz="1400"/>
                        <a:t> Thiol (</a:t>
                      </a:r>
                      <a:r>
                        <a:rPr lang="en-CA" sz="1400" b="1">
                          <a:solidFill>
                            <a:srgbClr val="3333FF"/>
                          </a:solidFill>
                        </a:rPr>
                        <a:t>150 mg, 30 </a:t>
                      </a:r>
                      <a:r>
                        <a:rPr lang="en-CA" sz="1400" b="1" err="1">
                          <a:solidFill>
                            <a:srgbClr val="3333FF"/>
                          </a:solidFill>
                        </a:rPr>
                        <a:t>wt</a:t>
                      </a:r>
                      <a:r>
                        <a:rPr lang="en-CA" sz="1400" b="1">
                          <a:solidFill>
                            <a:srgbClr val="3333FF"/>
                          </a:solidFill>
                        </a:rPr>
                        <a:t> %</a:t>
                      </a:r>
                      <a:r>
                        <a:rPr lang="en-CA" sz="1400"/>
                        <a:t>), DCM (5 mL, 10 V), 20-25 °C, 2 h.</a:t>
                      </a: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285750" marR="0" lvl="0" indent="-285750" algn="l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</a:pPr>
                      <a:r>
                        <a:rPr lang="en-CA" sz="1200" i="0" err="1"/>
                        <a:t>Charged</a:t>
                      </a:r>
                      <a:r>
                        <a:rPr lang="en-CA" sz="1200" b="1" i="0" err="1">
                          <a:solidFill>
                            <a:srgbClr val="0000FF"/>
                          </a:solidFill>
                        </a:rPr>
                        <a:t>Sent</a:t>
                      </a:r>
                      <a:r>
                        <a:rPr lang="en-CA" sz="1200" i="0"/>
                        <a:t> </a:t>
                      </a:r>
                      <a:r>
                        <a:rPr lang="en-CA" sz="1200" b="0" i="0" u="none" strike="noStrike" noProof="0">
                          <a:solidFill>
                            <a:srgbClr val="000000"/>
                          </a:solidFill>
                          <a:latin typeface="Calibri"/>
                        </a:rPr>
                        <a:t>crude Intermediate-5 black semi solid </a:t>
                      </a:r>
                      <a:r>
                        <a:rPr lang="en-CA" sz="1200" i="0"/>
                        <a:t>(</a:t>
                      </a:r>
                      <a:r>
                        <a:rPr lang="en-CA" sz="1200" b="0" i="0"/>
                        <a:t>3.5 g, containing ~0.5 g </a:t>
                      </a:r>
                      <a:r>
                        <a:rPr lang="en-CA" sz="1200" i="0"/>
                        <a:t>Compound-</a:t>
                      </a:r>
                      <a:r>
                        <a:rPr lang="en-CA" sz="1200" b="1" i="0"/>
                        <a:t>5</a:t>
                      </a:r>
                      <a:r>
                        <a:rPr lang="en-CA" sz="1200" b="0" i="0"/>
                        <a:t>)</a:t>
                      </a:r>
                      <a:r>
                        <a:rPr lang="en-CA" sz="1200" b="0"/>
                        <a:t> </a:t>
                      </a:r>
                      <a:r>
                        <a:rPr lang="en-CA" sz="1200"/>
                        <a:t>&amp; DCM (5 mL, 10 V) in a 50 mL RBF</a:t>
                      </a:r>
                      <a:endParaRPr lang="en-CA" sz="1200" i="0"/>
                    </a:p>
                    <a:p>
                      <a:pPr marL="285750" indent="-285750" algn="l">
                        <a:buFont typeface="Arial" panose="020B0604020202020204" pitchFamily="34" charset="0"/>
                        <a:buChar char="•"/>
                      </a:pPr>
                      <a:r>
                        <a:rPr lang="en-CA" sz="1200" i="0"/>
                        <a:t>Added </a:t>
                      </a:r>
                      <a:r>
                        <a:rPr lang="en-CA" sz="1200" i="0" err="1"/>
                        <a:t>SiliaMetS</a:t>
                      </a:r>
                      <a:r>
                        <a:rPr lang="en-CA" sz="1200" i="0"/>
                        <a:t> Thiol solid (150 mg, 30 </a:t>
                      </a:r>
                      <a:r>
                        <a:rPr lang="en-CA" sz="1200" i="0" err="1"/>
                        <a:t>wt</a:t>
                      </a:r>
                      <a:r>
                        <a:rPr lang="en-CA" sz="1200" i="0"/>
                        <a:t> %) at RT</a:t>
                      </a:r>
                    </a:p>
                    <a:p>
                      <a:pPr marL="285750" indent="-285750" algn="l">
                        <a:buFont typeface="Arial" panose="020B0604020202020204" pitchFamily="34" charset="0"/>
                        <a:buChar char="•"/>
                      </a:pPr>
                      <a:r>
                        <a:rPr lang="en-CA" sz="1200" i="0"/>
                        <a:t>Stirred at RT for 2 h</a:t>
                      </a:r>
                    </a:p>
                    <a:p>
                      <a:pPr marL="285750" indent="-285750" algn="l">
                        <a:buFont typeface="Arial" panose="020B0604020202020204" pitchFamily="34" charset="0"/>
                        <a:buChar char="•"/>
                      </a:pPr>
                      <a:r>
                        <a:rPr lang="en-CA" sz="1200" i="0"/>
                        <a:t>Filtered through Celite bed (sintered funnel), washed with DCM (5 mL, 10 V)</a:t>
                      </a:r>
                    </a:p>
                    <a:p>
                      <a:pPr marL="285750" indent="-285750" algn="l">
                        <a:buFont typeface="Arial" panose="020B0604020202020204" pitchFamily="34" charset="0"/>
                        <a:buChar char="•"/>
                      </a:pPr>
                      <a:r>
                        <a:rPr lang="en-CA" sz="1200" i="0"/>
                        <a:t>Evaporated under vacuum at 40-45 °C</a:t>
                      </a:r>
                      <a:r>
                        <a:rPr lang="en-CA" sz="1200" b="0" i="0">
                          <a:solidFill>
                            <a:schemeClr val="tx1"/>
                          </a:solidFill>
                        </a:rPr>
                        <a:t>, obtained a thick brown syrup</a:t>
                      </a:r>
                    </a:p>
                    <a:p>
                      <a:pPr marL="285750" indent="-285750" algn="l">
                        <a:buFont typeface="Arial" panose="020B0604020202020204" pitchFamily="34" charset="0"/>
                        <a:buChar char="•"/>
                      </a:pPr>
                      <a:r>
                        <a:rPr lang="en-CA" sz="1200" b="0" i="0">
                          <a:solidFill>
                            <a:schemeClr val="tx1"/>
                          </a:solidFill>
                        </a:rPr>
                        <a:t>Slowly added MTBE (10 V) at RT, solid crystallized</a:t>
                      </a:r>
                    </a:p>
                    <a:p>
                      <a:pPr marL="285750" indent="-285750" algn="l">
                        <a:buFont typeface="Arial" panose="020B0604020202020204" pitchFamily="34" charset="0"/>
                        <a:buChar char="•"/>
                      </a:pPr>
                      <a:r>
                        <a:rPr lang="en-CA" sz="1200" b="0" i="0">
                          <a:solidFill>
                            <a:schemeClr val="tx1"/>
                          </a:solidFill>
                        </a:rPr>
                        <a:t>Stirred at RT for 1 h</a:t>
                      </a:r>
                    </a:p>
                    <a:p>
                      <a:pPr marL="285750" indent="-285750" algn="l">
                        <a:buFont typeface="Arial" panose="020B0604020202020204" pitchFamily="34" charset="0"/>
                        <a:buChar char="•"/>
                      </a:pPr>
                      <a:r>
                        <a:rPr lang="en-CA" sz="1200" i="0"/>
                        <a:t>Filtered and washed with MTBE (2 mL, 4 V)</a:t>
                      </a:r>
                    </a:p>
                    <a:p>
                      <a:pPr marL="285750" indent="-285750" algn="l">
                        <a:buFont typeface="Arial" panose="020B0604020202020204" pitchFamily="34" charset="0"/>
                        <a:buChar char="•"/>
                      </a:pPr>
                      <a:r>
                        <a:rPr lang="en-CA" sz="1200" i="0"/>
                        <a:t>Dried under vacuum at 45-50 °C</a:t>
                      </a:r>
                    </a:p>
                    <a:p>
                      <a:pPr marL="285750" indent="-285750" algn="l">
                        <a:buFont typeface="Arial" panose="020B0604020202020204" pitchFamily="34" charset="0"/>
                        <a:buChar char="•"/>
                      </a:pPr>
                      <a:r>
                        <a:rPr lang="en-CA" sz="1200" b="1" i="0">
                          <a:solidFill>
                            <a:srgbClr val="0000FF"/>
                          </a:solidFill>
                        </a:rPr>
                        <a:t>Dry solid </a:t>
                      </a:r>
                      <a:r>
                        <a:rPr lang="en-CA" sz="1200" b="1" i="0" err="1">
                          <a:solidFill>
                            <a:srgbClr val="0000FF"/>
                          </a:solidFill>
                        </a:rPr>
                        <a:t>wt</a:t>
                      </a:r>
                      <a:r>
                        <a:rPr lang="en-CA" sz="1200" b="1" i="0">
                          <a:solidFill>
                            <a:srgbClr val="0000FF"/>
                          </a:solidFill>
                        </a:rPr>
                        <a:t>: 530 mg </a:t>
                      </a:r>
                    </a:p>
                    <a:p>
                      <a:pPr marL="285750" indent="-285750" algn="l">
                        <a:buFont typeface="Arial" panose="020B0604020202020204" pitchFamily="34" charset="0"/>
                        <a:buChar char="•"/>
                      </a:pPr>
                      <a:r>
                        <a:rPr lang="en-CA" sz="1200" b="1" i="0">
                          <a:solidFill>
                            <a:srgbClr val="0000FF"/>
                          </a:solidFill>
                        </a:rPr>
                        <a:t>Sample sent for IPC analysis to check Pd content</a:t>
                      </a: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43632547"/>
                  </a:ext>
                </a:extLst>
              </a:tr>
            </a:tbl>
          </a:graphicData>
        </a:graphic>
      </p:graphicFrame>
      <p:graphicFrame>
        <p:nvGraphicFramePr>
          <p:cNvPr id="3" name="Object 2">
            <a:extLst>
              <a:ext uri="{FF2B5EF4-FFF2-40B4-BE49-F238E27FC236}">
                <a16:creationId xmlns:a16="http://schemas.microsoft.com/office/drawing/2014/main" id="{9C5C4C43-02A9-A4BD-90BD-DF32F3A4AC7F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101503426"/>
              </p:ext>
            </p:extLst>
          </p:nvPr>
        </p:nvGraphicFramePr>
        <p:xfrm>
          <a:off x="6752978" y="448418"/>
          <a:ext cx="4293742" cy="1217219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CS ChemDraw Drawing" r:id="rId2" imgW="6283654" imgH="1592572" progId="ChemDraw.Document.6.0">
                  <p:embed/>
                </p:oleObj>
              </mc:Choice>
              <mc:Fallback>
                <p:oleObj name="CS ChemDraw Drawing" r:id="rId2" imgW="6283654" imgH="1592572" progId="ChemDraw.Document.6.0">
                  <p:embed/>
                  <p:pic>
                    <p:nvPicPr>
                      <p:cNvPr id="3" name="Object 2">
                        <a:extLst>
                          <a:ext uri="{FF2B5EF4-FFF2-40B4-BE49-F238E27FC236}">
                            <a16:creationId xmlns:a16="http://schemas.microsoft.com/office/drawing/2014/main" id="{9C5C4C43-02A9-A4BD-90BD-DF32F3A4AC7F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3"/>
                      <a:stretch>
                        <a:fillRect/>
                      </a:stretch>
                    </p:blipFill>
                    <p:spPr>
                      <a:xfrm>
                        <a:off x="6752978" y="448418"/>
                        <a:ext cx="4293742" cy="1217219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7" name="Footer Placeholder 3">
            <a:extLst>
              <a:ext uri="{FF2B5EF4-FFF2-40B4-BE49-F238E27FC236}">
                <a16:creationId xmlns:a16="http://schemas.microsoft.com/office/drawing/2014/main" id="{27A0C2F5-99FE-F294-F440-823F2D4EDA1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</p:spPr>
        <p:txBody>
          <a:bodyPr/>
          <a:lstStyle/>
          <a:p>
            <a:r>
              <a:rPr lang="en-CA">
                <a:latin typeface="Arial" panose="020B0604020202020204" pitchFamily="34" charset="0"/>
                <a:cs typeface="Arial" panose="020B0604020202020204" pitchFamily="34" charset="0"/>
              </a:rPr>
              <a:t>CONFIDENTIAL</a:t>
            </a:r>
          </a:p>
        </p:txBody>
      </p:sp>
      <p:sp>
        <p:nvSpPr>
          <p:cNvPr id="8" name="Slide Number Placeholder 4">
            <a:extLst>
              <a:ext uri="{FF2B5EF4-FFF2-40B4-BE49-F238E27FC236}">
                <a16:creationId xmlns:a16="http://schemas.microsoft.com/office/drawing/2014/main" id="{F32CB2D4-B134-6758-4E11-1102258F897D}"/>
              </a:ext>
            </a:extLst>
          </p:cNvPr>
          <p:cNvSpPr>
            <a:spLocks noGrp="1"/>
          </p:cNvSpPr>
          <p:nvPr/>
        </p:nvSpPr>
        <p:spPr>
          <a:xfrm>
            <a:off x="8899849" y="6492875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8483A229-2BE2-4044-957D-22ED1E4A33A3}" type="slidenum">
              <a:rPr lang="en-US" smtClean="0">
                <a:latin typeface="Arial" panose="020B0604020202020204" pitchFamily="34" charset="0"/>
                <a:cs typeface="Arial" panose="020B0604020202020204" pitchFamily="34" charset="0"/>
              </a:rPr>
              <a:pPr/>
              <a:t>19</a:t>
            </a:fld>
            <a:endParaRPr lang="en-US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092512402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95AF1DA-05F1-D297-8D8C-E58697DEB7A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>
            <a:extLst>
              <a:ext uri="{FF2B5EF4-FFF2-40B4-BE49-F238E27FC236}">
                <a16:creationId xmlns:a16="http://schemas.microsoft.com/office/drawing/2014/main" id="{E42638A7-4B27-82EA-EAA4-83577BB4305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35563" y="-359111"/>
            <a:ext cx="10515600" cy="1325563"/>
          </a:xfrm>
        </p:spPr>
        <p:txBody>
          <a:bodyPr>
            <a:normAutofit/>
          </a:bodyPr>
          <a:lstStyle/>
          <a:p>
            <a:pPr algn="ctr"/>
            <a:r>
              <a:rPr lang="en-CA" sz="2800" b="1">
                <a:latin typeface="+mn-lt"/>
                <a:cs typeface="Arial" panose="020B0604020202020204" pitchFamily="34" charset="0"/>
              </a:rPr>
              <a:t>GLCRCI-11062025R1</a:t>
            </a:r>
          </a:p>
        </p:txBody>
      </p:sp>
      <p:sp>
        <p:nvSpPr>
          <p:cNvPr id="7" name="Footer Placeholder 3">
            <a:extLst>
              <a:ext uri="{FF2B5EF4-FFF2-40B4-BE49-F238E27FC236}">
                <a16:creationId xmlns:a16="http://schemas.microsoft.com/office/drawing/2014/main" id="{1CF3EC37-793C-B355-064C-A1911695AFD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</p:spPr>
        <p:txBody>
          <a:bodyPr/>
          <a:lstStyle/>
          <a:p>
            <a:r>
              <a:rPr lang="en-CA">
                <a:latin typeface="Arial" panose="020B0604020202020204" pitchFamily="34" charset="0"/>
                <a:cs typeface="Arial" panose="020B0604020202020204" pitchFamily="34" charset="0"/>
              </a:rPr>
              <a:t>CONFIDENTIAL</a:t>
            </a:r>
          </a:p>
        </p:txBody>
      </p:sp>
      <p:sp>
        <p:nvSpPr>
          <p:cNvPr id="8" name="Slide Number Placeholder 4">
            <a:extLst>
              <a:ext uri="{FF2B5EF4-FFF2-40B4-BE49-F238E27FC236}">
                <a16:creationId xmlns:a16="http://schemas.microsoft.com/office/drawing/2014/main" id="{7D657F70-198C-D8EA-90F1-9DEF062FCE89}"/>
              </a:ext>
            </a:extLst>
          </p:cNvPr>
          <p:cNvSpPr>
            <a:spLocks noGrp="1"/>
          </p:cNvSpPr>
          <p:nvPr/>
        </p:nvSpPr>
        <p:spPr>
          <a:xfrm>
            <a:off x="8899849" y="6492875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8483A229-2BE2-4044-957D-22ED1E4A33A3}" type="slidenum">
              <a:rPr lang="en-US" smtClean="0">
                <a:latin typeface="Arial" panose="020B0604020202020204" pitchFamily="34" charset="0"/>
                <a:cs typeface="Arial" panose="020B0604020202020204" pitchFamily="34" charset="0"/>
              </a:rPr>
              <a:pPr/>
              <a:t>20</a:t>
            </a:fld>
            <a:endParaRPr lang="en-US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DFB318F-146F-E392-4847-3D2AAAEA8BE9}"/>
              </a:ext>
            </a:extLst>
          </p:cNvPr>
          <p:cNvSpPr txBox="1">
            <a:spLocks/>
          </p:cNvSpPr>
          <p:nvPr/>
        </p:nvSpPr>
        <p:spPr>
          <a:xfrm>
            <a:off x="838200" y="488337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endParaRPr lang="en-US" sz="1800" b="1" i="0" u="none" strike="noStrike" baseline="0">
              <a:solidFill>
                <a:srgbClr val="000000"/>
              </a:solidFill>
              <a:latin typeface="Arial" panose="020B0604020202020204" pitchFamily="34" charset="0"/>
            </a:endParaRPr>
          </a:p>
          <a:p>
            <a:endParaRPr lang="en-US" sz="1800" b="1" i="0" u="none" strike="noStrike" baseline="0">
              <a:solidFill>
                <a:srgbClr val="000000"/>
              </a:solidFill>
              <a:latin typeface="Arial" panose="020B0604020202020204" pitchFamily="34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E5D72751-9C94-901D-D724-03AB065D8AFF}"/>
              </a:ext>
            </a:extLst>
          </p:cNvPr>
          <p:cNvSpPr txBox="1"/>
          <p:nvPr/>
        </p:nvSpPr>
        <p:spPr>
          <a:xfrm>
            <a:off x="-1" y="606490"/>
            <a:ext cx="7147249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800" b="1"/>
              <a:t>Step 2: </a:t>
            </a:r>
            <a:r>
              <a:rPr lang="en-US" sz="1800" b="1" err="1">
                <a:solidFill>
                  <a:srgbClr val="3333FF"/>
                </a:solidFill>
              </a:rPr>
              <a:t>SiliaMetS</a:t>
            </a:r>
            <a:r>
              <a:rPr lang="en-US" sz="1800" b="1">
                <a:solidFill>
                  <a:srgbClr val="3333FF"/>
                </a:solidFill>
              </a:rPr>
              <a:t> Thiol Scavenger 50% </a:t>
            </a:r>
            <a:r>
              <a:rPr lang="en-US" sz="1800" b="1"/>
              <a:t>treatment in DCM for </a:t>
            </a:r>
            <a:r>
              <a:rPr lang="en-US" sz="1800" b="1">
                <a:solidFill>
                  <a:srgbClr val="3333FF"/>
                </a:solidFill>
              </a:rPr>
              <a:t>Pd </a:t>
            </a:r>
            <a:r>
              <a:rPr lang="en-US" sz="1800" b="1"/>
              <a:t>Remediatio</a:t>
            </a:r>
            <a:r>
              <a:rPr lang="en-US" b="1"/>
              <a:t>n</a:t>
            </a:r>
            <a:endParaRPr lang="en-US" sz="1800" b="1"/>
          </a:p>
        </p:txBody>
      </p:sp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76F6519B-95E6-97DA-800D-81C3074C623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203041506"/>
              </p:ext>
            </p:extLst>
          </p:nvPr>
        </p:nvGraphicFramePr>
        <p:xfrm>
          <a:off x="187086" y="1795901"/>
          <a:ext cx="11817827" cy="262128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626575">
                  <a:extLst>
                    <a:ext uri="{9D8B030D-6E8A-4147-A177-3AD203B41FA5}">
                      <a16:colId xmlns:a16="http://schemas.microsoft.com/office/drawing/2014/main" val="2967325160"/>
                    </a:ext>
                  </a:extLst>
                </a:gridCol>
                <a:gridCol w="1048877">
                  <a:extLst>
                    <a:ext uri="{9D8B030D-6E8A-4147-A177-3AD203B41FA5}">
                      <a16:colId xmlns:a16="http://schemas.microsoft.com/office/drawing/2014/main" val="1058054721"/>
                    </a:ext>
                  </a:extLst>
                </a:gridCol>
                <a:gridCol w="4236097">
                  <a:extLst>
                    <a:ext uri="{9D8B030D-6E8A-4147-A177-3AD203B41FA5}">
                      <a16:colId xmlns:a16="http://schemas.microsoft.com/office/drawing/2014/main" val="2257075883"/>
                    </a:ext>
                  </a:extLst>
                </a:gridCol>
                <a:gridCol w="5906278">
                  <a:extLst>
                    <a:ext uri="{9D8B030D-6E8A-4147-A177-3AD203B41FA5}">
                      <a16:colId xmlns:a16="http://schemas.microsoft.com/office/drawing/2014/main" val="1958950006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en-CA" sz="1600" b="1"/>
                        <a:t>No.</a:t>
                      </a:r>
                    </a:p>
                  </a:txBody>
                  <a:tcPr>
                    <a:solidFill>
                      <a:srgbClr val="AACDC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CA" sz="1600" b="1"/>
                        <a:t>Scale</a:t>
                      </a:r>
                    </a:p>
                  </a:txBody>
                  <a:tcPr>
                    <a:solidFill>
                      <a:srgbClr val="AACDC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CA" sz="1600" b="1"/>
                        <a:t>Description (in order of addition)</a:t>
                      </a:r>
                    </a:p>
                  </a:txBody>
                  <a:tcPr>
                    <a:solidFill>
                      <a:srgbClr val="AACDC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CA" sz="1600" b="1"/>
                        <a:t>Comments</a:t>
                      </a:r>
                    </a:p>
                  </a:txBody>
                  <a:tcPr>
                    <a:solidFill>
                      <a:srgbClr val="AACDC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4076925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en-US" sz="1600"/>
                        <a:t>7</a:t>
                      </a:r>
                      <a:endParaRPr lang="en-CA" sz="1600"/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CA" sz="1400">
                          <a:solidFill>
                            <a:srgbClr val="3333FF"/>
                          </a:solidFill>
                        </a:rPr>
                        <a:t>0.5 g</a:t>
                      </a: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CA" sz="1400"/>
                        <a:t>Step-2 crude (</a:t>
                      </a:r>
                      <a:r>
                        <a:rPr lang="en-CA" sz="1400" i="0"/>
                        <a:t>Compound-</a:t>
                      </a:r>
                      <a:r>
                        <a:rPr lang="en-CA" sz="1400" b="1" i="0"/>
                        <a:t>5, </a:t>
                      </a:r>
                      <a:r>
                        <a:rPr lang="en-CA" sz="1400" b="1">
                          <a:solidFill>
                            <a:srgbClr val="3333FF"/>
                          </a:solidFill>
                        </a:rPr>
                        <a:t>3.5 g ~0.5 g</a:t>
                      </a:r>
                      <a:r>
                        <a:rPr lang="en-CA" sz="1400"/>
                        <a:t>), </a:t>
                      </a:r>
                      <a:r>
                        <a:rPr lang="en-CA" sz="1400" err="1"/>
                        <a:t>SiliaMetS</a:t>
                      </a:r>
                      <a:r>
                        <a:rPr lang="en-CA" sz="1400"/>
                        <a:t> Thiol (</a:t>
                      </a:r>
                      <a:r>
                        <a:rPr lang="en-CA" sz="1400" b="1">
                          <a:solidFill>
                            <a:srgbClr val="3333FF"/>
                          </a:solidFill>
                        </a:rPr>
                        <a:t>250 mg, 50 </a:t>
                      </a:r>
                      <a:r>
                        <a:rPr lang="en-CA" sz="1400" b="1" err="1">
                          <a:solidFill>
                            <a:srgbClr val="3333FF"/>
                          </a:solidFill>
                        </a:rPr>
                        <a:t>wt</a:t>
                      </a:r>
                      <a:r>
                        <a:rPr lang="en-CA" sz="1400" b="1">
                          <a:solidFill>
                            <a:srgbClr val="3333FF"/>
                          </a:solidFill>
                        </a:rPr>
                        <a:t>%</a:t>
                      </a:r>
                      <a:r>
                        <a:rPr lang="en-CA" sz="1400"/>
                        <a:t>), DCM (5 mL, 10 V), 20-25 °C, 2 h.</a:t>
                      </a: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285750" indent="-285750" algn="l">
                        <a:buFont typeface="Arial" panose="020B0604020202020204" pitchFamily="34" charset="0"/>
                        <a:buChar char="•"/>
                      </a:pPr>
                      <a:r>
                        <a:rPr lang="en-CA" sz="1200" i="0"/>
                        <a:t>Charged </a:t>
                      </a:r>
                      <a:r>
                        <a:rPr lang="en-CA" sz="1200" b="0" i="0" u="none" strike="noStrike" noProof="0">
                          <a:solidFill>
                            <a:srgbClr val="000000"/>
                          </a:solidFill>
                          <a:latin typeface="Calibri"/>
                        </a:rPr>
                        <a:t>crude Intermediate-5 black semi solid </a:t>
                      </a:r>
                      <a:r>
                        <a:rPr lang="en-CA" sz="1200" i="0"/>
                        <a:t>(</a:t>
                      </a:r>
                      <a:r>
                        <a:rPr lang="en-CA" sz="1200" b="0" i="0"/>
                        <a:t>3.5 g, containing ~0.5 g </a:t>
                      </a:r>
                      <a:r>
                        <a:rPr lang="en-CA" sz="1200" i="0"/>
                        <a:t>Compound-</a:t>
                      </a:r>
                      <a:r>
                        <a:rPr lang="en-CA" sz="1200" b="1" i="0"/>
                        <a:t>5</a:t>
                      </a:r>
                      <a:r>
                        <a:rPr lang="en-CA" sz="1200" b="0" i="0"/>
                        <a:t>)</a:t>
                      </a:r>
                      <a:r>
                        <a:rPr lang="en-CA" sz="1200" b="0"/>
                        <a:t> </a:t>
                      </a:r>
                      <a:r>
                        <a:rPr lang="en-CA" sz="1200"/>
                        <a:t>&amp; DCM (5 mL, 10 V) in a 50 mL RBF</a:t>
                      </a:r>
                      <a:endParaRPr lang="en-CA" sz="1200" i="0"/>
                    </a:p>
                    <a:p>
                      <a:pPr marL="285750" indent="-285750" algn="l">
                        <a:buFont typeface="Arial" panose="020B0604020202020204" pitchFamily="34" charset="0"/>
                        <a:buChar char="•"/>
                      </a:pPr>
                      <a:r>
                        <a:rPr lang="en-CA" sz="1200" i="0"/>
                        <a:t>Added </a:t>
                      </a:r>
                      <a:r>
                        <a:rPr lang="en-CA" sz="1200" i="0" err="1"/>
                        <a:t>SiliaMetS</a:t>
                      </a:r>
                      <a:r>
                        <a:rPr lang="en-CA" sz="1200" i="0"/>
                        <a:t> Thiol solid (250 mg, 50 </a:t>
                      </a:r>
                      <a:r>
                        <a:rPr lang="en-CA" sz="1200" i="0" err="1"/>
                        <a:t>wt</a:t>
                      </a:r>
                      <a:r>
                        <a:rPr lang="en-CA" sz="1200" i="0"/>
                        <a:t>%) at RT</a:t>
                      </a:r>
                    </a:p>
                    <a:p>
                      <a:pPr marL="285750" indent="-285750" algn="l">
                        <a:buFont typeface="Arial" panose="020B0604020202020204" pitchFamily="34" charset="0"/>
                        <a:buChar char="•"/>
                      </a:pPr>
                      <a:r>
                        <a:rPr lang="en-CA" sz="1200" i="0"/>
                        <a:t>Stirred at RT for 2 h</a:t>
                      </a:r>
                    </a:p>
                    <a:p>
                      <a:pPr marL="285750" indent="-285750" algn="l">
                        <a:buFont typeface="Arial" panose="020B0604020202020204" pitchFamily="34" charset="0"/>
                        <a:buChar char="•"/>
                      </a:pPr>
                      <a:r>
                        <a:rPr lang="en-CA" sz="1200" i="0"/>
                        <a:t>Filtered through Celite bed (sintered funnel), washed with DCM (5 mL, 10 V)</a:t>
                      </a:r>
                    </a:p>
                    <a:p>
                      <a:pPr marL="285750" indent="-285750" algn="l">
                        <a:buFont typeface="Arial" panose="020B0604020202020204" pitchFamily="34" charset="0"/>
                        <a:buChar char="•"/>
                      </a:pPr>
                      <a:r>
                        <a:rPr lang="en-CA" sz="1200" i="0"/>
                        <a:t>Evaporated under vacuum at 40-45 °C</a:t>
                      </a:r>
                      <a:r>
                        <a:rPr lang="en-CA" sz="1200" b="0" i="0">
                          <a:solidFill>
                            <a:schemeClr val="tx1"/>
                          </a:solidFill>
                        </a:rPr>
                        <a:t>, obtained a thick brown syrup</a:t>
                      </a:r>
                    </a:p>
                    <a:p>
                      <a:pPr marL="285750" indent="-285750" algn="l">
                        <a:buFont typeface="Arial" panose="020B0604020202020204" pitchFamily="34" charset="0"/>
                        <a:buChar char="•"/>
                      </a:pPr>
                      <a:r>
                        <a:rPr lang="en-CA" sz="1200" b="0" i="0">
                          <a:solidFill>
                            <a:schemeClr val="tx1"/>
                          </a:solidFill>
                        </a:rPr>
                        <a:t>Slowly added MTBE (10 V) at RT, solid crystallized</a:t>
                      </a:r>
                    </a:p>
                    <a:p>
                      <a:pPr marL="285750" indent="-285750" algn="l">
                        <a:buFont typeface="Arial" panose="020B0604020202020204" pitchFamily="34" charset="0"/>
                        <a:buChar char="•"/>
                      </a:pPr>
                      <a:r>
                        <a:rPr lang="en-CA" sz="1200" b="0" i="0">
                          <a:solidFill>
                            <a:schemeClr val="tx1"/>
                          </a:solidFill>
                        </a:rPr>
                        <a:t>Stirred at RT for 1 h</a:t>
                      </a:r>
                    </a:p>
                    <a:p>
                      <a:pPr marL="285750" indent="-285750" algn="l">
                        <a:buFont typeface="Arial" panose="020B0604020202020204" pitchFamily="34" charset="0"/>
                        <a:buChar char="•"/>
                      </a:pPr>
                      <a:r>
                        <a:rPr lang="en-CA" sz="1200" i="0"/>
                        <a:t>Filtered and washed with MTBE (2mL, 4 V)</a:t>
                      </a:r>
                    </a:p>
                    <a:p>
                      <a:pPr marL="285750" indent="-285750" algn="l">
                        <a:buFont typeface="Arial" panose="020B0604020202020204" pitchFamily="34" charset="0"/>
                        <a:buChar char="•"/>
                      </a:pPr>
                      <a:r>
                        <a:rPr lang="en-CA" sz="1200" i="0"/>
                        <a:t>Dried under vacuum at 45-50 °C</a:t>
                      </a:r>
                    </a:p>
                    <a:p>
                      <a:pPr marL="285750" indent="-285750" algn="l">
                        <a:buFont typeface="Arial" panose="020B0604020202020204" pitchFamily="34" charset="0"/>
                        <a:buChar char="•"/>
                      </a:pPr>
                      <a:r>
                        <a:rPr lang="en-CA" sz="1200" b="1" i="0">
                          <a:solidFill>
                            <a:srgbClr val="0000FF"/>
                          </a:solidFill>
                        </a:rPr>
                        <a:t>Dry solid </a:t>
                      </a:r>
                      <a:r>
                        <a:rPr lang="en-CA" sz="1200" b="1" i="0" err="1">
                          <a:solidFill>
                            <a:srgbClr val="0000FF"/>
                          </a:solidFill>
                        </a:rPr>
                        <a:t>wt</a:t>
                      </a:r>
                      <a:r>
                        <a:rPr lang="en-CA" sz="1200" b="1" i="0">
                          <a:solidFill>
                            <a:srgbClr val="0000FF"/>
                          </a:solidFill>
                        </a:rPr>
                        <a:t>: 523 mg </a:t>
                      </a:r>
                    </a:p>
                    <a:p>
                      <a:pPr marL="285750" indent="-285750" algn="l">
                        <a:buFont typeface="Arial" panose="020B0604020202020204" pitchFamily="34" charset="0"/>
                        <a:buChar char="•"/>
                      </a:pPr>
                      <a:r>
                        <a:rPr lang="en-CA" sz="1200" b="1" i="0">
                          <a:solidFill>
                            <a:srgbClr val="0000FF"/>
                          </a:solidFill>
                        </a:rPr>
                        <a:t>Sample sent for IPC analysis to check Pd content</a:t>
                      </a: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10588666"/>
                  </a:ext>
                </a:extLst>
              </a:tr>
            </a:tbl>
          </a:graphicData>
        </a:graphic>
      </p:graphicFrame>
      <p:graphicFrame>
        <p:nvGraphicFramePr>
          <p:cNvPr id="3" name="Object 2">
            <a:extLst>
              <a:ext uri="{FF2B5EF4-FFF2-40B4-BE49-F238E27FC236}">
                <a16:creationId xmlns:a16="http://schemas.microsoft.com/office/drawing/2014/main" id="{369D95EA-8DDD-ED8C-9195-957245AE18FB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610029141"/>
              </p:ext>
            </p:extLst>
          </p:nvPr>
        </p:nvGraphicFramePr>
        <p:xfrm>
          <a:off x="6188119" y="578682"/>
          <a:ext cx="4803342" cy="1217219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CS ChemDraw Drawing" r:id="rId2" imgW="6283654" imgH="1592572" progId="ChemDraw.Document.6.0">
                  <p:embed/>
                </p:oleObj>
              </mc:Choice>
              <mc:Fallback>
                <p:oleObj name="CS ChemDraw Drawing" r:id="rId2" imgW="6283654" imgH="1592572" progId="ChemDraw.Document.6.0">
                  <p:embed/>
                  <p:pic>
                    <p:nvPicPr>
                      <p:cNvPr id="3" name="Object 2">
                        <a:extLst>
                          <a:ext uri="{FF2B5EF4-FFF2-40B4-BE49-F238E27FC236}">
                            <a16:creationId xmlns:a16="http://schemas.microsoft.com/office/drawing/2014/main" id="{369D95EA-8DDD-ED8C-9195-957245AE18FB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3"/>
                      <a:stretch>
                        <a:fillRect/>
                      </a:stretch>
                    </p:blipFill>
                    <p:spPr>
                      <a:xfrm>
                        <a:off x="6188119" y="578682"/>
                        <a:ext cx="4803342" cy="1217219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2045860564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>
            <a:extLst>
              <a:ext uri="{FF2B5EF4-FFF2-40B4-BE49-F238E27FC236}">
                <a16:creationId xmlns:a16="http://schemas.microsoft.com/office/drawing/2014/main" id="{0F8C9FBC-FFF7-6FB7-B395-4A8787C16EE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0"/>
            <a:ext cx="10515600" cy="1325563"/>
          </a:xfrm>
        </p:spPr>
        <p:txBody>
          <a:bodyPr>
            <a:normAutofit/>
          </a:bodyPr>
          <a:lstStyle/>
          <a:p>
            <a:pPr algn="ctr"/>
            <a:r>
              <a:rPr lang="en-CA" sz="2800" b="1">
                <a:latin typeface="Arial" panose="020B0604020202020204" pitchFamily="34" charset="0"/>
                <a:cs typeface="Arial" panose="020B0604020202020204" pitchFamily="34" charset="0"/>
              </a:rPr>
              <a:t>GLCRCI-11062025R1</a:t>
            </a:r>
            <a:br>
              <a:rPr lang="en-CA" sz="2800" b="1"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en-CA" sz="2800" b="1">
                <a:latin typeface="Arial" panose="020B0604020202020204" pitchFamily="34" charset="0"/>
                <a:cs typeface="Arial" panose="020B0604020202020204" pitchFamily="34" charset="0"/>
              </a:rPr>
              <a:t>Gantt Chart</a:t>
            </a:r>
            <a:endParaRPr lang="en-CA" sz="280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7" name="Footer Placeholder 3">
            <a:extLst>
              <a:ext uri="{FF2B5EF4-FFF2-40B4-BE49-F238E27FC236}">
                <a16:creationId xmlns:a16="http://schemas.microsoft.com/office/drawing/2014/main" id="{34DA9570-8B40-FF0C-3619-CD83F9EB4BC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</p:spPr>
        <p:txBody>
          <a:bodyPr/>
          <a:lstStyle/>
          <a:p>
            <a:r>
              <a:rPr lang="en-CA">
                <a:latin typeface="Arial" panose="020B0604020202020204" pitchFamily="34" charset="0"/>
                <a:cs typeface="Arial" panose="020B0604020202020204" pitchFamily="34" charset="0"/>
              </a:rPr>
              <a:t>CONFIDENTIAL</a:t>
            </a:r>
          </a:p>
        </p:txBody>
      </p:sp>
      <p:sp>
        <p:nvSpPr>
          <p:cNvPr id="8" name="Slide Number Placeholder 4">
            <a:extLst>
              <a:ext uri="{FF2B5EF4-FFF2-40B4-BE49-F238E27FC236}">
                <a16:creationId xmlns:a16="http://schemas.microsoft.com/office/drawing/2014/main" id="{78D780B3-525E-6CB8-F5FC-73C6F132467E}"/>
              </a:ext>
            </a:extLst>
          </p:cNvPr>
          <p:cNvSpPr>
            <a:spLocks noGrp="1"/>
          </p:cNvSpPr>
          <p:nvPr/>
        </p:nvSpPr>
        <p:spPr>
          <a:xfrm>
            <a:off x="8899849" y="6492875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8483A229-2BE2-4044-957D-22ED1E4A33A3}" type="slidenum">
              <a:rPr lang="en-US" smtClean="0">
                <a:latin typeface="Arial" panose="020B0604020202020204" pitchFamily="34" charset="0"/>
                <a:cs typeface="Arial" panose="020B0604020202020204" pitchFamily="34" charset="0"/>
              </a:rPr>
              <a:pPr/>
              <a:t>21</a:t>
            </a:fld>
            <a:endParaRPr lang="en-US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F5481540-E926-0275-F548-F01B77717B9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00050" y="1908876"/>
            <a:ext cx="11391900" cy="258304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35054651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9C0FC83D-366C-DD34-D09A-FE12373962CC}"/>
              </a:ext>
            </a:extLst>
          </p:cNvPr>
          <p:cNvSpPr txBox="1"/>
          <p:nvPr/>
        </p:nvSpPr>
        <p:spPr>
          <a:xfrm>
            <a:off x="2760306" y="3013788"/>
            <a:ext cx="6671388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CA" sz="4000" b="1"/>
              <a:t>Thank You!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AC679016-C5DE-ED2B-3F6E-614ED92BECC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</p:spPr>
        <p:txBody>
          <a:bodyPr/>
          <a:lstStyle/>
          <a:p>
            <a:r>
              <a:rPr lang="en-CA">
                <a:latin typeface="Arial" panose="020B0604020202020204" pitchFamily="34" charset="0"/>
                <a:cs typeface="Arial" panose="020B0604020202020204" pitchFamily="34" charset="0"/>
              </a:rPr>
              <a:t>CONFIDENTIAL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224F5DF-45B4-61E1-C22D-AF6F2929644E}"/>
              </a:ext>
            </a:extLst>
          </p:cNvPr>
          <p:cNvSpPr>
            <a:spLocks noGrp="1"/>
          </p:cNvSpPr>
          <p:nvPr/>
        </p:nvSpPr>
        <p:spPr>
          <a:xfrm>
            <a:off x="8899849" y="6492875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8483A229-2BE2-4044-957D-22ED1E4A33A3}" type="slidenum">
              <a:rPr lang="en-US" smtClean="0">
                <a:latin typeface="Arial" panose="020B0604020202020204" pitchFamily="34" charset="0"/>
                <a:cs typeface="Arial" panose="020B0604020202020204" pitchFamily="34" charset="0"/>
              </a:rPr>
              <a:pPr/>
              <a:t>22</a:t>
            </a:fld>
            <a:endParaRPr lang="en-US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26889664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E64CDB6200C73C4081ECE1A69AE13418" ma:contentTypeVersion="13" ma:contentTypeDescription="Create a new document." ma:contentTypeScope="" ma:versionID="39289d90bcf1abdbfd418eb4e8cc5d9c">
  <xsd:schema xmlns:xsd="http://www.w3.org/2001/XMLSchema" xmlns:xs="http://www.w3.org/2001/XMLSchema" xmlns:p="http://schemas.microsoft.com/office/2006/metadata/properties" xmlns:ns2="4f8cb9ae-ed53-42db-bca1-69d8d362686e" xmlns:ns3="4db80e98-b5f8-4bb8-81f1-96847ad5419b" targetNamespace="http://schemas.microsoft.com/office/2006/metadata/properties" ma:root="true" ma:fieldsID="22d6fac50061e914854137c078ebf07b" ns2:_="" ns3:_="">
    <xsd:import namespace="4f8cb9ae-ed53-42db-bca1-69d8d362686e"/>
    <xsd:import namespace="4db80e98-b5f8-4bb8-81f1-96847ad5419b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  <xsd:element ref="ns2:MediaServiceDateTaken" minOccurs="0"/>
                <xsd:element ref="ns2:lcf76f155ced4ddcb4097134ff3c332f" minOccurs="0"/>
                <xsd:element ref="ns3:TaxCatchAll" minOccurs="0"/>
                <xsd:element ref="ns2:MediaServiceOCR" minOccurs="0"/>
                <xsd:element ref="ns2:MediaServiceGenerationTime" minOccurs="0"/>
                <xsd:element ref="ns2:MediaServiceEventHashCode" minOccurs="0"/>
                <xsd:element ref="ns2:MediaLengthInSeconds" minOccurs="0"/>
                <xsd:element ref="ns2:MediaServiceLocation" minOccurs="0"/>
                <xsd:element ref="ns2:MediaServiceBillingMetadata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4f8cb9ae-ed53-42db-bca1-69d8d362686e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ateTaken" ma:index="11" nillable="true" ma:displayName="MediaServiceDateTaken" ma:description="" ma:hidden="true" ma:indexed="true" ma:internalName="MediaServiceDateTaken" ma:readOnly="true">
      <xsd:simpleType>
        <xsd:restriction base="dms:Text"/>
      </xsd:simpleType>
    </xsd:element>
    <xsd:element name="lcf76f155ced4ddcb4097134ff3c332f" ma:index="13" nillable="true" ma:taxonomy="true" ma:internalName="lcf76f155ced4ddcb4097134ff3c332f" ma:taxonomyFieldName="MediaServiceImageTags" ma:displayName="Image Tags" ma:fieldId="{5cf76f15-5ced-4ddc-b409-7134ff3c332f}" ma:taxonomyMulti="true" ma:sspId="00000000-0000-0000-0000-000000000000" ma:termSetId="00000000-0000-0000-0000-000000000000" ma:anchorId="00000000-0000-0000-0000-000000000000" ma:open="false" ma:isKeyword="false">
      <xsd:complexType>
        <xsd:sequence>
          <xsd:element ref="pc:Terms" minOccurs="0" maxOccurs="1"/>
        </xsd:sequence>
      </xsd:complexType>
    </xsd:element>
    <xsd:element name="MediaServiceOCR" ma:index="15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6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7" nillable="true" ma:displayName="MediaServiceEventHashCode" ma:hidden="true" ma:internalName="MediaServiceEventHashCode" ma:readOnly="true">
      <xsd:simpleType>
        <xsd:restriction base="dms:Text"/>
      </xsd:simpleType>
    </xsd:element>
    <xsd:element name="MediaLengthInSeconds" ma:index="18" nillable="true" ma:displayName="MediaLengthInSeconds" ma:hidden="true" ma:internalName="MediaLengthInSeconds" ma:readOnly="true">
      <xsd:simpleType>
        <xsd:restriction base="dms:Unknown"/>
      </xsd:simpleType>
    </xsd:element>
    <xsd:element name="MediaServiceLocation" ma:index="19" nillable="true" ma:displayName="Location" ma:description="" ma:indexed="true" ma:internalName="MediaServiceLocation" ma:readOnly="true">
      <xsd:simpleType>
        <xsd:restriction base="dms:Text"/>
      </xsd:simpleType>
    </xsd:element>
    <xsd:element name="MediaServiceBillingMetadata" ma:index="20" nillable="true" ma:displayName="MediaServiceBillingMetadata" ma:hidden="true" ma:internalName="MediaServiceBillingMetadata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4db80e98-b5f8-4bb8-81f1-96847ad5419b" elementFormDefault="qualified">
    <xsd:import namespace="http://schemas.microsoft.com/office/2006/documentManagement/types"/>
    <xsd:import namespace="http://schemas.microsoft.com/office/infopath/2007/PartnerControls"/>
    <xsd:element name="TaxCatchAll" ma:index="14" nillable="true" ma:displayName="Taxonomy Catch All Column" ma:hidden="true" ma:list="{70d8dfa5-77dc-4d89-b21f-ec48e045c900}" ma:internalName="TaxCatchAll" ma:showField="CatchAllData" ma:web="4db80e98-b5f8-4bb8-81f1-96847ad5419b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TaxCatchAll xmlns="4db80e98-b5f8-4bb8-81f1-96847ad5419b" xsi:nil="true"/>
    <lcf76f155ced4ddcb4097134ff3c332f xmlns="4f8cb9ae-ed53-42db-bca1-69d8d362686e">
      <Terms xmlns="http://schemas.microsoft.com/office/infopath/2007/PartnerControls"/>
    </lcf76f155ced4ddcb4097134ff3c332f>
  </documentManagement>
</p:properties>
</file>

<file path=customXml/itemProps1.xml><?xml version="1.0" encoding="utf-8"?>
<ds:datastoreItem xmlns:ds="http://schemas.openxmlformats.org/officeDocument/2006/customXml" ds:itemID="{9EC42728-7D11-41CD-85E1-7C4D3A68A5F9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9D36DEC6-2977-463F-A88E-9F8BB9FD9B2B}">
  <ds:schemaRefs>
    <ds:schemaRef ds:uri="4db80e98-b5f8-4bb8-81f1-96847ad5419b"/>
    <ds:schemaRef ds:uri="4f8cb9ae-ed53-42db-bca1-69d8d362686e"/>
    <ds:schemaRef ds:uri="http://purl.org/dc/elements/1.1/"/>
    <ds:schemaRef ds:uri="http://purl.org/dc/terms/"/>
    <ds:schemaRef ds:uri="http://schemas.microsoft.com/internal/obd"/>
    <ds:schemaRef ds:uri="http://schemas.microsoft.com/office/2006/documentManagement/types"/>
    <ds:schemaRef ds:uri="http://schemas.microsoft.com/office/2006/metadata/contentType"/>
    <ds:schemaRef ds:uri="http://schemas.microsoft.com/office/2006/metadata/properties"/>
    <ds:schemaRef ds:uri="http://schemas.microsoft.com/office/2006/metadata/properties/metaAttributes"/>
    <ds:schemaRef ds:uri="http://schemas.microsoft.com/office/infopath/2007/PartnerControls"/>
    <ds:schemaRef ds:uri="http://schemas.openxmlformats.org/package/2006/metadata/core-properties"/>
    <ds:schemaRef ds:uri="http://www.w3.org/2001/XMLSchema"/>
  </ds:schemaRefs>
</ds:datastoreItem>
</file>

<file path=customXml/itemProps3.xml><?xml version="1.0" encoding="utf-8"?>
<ds:datastoreItem xmlns:ds="http://schemas.openxmlformats.org/officeDocument/2006/customXml" ds:itemID="{1F7908C8-241F-4AE1-929B-3B21112ADC0F}">
  <ds:schemaRefs>
    <ds:schemaRef ds:uri="4db80e98-b5f8-4bb8-81f1-96847ad5419b"/>
    <ds:schemaRef ds:uri="4f8cb9ae-ed53-42db-bca1-69d8d362686e"/>
    <ds:schemaRef ds:uri="http://schemas.microsoft.com/office/2006/metadata/properties"/>
    <ds:schemaRef ds:uri="http://schemas.microsoft.com/office/infopath/2007/PartnerControl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2288</Words>
  <Application>Microsoft Office PowerPoint</Application>
  <PresentationFormat>Widescreen</PresentationFormat>
  <Paragraphs>270</Paragraphs>
  <Slides>22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22</vt:i4>
      </vt:variant>
    </vt:vector>
  </HeadingPairs>
  <TitlesOfParts>
    <vt:vector size="23" baseType="lpstr">
      <vt:lpstr>Office Theme</vt:lpstr>
      <vt:lpstr>Duke / Richman GLCRCI-11062025R1 Progress Update 05</vt:lpstr>
      <vt:lpstr>GLCRCI-11062025R1</vt:lpstr>
      <vt:lpstr>GLCRCI-11062025R1</vt:lpstr>
      <vt:lpstr>GLCRCI-11062025R1</vt:lpstr>
      <vt:lpstr>GLCRCI-11062025R1</vt:lpstr>
      <vt:lpstr>GLCRCI-11062025R1</vt:lpstr>
      <vt:lpstr>GLCRCI-11062025R1</vt:lpstr>
      <vt:lpstr>GLCRCI-11062025R1</vt:lpstr>
      <vt:lpstr>GLCRCI-11062025R1</vt:lpstr>
      <vt:lpstr>GLCRCI-11062025R1</vt:lpstr>
      <vt:lpstr>GLCRCI-11062025R1</vt:lpstr>
      <vt:lpstr>GLCRCI-11062025R1</vt:lpstr>
      <vt:lpstr>GLCRCI-11062025R1</vt:lpstr>
      <vt:lpstr>GLCRCI-11062025R1</vt:lpstr>
      <vt:lpstr>GLCRCI-11062025R1</vt:lpstr>
      <vt:lpstr>GLCRCI-11062025R1</vt:lpstr>
      <vt:lpstr>GLCRCI-11062025R1</vt:lpstr>
      <vt:lpstr>GLCRCI-11062025R1</vt:lpstr>
      <vt:lpstr>GLCRCI-11062025R1</vt:lpstr>
      <vt:lpstr>GLCRCI-11062025R1</vt:lpstr>
      <vt:lpstr>GLCRCI-11062025R1 Gantt Chart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Gamil A</dc:creator>
  <cp:lastModifiedBy>Michael Johansen</cp:lastModifiedBy>
  <cp:revision>5</cp:revision>
  <dcterms:created xsi:type="dcterms:W3CDTF">2023-10-27T13:00:26Z</dcterms:created>
  <dcterms:modified xsi:type="dcterms:W3CDTF">2025-12-11T21:25:58Z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0x010100E64CDB6200C73C4081ECE1A69AE13418</vt:lpwstr>
  </property>
  <property fmtid="{D5CDD505-2E9C-101B-9397-08002B2CF9AE}" pid="3" name="MediaServiceImageTags">
    <vt:lpwstr/>
  </property>
</Properties>
</file>