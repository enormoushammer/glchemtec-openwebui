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6"/>
  </p:notesMasterIdLst>
  <p:sldIdLst>
    <p:sldId id="337" r:id="rId2"/>
    <p:sldId id="2437" r:id="rId3"/>
    <p:sldId id="2355" r:id="rId4"/>
    <p:sldId id="2402" r:id="rId5"/>
    <p:sldId id="2429" r:id="rId6"/>
    <p:sldId id="2436" r:id="rId7"/>
    <p:sldId id="2403" r:id="rId8"/>
    <p:sldId id="2392" r:id="rId9"/>
    <p:sldId id="2430" r:id="rId10"/>
    <p:sldId id="2431" r:id="rId11"/>
    <p:sldId id="2432" r:id="rId12"/>
    <p:sldId id="2433" r:id="rId13"/>
    <p:sldId id="2434" r:id="rId14"/>
    <p:sldId id="2435" r:id="rId15"/>
    <p:sldId id="2393" r:id="rId16"/>
    <p:sldId id="2357" r:id="rId17"/>
    <p:sldId id="2356" r:id="rId18"/>
    <p:sldId id="2428" r:id="rId19"/>
    <p:sldId id="2381" r:id="rId20"/>
    <p:sldId id="257" r:id="rId21"/>
    <p:sldId id="2400" r:id="rId22"/>
    <p:sldId id="2419" r:id="rId23"/>
    <p:sldId id="2420" r:id="rId24"/>
    <p:sldId id="2421" r:id="rId25"/>
    <p:sldId id="2418" r:id="rId26"/>
    <p:sldId id="2422" r:id="rId27"/>
    <p:sldId id="2423" r:id="rId28"/>
    <p:sldId id="2424" r:id="rId29"/>
    <p:sldId id="2369" r:id="rId30"/>
    <p:sldId id="2382" r:id="rId31"/>
    <p:sldId id="2383" r:id="rId32"/>
    <p:sldId id="2374" r:id="rId33"/>
    <p:sldId id="2387" r:id="rId34"/>
    <p:sldId id="2394" r:id="rId35"/>
    <p:sldId id="2427" r:id="rId36"/>
    <p:sldId id="2426" r:id="rId37"/>
    <p:sldId id="2395" r:id="rId38"/>
    <p:sldId id="2425" r:id="rId39"/>
    <p:sldId id="2388" r:id="rId40"/>
    <p:sldId id="2389" r:id="rId41"/>
    <p:sldId id="2390" r:id="rId42"/>
    <p:sldId id="2391" r:id="rId43"/>
    <p:sldId id="2130" r:id="rId44"/>
    <p:sldId id="2438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31"/>
    <p:restoredTop sz="94653"/>
  </p:normalViewPr>
  <p:slideViewPr>
    <p:cSldViewPr snapToGrid="0" snapToObjects="1">
      <p:cViewPr varScale="1">
        <p:scale>
          <a:sx n="62" d="100"/>
          <a:sy n="62" d="100"/>
        </p:scale>
        <p:origin x="98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F97C6-F50C-F94D-9895-9C6FC9157F4B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C2B41D-C556-AA4D-AA94-E02E45D11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847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C2B41D-C556-AA4D-AA94-E02E45D11736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878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8F2A3-FA11-23A1-6EF8-854A87866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8A402E-E7E9-1A91-E1D1-F4F6FDA82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E1109-A1BE-7085-E1E5-7C4E3F396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50781-00EB-F443-891F-B4BA2EC687FA}" type="datetime1">
              <a:rPr lang="en-CA" smtClean="0"/>
              <a:t>2025-12-13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42A7F-BFC7-A2B3-096C-155EDB26B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0807A-99B0-82B7-0382-CA881A4A5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822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ED523-2700-7A08-F9D4-D042C02BA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497FC-3776-E104-1E0D-C9200AE0A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BF564-9E69-A150-A1C0-015252FE4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950FE-A8EE-6E41-8C87-EFB34B02B6CB}" type="datetime1">
              <a:rPr lang="en-CA" smtClean="0"/>
              <a:t>2025-12-13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9EC96-0EB2-E7C9-380E-50DC2954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AA892-5624-A044-2F9D-F19941B07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12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BEF0C-3C82-6B87-E258-EEEBC44CA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46F35-E2FD-E30C-DF1C-5AD87CF2A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52365-CB3B-8B4A-B072-CFC5F2780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88AFD-CD48-D346-8FBD-B26C30CF4884}" type="datetime1">
              <a:rPr lang="en-CA" smtClean="0"/>
              <a:t>2025-12-13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0F5E1-9D3C-17CE-429D-9835BC5C5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ADC87-7955-5679-6138-00840DBD1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032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DA8F2-4AED-0128-7BDF-D444B5005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219FF-3B0F-867D-0DB3-B186960FED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7162F7-2126-136A-64E4-834CC5DD15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91B8E-2773-0602-CA8D-4E3A8866D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114C1-6E08-C540-A4FD-ED0709C55ED0}" type="datetime1">
              <a:rPr lang="en-CA" smtClean="0"/>
              <a:t>2025-12-13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47CD2B-5BC7-E2F2-EB2B-ECDA2CBC2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E9217-908E-5199-E90A-70C904C24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94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D41F3-9A55-6689-1790-8AC65129E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4167F-F1F7-F567-A23A-272D425C2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4D71C-5052-F94D-73DD-66A108ECF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E69930-E9E9-1A0F-8BF4-B2410A291E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F9FED4-7C31-53DE-CD5E-FC7438E0AA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BF7529-4E80-1154-06A2-2004B39CA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DD300-687E-3549-B635-3FD39C6BEA93}" type="datetime1">
              <a:rPr lang="en-CA" smtClean="0"/>
              <a:t>2025-12-13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C0A712-41A4-EDC1-1D76-7144FFAE2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166590-E2DE-DAC5-FC77-3744A3CB7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48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C6600-D4ED-5096-0B0D-366ECC563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60FB68-2CBE-4A59-B5D2-C22D157CD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965B-4869-2A40-AA50-26F5DB8BFABD}" type="datetime1">
              <a:rPr lang="en-CA" smtClean="0"/>
              <a:t>2025-12-13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B679AB-BA90-BF17-CFE7-08156FA31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45E58-6BAA-1842-F8E7-43EFDFEF8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85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C78077-7E8E-58E4-E74C-427D43B45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940F3-C2C5-D84A-A6AE-C9369CC0ED23}" type="datetime1">
              <a:rPr lang="en-CA" smtClean="0"/>
              <a:t>2025-12-13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697F9C-45B6-7EDE-DFB1-612F89446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D644A-E078-DDAE-9305-D64175784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86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770A1-2B6A-8900-3C59-029579BA8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4271C-64ED-5985-ED62-2DB28D9C6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EB86CB-1E41-CF8F-3E8E-3E01DDC47F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38EE2-5D0E-75DB-6153-BE64AB54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995E4-5E0F-6B48-8339-4F4873C3B280}" type="datetime1">
              <a:rPr lang="en-CA" smtClean="0"/>
              <a:t>2025-12-13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3B3BB-2395-F686-A06A-A4A326496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72B8C-5A3B-1EFD-92EA-F526247B7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421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F930-ED58-E18F-C33A-0D8F815EC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B2F3F3-1D6C-56A0-85CC-D2FA795054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955C19-C764-10B5-E844-3D27230329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42EF1-53ED-D011-9958-216C22BE4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1F456-9202-E94E-A2B9-DB9493D9D6BB}" type="datetime1">
              <a:rPr lang="en-CA" smtClean="0"/>
              <a:t>2025-12-13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94113-47A1-7C01-D95E-03563C4F1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316C7-C9D3-D37C-FFF9-587D19F1B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035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17F3C-A14B-57F1-6F87-ADAD20356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DE8007-FC9D-64B2-1987-8B366BE6A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D4944-1B1C-E88E-6286-7EADBA54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689E3-5968-9F42-9A23-3EE1B2B1E5A2}" type="datetime1">
              <a:rPr lang="en-CA" smtClean="0"/>
              <a:t>2025-12-13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5CE0D-E374-8C4B-33C1-B3214443D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F06C3-1055-811A-FA62-024C8991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432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E72D26-FB13-32DE-C270-C38F500C5C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982A1A-DA62-531C-AA4D-5ECEFFD08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4B8D2-F211-5598-FD3A-2A120F31A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EAD8D-0022-C840-85B4-97091D5950CF}" type="datetime1">
              <a:rPr lang="en-CA" smtClean="0"/>
              <a:t>2025-12-13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A4517-C703-E920-A88B-A4A563987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429D3-AD02-6341-F5A6-28A338490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49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196DFE-A7DA-C923-9F2F-558283A11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D1B74-0CCA-496E-7007-01B2EA2D1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212D2-FAC9-350D-BF03-EA06333354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7ADA9-3341-854E-BDA7-D3C8ABC5177E}" type="datetime1">
              <a:rPr lang="en-CA" smtClean="0"/>
              <a:t>2025-12-13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391E3-702C-56E9-3604-9AEA047552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13217-4BE0-579C-1BAD-9043D7E3D3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3A229-2BE2-4044-957D-22ED1E4A3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61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emf"/><Relationship Id="rId4" Type="http://schemas.openxmlformats.org/officeDocument/2006/relationships/image" Target="../media/image30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emf"/><Relationship Id="rId4" Type="http://schemas.openxmlformats.org/officeDocument/2006/relationships/image" Target="../media/image36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emf"/><Relationship Id="rId4" Type="http://schemas.openxmlformats.org/officeDocument/2006/relationships/image" Target="../media/image43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emf"/><Relationship Id="rId4" Type="http://schemas.openxmlformats.org/officeDocument/2006/relationships/image" Target="../media/image60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360DE-2734-683F-D57C-E0C12292DB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5903"/>
            <a:ext cx="9144000" cy="166517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+mn-lt"/>
              </a:rPr>
              <a:t>ROME Therapeutics              </a:t>
            </a:r>
            <a:r>
              <a:rPr lang="en-US" dirty="0">
                <a:latin typeface="+mn-lt"/>
              </a:rPr>
              <a:t>RPT-002950</a:t>
            </a:r>
            <a:r>
              <a:rPr lang="en-US" b="1" dirty="0">
                <a:latin typeface="+mn-lt"/>
              </a:rPr>
              <a:t> </a:t>
            </a:r>
            <a:endParaRPr lang="en-CA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185F82-D4C7-DA66-786D-63A6A7F5E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32691"/>
            <a:ext cx="9144000" cy="1160653"/>
          </a:xfrm>
        </p:spPr>
        <p:txBody>
          <a:bodyPr/>
          <a:lstStyle/>
          <a:p>
            <a:r>
              <a:rPr lang="en-CA" dirty="0"/>
              <a:t>Update #06</a:t>
            </a:r>
          </a:p>
          <a:p>
            <a:r>
              <a:rPr lang="en-CA" dirty="0"/>
              <a:t>Date: July 28</a:t>
            </a:r>
            <a:r>
              <a:rPr lang="en-CA" baseline="30000" dirty="0"/>
              <a:t>th</a:t>
            </a:r>
            <a:r>
              <a:rPr lang="en-CA" dirty="0"/>
              <a:t> 2023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4A778F-4A11-CF4F-A511-4150DB6B2F8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662" y="4550279"/>
            <a:ext cx="3135348" cy="13618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53DA813-F26F-4FAA-FF0E-506613F3D0A9}"/>
              </a:ext>
            </a:extLst>
          </p:cNvPr>
          <p:cNvSpPr/>
          <p:nvPr/>
        </p:nvSpPr>
        <p:spPr>
          <a:xfrm>
            <a:off x="5260769" y="6498852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139494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EC98BA44-3AD1-0084-A4F2-711CA9CA8A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2436" y="1481103"/>
          <a:ext cx="10802428" cy="2308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9002023" imgH="1923411" progId="ChemDraw.Document.6.0">
                  <p:embed/>
                </p:oleObj>
              </mc:Choice>
              <mc:Fallback>
                <p:oleObj name="CS ChemDraw Drawing" r:id="rId2" imgW="9002023" imgH="1923411" progId="ChemDraw.Document.6.0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EC98BA44-3AD1-0084-A4F2-711CA9CA8A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2436" y="1481103"/>
                        <a:ext cx="10802428" cy="23080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54ED8AC-96B6-69F7-0071-AC50B4D44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701"/>
            <a:ext cx="10515600" cy="798481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+mn-lt"/>
              </a:rPr>
              <a:t>RPT-3575: Optimization of Oxidation Step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6B72A9-C47F-4B7E-7CA5-3C3BAB0CB3A4}"/>
              </a:ext>
            </a:extLst>
          </p:cNvPr>
          <p:cNvSpPr txBox="1"/>
          <p:nvPr/>
        </p:nvSpPr>
        <p:spPr>
          <a:xfrm>
            <a:off x="1149368" y="4430387"/>
            <a:ext cx="857882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Main goal of the project is to optimize oxidation step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Reduce/eliminate dimethyl sulfide from </a:t>
            </a:r>
            <a:r>
              <a:rPr lang="en-US" sz="2400" dirty="0" err="1"/>
              <a:t>Swern</a:t>
            </a:r>
            <a:r>
              <a:rPr lang="en-US" sz="2400" dirty="0"/>
              <a:t>-like conditions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Over-oxidation has occurred with some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7A744D-8176-D943-5F6E-C6A32580E4D8}"/>
              </a:ext>
            </a:extLst>
          </p:cNvPr>
          <p:cNvSpPr/>
          <p:nvPr/>
        </p:nvSpPr>
        <p:spPr>
          <a:xfrm>
            <a:off x="707136" y="1495372"/>
            <a:ext cx="4645152" cy="22938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5EAF27-B46F-C209-F963-E8542DC8EC0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566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5"/>
          <p:cNvSpPr txBox="1">
            <a:spLocks/>
          </p:cNvSpPr>
          <p:nvPr/>
        </p:nvSpPr>
        <p:spPr>
          <a:xfrm>
            <a:off x="838200" y="66580"/>
            <a:ext cx="10515600" cy="5377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Oxidation: TEMPO/</a:t>
            </a:r>
            <a:r>
              <a:rPr kumimoji="0" lang="en-CA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NaClO</a:t>
            </a:r>
            <a:endParaRPr kumimoji="0" lang="en-US" sz="24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3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227146-F605-D31E-F0BE-5E2FE18B9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643272"/>
              </p:ext>
            </p:extLst>
          </p:nvPr>
        </p:nvGraphicFramePr>
        <p:xfrm>
          <a:off x="432620" y="2601065"/>
          <a:ext cx="11326762" cy="3324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0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3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906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93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Entry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11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cs typeface="Cambria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5 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baseline="0" dirty="0">
                          <a:latin typeface="+mn-lt"/>
                        </a:rPr>
                        <a:t>RPT-3574</a:t>
                      </a:r>
                      <a:r>
                        <a:rPr lang="en-US" sz="1400" baseline="0" dirty="0">
                          <a:latin typeface="+mn-lt"/>
                        </a:rPr>
                        <a:t> (5 g, 1 eq), </a:t>
                      </a:r>
                      <a:r>
                        <a:rPr lang="en-US" sz="1400" baseline="0" dirty="0" err="1">
                          <a:latin typeface="+mn-lt"/>
                        </a:rPr>
                        <a:t>NaClO</a:t>
                      </a:r>
                      <a:r>
                        <a:rPr lang="en-US" sz="1400" baseline="0" dirty="0">
                          <a:latin typeface="+mn-lt"/>
                        </a:rPr>
                        <a:t> (1.25 eq, pH = 9.4), TEMPO (0.1 eq), </a:t>
                      </a:r>
                      <a:r>
                        <a:rPr lang="en-US" sz="1400" baseline="0" dirty="0" err="1">
                          <a:latin typeface="+mn-lt"/>
                        </a:rPr>
                        <a:t>NaBr</a:t>
                      </a:r>
                      <a:r>
                        <a:rPr lang="en-US" sz="1400" baseline="0" dirty="0">
                          <a:latin typeface="+mn-lt"/>
                        </a:rPr>
                        <a:t> (0.2 eq), DCM (125 mL), NaHCO</a:t>
                      </a:r>
                      <a:r>
                        <a:rPr lang="en-US" sz="1400" baseline="-25000" dirty="0">
                          <a:latin typeface="+mn-lt"/>
                        </a:rPr>
                        <a:t>3</a:t>
                      </a:r>
                      <a:r>
                        <a:rPr lang="en-US" sz="1400" baseline="0" dirty="0">
                          <a:latin typeface="+mn-lt"/>
                        </a:rPr>
                        <a:t> + K</a:t>
                      </a:r>
                      <a:r>
                        <a:rPr lang="en-US" sz="1400" baseline="-25000" dirty="0">
                          <a:latin typeface="+mn-lt"/>
                        </a:rPr>
                        <a:t>2</a:t>
                      </a:r>
                      <a:r>
                        <a:rPr lang="en-US" sz="1400" baseline="0" dirty="0">
                          <a:latin typeface="+mn-lt"/>
                        </a:rPr>
                        <a:t>CO</a:t>
                      </a:r>
                      <a:r>
                        <a:rPr lang="en-US" sz="1400" baseline="-25000" dirty="0">
                          <a:latin typeface="+mn-lt"/>
                        </a:rPr>
                        <a:t>3</a:t>
                      </a:r>
                      <a:r>
                        <a:rPr lang="en-US" sz="1400" baseline="0" dirty="0">
                          <a:latin typeface="+mn-lt"/>
                        </a:rPr>
                        <a:t> (125 mL, pH = 9.2), 5-15 °C, 1 h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="1" baseline="0" dirty="0">
                          <a:latin typeface="+mn-lt"/>
                        </a:rPr>
                        <a:t>Scale-up</a:t>
                      </a:r>
                      <a:r>
                        <a:rPr lang="en-US" sz="1400" baseline="0" dirty="0">
                          <a:latin typeface="+mn-lt"/>
                        </a:rPr>
                        <a:t> to carry through to </a:t>
                      </a:r>
                      <a:r>
                        <a:rPr lang="en-US" sz="1400" b="1" baseline="0" dirty="0">
                          <a:latin typeface="+mn-lt"/>
                        </a:rPr>
                        <a:t>3576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HPLC: </a:t>
                      </a:r>
                      <a:r>
                        <a:rPr lang="en-US" sz="1400" b="1" baseline="0" dirty="0">
                          <a:latin typeface="+mn-lt"/>
                        </a:rPr>
                        <a:t>RPT-3574</a:t>
                      </a:r>
                      <a:r>
                        <a:rPr lang="en-US" sz="1400" baseline="0" dirty="0">
                          <a:latin typeface="+mn-lt"/>
                        </a:rPr>
                        <a:t> (1.3%); </a:t>
                      </a:r>
                      <a:r>
                        <a:rPr lang="en-US" sz="1400" b="1" baseline="0" dirty="0">
                          <a:latin typeface="+mn-lt"/>
                        </a:rPr>
                        <a:t>RPT-3575</a:t>
                      </a:r>
                      <a:r>
                        <a:rPr lang="en-US" sz="1400" baseline="0" dirty="0">
                          <a:latin typeface="+mn-lt"/>
                        </a:rPr>
                        <a:t> (96.5%), </a:t>
                      </a:r>
                      <a:r>
                        <a:rPr lang="en-US" sz="1400" b="1" baseline="0" dirty="0">
                          <a:latin typeface="+mn-lt"/>
                        </a:rPr>
                        <a:t>RPT-2950-1B</a:t>
                      </a:r>
                      <a:r>
                        <a:rPr lang="en-US" sz="1400" baseline="0" dirty="0">
                          <a:latin typeface="+mn-lt"/>
                        </a:rPr>
                        <a:t> (2.2%)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HPLC – Aq. Layer indicated more acid; will continue to monitor in subsequent trials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sz="1400" baseline="0" dirty="0">
                          <a:latin typeface="+mn-lt"/>
                        </a:rPr>
                        <a:t>Aqueous quench &amp; extractive workup done; crude used in next steps (Slide 6, Entry 1)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sz="1400" baseline="0" dirty="0">
                          <a:latin typeface="+mn-lt"/>
                        </a:rPr>
                        <a:t>Emulsion noted during extraction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sz="1400" baseline="30000" dirty="0">
                          <a:latin typeface="+mn-lt"/>
                        </a:rPr>
                        <a:t>1</a:t>
                      </a:r>
                      <a:r>
                        <a:rPr lang="en-US" sz="1400" baseline="0" dirty="0">
                          <a:latin typeface="+mn-lt"/>
                        </a:rPr>
                        <a:t>H-NMR of crude aldehyde recorded; in agreement with expected structure</a:t>
                      </a:r>
                    </a:p>
                  </a:txBody>
                  <a:tcPr marL="114300" marR="114300" marT="46800" marB="46800" anchor="ctr"/>
                </a:tc>
                <a:extLst>
                  <a:ext uri="{0D108BD9-81ED-4DB2-BD59-A6C34878D82A}">
                    <a16:rowId xmlns:a16="http://schemas.microsoft.com/office/drawing/2014/main" val="4253667341"/>
                  </a:ext>
                </a:extLst>
              </a:tr>
              <a:tr h="81937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cs typeface="Cambria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5 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baseline="0" dirty="0">
                          <a:latin typeface="+mn-lt"/>
                        </a:rPr>
                        <a:t>RPT-3574</a:t>
                      </a:r>
                      <a:r>
                        <a:rPr lang="en-US" sz="1400" baseline="0" dirty="0">
                          <a:latin typeface="+mn-lt"/>
                        </a:rPr>
                        <a:t> (5 g, 1 eq), </a:t>
                      </a:r>
                      <a:r>
                        <a:rPr lang="en-US" sz="1400" baseline="0" dirty="0" err="1">
                          <a:latin typeface="+mn-lt"/>
                        </a:rPr>
                        <a:t>NaClO</a:t>
                      </a:r>
                      <a:r>
                        <a:rPr lang="en-US" sz="1400" baseline="0" dirty="0">
                          <a:latin typeface="+mn-lt"/>
                        </a:rPr>
                        <a:t> (1.25 eq, pH = 9.5), TEMPO (0.1 eq), </a:t>
                      </a:r>
                      <a:r>
                        <a:rPr lang="en-US" sz="1400" baseline="0" dirty="0" err="1">
                          <a:latin typeface="+mn-lt"/>
                        </a:rPr>
                        <a:t>NaBr</a:t>
                      </a:r>
                      <a:r>
                        <a:rPr lang="en-US" sz="1400" baseline="0" dirty="0">
                          <a:latin typeface="+mn-lt"/>
                        </a:rPr>
                        <a:t> (0.2 eq), DCM (50 mL), NaHCO</a:t>
                      </a:r>
                      <a:r>
                        <a:rPr lang="en-US" sz="1400" baseline="-25000" dirty="0">
                          <a:latin typeface="+mn-lt"/>
                        </a:rPr>
                        <a:t>3</a:t>
                      </a:r>
                      <a:r>
                        <a:rPr lang="en-US" sz="1400" baseline="0" dirty="0">
                          <a:latin typeface="+mn-lt"/>
                        </a:rPr>
                        <a:t> + K</a:t>
                      </a:r>
                      <a:r>
                        <a:rPr lang="en-US" sz="1400" baseline="-25000" dirty="0">
                          <a:latin typeface="+mn-lt"/>
                        </a:rPr>
                        <a:t>2</a:t>
                      </a:r>
                      <a:r>
                        <a:rPr lang="en-US" sz="1400" baseline="0" dirty="0">
                          <a:latin typeface="+mn-lt"/>
                        </a:rPr>
                        <a:t>CO</a:t>
                      </a:r>
                      <a:r>
                        <a:rPr lang="en-US" sz="1400" baseline="-25000" dirty="0">
                          <a:latin typeface="+mn-lt"/>
                        </a:rPr>
                        <a:t>3</a:t>
                      </a:r>
                      <a:r>
                        <a:rPr lang="en-US" sz="1400" baseline="0" dirty="0">
                          <a:latin typeface="+mn-lt"/>
                        </a:rPr>
                        <a:t> (50 mL, pH = 9.2), 5-15 °C, 1 h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="1" baseline="0" dirty="0">
                          <a:latin typeface="+mn-lt"/>
                        </a:rPr>
                        <a:t>Reduced solvent to 10 V </a:t>
                      </a:r>
                      <a:r>
                        <a:rPr lang="en-US" sz="1400" baseline="0" dirty="0">
                          <a:latin typeface="+mn-lt"/>
                        </a:rPr>
                        <a:t>each layer for reaction</a:t>
                      </a:r>
                      <a:endParaRPr lang="en-US" sz="1400" b="1" baseline="0" dirty="0">
                        <a:latin typeface="+mn-lt"/>
                      </a:endParaRP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HPLC: </a:t>
                      </a:r>
                      <a:r>
                        <a:rPr lang="en-US" sz="1400" b="1" baseline="0" dirty="0">
                          <a:latin typeface="+mn-lt"/>
                        </a:rPr>
                        <a:t>RPT-3574</a:t>
                      </a:r>
                      <a:r>
                        <a:rPr lang="en-US" sz="1400" baseline="0" dirty="0">
                          <a:latin typeface="+mn-lt"/>
                        </a:rPr>
                        <a:t> (9.0%); </a:t>
                      </a:r>
                      <a:r>
                        <a:rPr lang="en-US" sz="1400" b="1" baseline="0" dirty="0">
                          <a:latin typeface="+mn-lt"/>
                        </a:rPr>
                        <a:t>RPT-3575</a:t>
                      </a:r>
                      <a:r>
                        <a:rPr lang="en-US" sz="1400" baseline="0" dirty="0">
                          <a:latin typeface="+mn-lt"/>
                        </a:rPr>
                        <a:t> (88.2%), </a:t>
                      </a:r>
                      <a:r>
                        <a:rPr lang="en-US" sz="1400" b="1" baseline="0" dirty="0">
                          <a:latin typeface="+mn-lt"/>
                        </a:rPr>
                        <a:t>RPT-2950-1B</a:t>
                      </a:r>
                      <a:r>
                        <a:rPr lang="en-US" sz="1400" baseline="0" dirty="0">
                          <a:latin typeface="+mn-lt"/>
                        </a:rPr>
                        <a:t> (2.1%)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sz="1400" baseline="0" dirty="0">
                          <a:latin typeface="+mn-lt"/>
                        </a:rPr>
                        <a:t>Aqueous quench &amp; extractive workup done; crude used in next steps (Slide 8, Entry 2)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sz="1400" baseline="0" dirty="0">
                          <a:latin typeface="+mn-lt"/>
                        </a:rPr>
                        <a:t>MTBE added in extraction for better separation</a:t>
                      </a:r>
                    </a:p>
                  </a:txBody>
                  <a:tcPr marL="114300" marR="114300" marT="46800" marB="46800" anchor="ctr"/>
                </a:tc>
                <a:extLst>
                  <a:ext uri="{0D108BD9-81ED-4DB2-BD59-A6C34878D82A}">
                    <a16:rowId xmlns:a16="http://schemas.microsoft.com/office/drawing/2014/main" val="70426644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5260769" y="6498852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68143E-AB0F-25C0-BB00-6B8D97264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9" y="532851"/>
            <a:ext cx="9145691" cy="177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11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776C8C-4A2A-B075-25E3-B5B763B635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74" t="23783" b="39420"/>
          <a:stretch/>
        </p:blipFill>
        <p:spPr>
          <a:xfrm>
            <a:off x="155632" y="584771"/>
            <a:ext cx="11911499" cy="6026094"/>
          </a:xfrm>
          <a:prstGeom prst="rect">
            <a:avLst/>
          </a:prstGeom>
        </p:spPr>
      </p:pic>
      <p:sp>
        <p:nvSpPr>
          <p:cNvPr id="9" name="Title 5"/>
          <p:cNvSpPr txBox="1">
            <a:spLocks/>
          </p:cNvSpPr>
          <p:nvPr/>
        </p:nvSpPr>
        <p:spPr>
          <a:xfrm>
            <a:off x="2427499" y="107723"/>
            <a:ext cx="6933229" cy="5377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HPLC Entry 1: TEMPO/</a:t>
            </a:r>
            <a:r>
              <a:rPr kumimoji="0" lang="en-CA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NaClO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(1 h) – Organic Layer</a:t>
            </a:r>
            <a:endParaRPr kumimoji="0" lang="en-US" sz="24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5260769" y="6498852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CC41D9-34B5-373A-8D21-BF4852604CF2}"/>
              </a:ext>
            </a:extLst>
          </p:cNvPr>
          <p:cNvSpPr txBox="1"/>
          <p:nvPr/>
        </p:nvSpPr>
        <p:spPr>
          <a:xfrm>
            <a:off x="6164019" y="3087460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3574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6AA2AE-9157-C857-C206-312F231E9CA4}"/>
              </a:ext>
            </a:extLst>
          </p:cNvPr>
          <p:cNvSpPr txBox="1"/>
          <p:nvPr/>
        </p:nvSpPr>
        <p:spPr>
          <a:xfrm>
            <a:off x="5179470" y="4552278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2950-1B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D51B87E-EB51-C9EC-A209-0C7931D44D9D}"/>
              </a:ext>
            </a:extLst>
          </p:cNvPr>
          <p:cNvCxnSpPr>
            <a:cxnSpLocks/>
          </p:cNvCxnSpPr>
          <p:nvPr/>
        </p:nvCxnSpPr>
        <p:spPr>
          <a:xfrm>
            <a:off x="5894114" y="4884470"/>
            <a:ext cx="384026" cy="6088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8D69FB2-DA8D-92A5-6EA3-A560601251B4}"/>
              </a:ext>
            </a:extLst>
          </p:cNvPr>
          <p:cNvCxnSpPr>
            <a:cxnSpLocks/>
          </p:cNvCxnSpPr>
          <p:nvPr/>
        </p:nvCxnSpPr>
        <p:spPr>
          <a:xfrm>
            <a:off x="6490391" y="3400136"/>
            <a:ext cx="0" cy="19634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F81FB8D-38CA-A713-BB8F-1D34F5DE95E0}"/>
              </a:ext>
            </a:extLst>
          </p:cNvPr>
          <p:cNvSpPr txBox="1"/>
          <p:nvPr/>
        </p:nvSpPr>
        <p:spPr>
          <a:xfrm>
            <a:off x="7265526" y="393353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3575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3FD577A-63B2-A79A-C29F-54CB210C1243}"/>
              </a:ext>
            </a:extLst>
          </p:cNvPr>
          <p:cNvGrpSpPr/>
          <p:nvPr/>
        </p:nvGrpSpPr>
        <p:grpSpPr>
          <a:xfrm>
            <a:off x="6604512" y="4223769"/>
            <a:ext cx="750954" cy="996734"/>
            <a:chOff x="6716646" y="3695700"/>
            <a:chExt cx="750954" cy="996734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A68CE32-DB8B-DFC8-EB24-C540A3D238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16646" y="3695700"/>
              <a:ext cx="750954" cy="84433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CC8A174-5C46-4E95-E602-0AB45277A6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9046" y="3695700"/>
              <a:ext cx="598554" cy="99673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8569D8A-49FE-59C2-DE2D-498014511B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29" t="81867" r="39666" b="4003"/>
          <a:stretch/>
        </p:blipFill>
        <p:spPr>
          <a:xfrm>
            <a:off x="7277706" y="811519"/>
            <a:ext cx="4532649" cy="147997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43582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B9C585D-2C79-8E76-EB67-F2A6C9EE42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86" t="23423" b="39820"/>
          <a:stretch/>
        </p:blipFill>
        <p:spPr>
          <a:xfrm>
            <a:off x="131764" y="580949"/>
            <a:ext cx="11722409" cy="5893489"/>
          </a:xfrm>
          <a:prstGeom prst="rect">
            <a:avLst/>
          </a:prstGeom>
        </p:spPr>
      </p:pic>
      <p:sp>
        <p:nvSpPr>
          <p:cNvPr id="9" name="Title 5"/>
          <p:cNvSpPr txBox="1">
            <a:spLocks/>
          </p:cNvSpPr>
          <p:nvPr/>
        </p:nvSpPr>
        <p:spPr>
          <a:xfrm>
            <a:off x="2427499" y="107723"/>
            <a:ext cx="6933229" cy="5377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HPLC Entry 1: TEMPO/</a:t>
            </a:r>
            <a:r>
              <a:rPr kumimoji="0" lang="en-CA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NaClO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(1 h) – Aqueous Layer</a:t>
            </a:r>
            <a:endParaRPr kumimoji="0" lang="en-US" sz="24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5260769" y="6498852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6E0E22-2F7A-4902-8C3D-FC810872E2D4}"/>
              </a:ext>
            </a:extLst>
          </p:cNvPr>
          <p:cNvSpPr txBox="1"/>
          <p:nvPr/>
        </p:nvSpPr>
        <p:spPr>
          <a:xfrm>
            <a:off x="6062024" y="319059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3574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AC0991-B853-E53D-AFC5-B324EBCA2A0B}"/>
              </a:ext>
            </a:extLst>
          </p:cNvPr>
          <p:cNvSpPr txBox="1"/>
          <p:nvPr/>
        </p:nvSpPr>
        <p:spPr>
          <a:xfrm>
            <a:off x="5125863" y="4591202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2950-1B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C2D66C3-F453-71AE-2D53-1057E68BFD28}"/>
              </a:ext>
            </a:extLst>
          </p:cNvPr>
          <p:cNvCxnSpPr>
            <a:cxnSpLocks/>
          </p:cNvCxnSpPr>
          <p:nvPr/>
        </p:nvCxnSpPr>
        <p:spPr>
          <a:xfrm>
            <a:off x="5840507" y="4923394"/>
            <a:ext cx="384026" cy="6088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0F42F9B-5ED3-19AB-9FF7-1680124D5EAF}"/>
              </a:ext>
            </a:extLst>
          </p:cNvPr>
          <p:cNvCxnSpPr>
            <a:cxnSpLocks/>
          </p:cNvCxnSpPr>
          <p:nvPr/>
        </p:nvCxnSpPr>
        <p:spPr>
          <a:xfrm>
            <a:off x="6388396" y="3503274"/>
            <a:ext cx="0" cy="19634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DAA8696-28C2-7130-749B-2429D92DF889}"/>
              </a:ext>
            </a:extLst>
          </p:cNvPr>
          <p:cNvSpPr txBox="1"/>
          <p:nvPr/>
        </p:nvSpPr>
        <p:spPr>
          <a:xfrm>
            <a:off x="7188476" y="4495101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3575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50FB4ED-1404-764B-BFBD-875E36A9FD92}"/>
              </a:ext>
            </a:extLst>
          </p:cNvPr>
          <p:cNvGrpSpPr/>
          <p:nvPr/>
        </p:nvGrpSpPr>
        <p:grpSpPr>
          <a:xfrm>
            <a:off x="6527462" y="4785338"/>
            <a:ext cx="750954" cy="996734"/>
            <a:chOff x="6716646" y="3695700"/>
            <a:chExt cx="750954" cy="996734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FA2C4D1-E3D7-7AA8-E6D5-DE1413C76F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16646" y="3695700"/>
              <a:ext cx="750954" cy="84433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D2BCCF9-CF80-09A2-5C40-1C6C5E7B6E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9046" y="3695700"/>
              <a:ext cx="598554" cy="99673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9839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4D16849-37CD-33E1-B537-9AA23ACC3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689" y="0"/>
            <a:ext cx="9800169" cy="6782388"/>
          </a:xfrm>
          <a:prstGeom prst="rect">
            <a:avLst/>
          </a:prstGeom>
        </p:spPr>
      </p:pic>
      <p:sp>
        <p:nvSpPr>
          <p:cNvPr id="9" name="Title 5"/>
          <p:cNvSpPr txBox="1">
            <a:spLocks/>
          </p:cNvSpPr>
          <p:nvPr/>
        </p:nvSpPr>
        <p:spPr>
          <a:xfrm>
            <a:off x="-46297" y="1346118"/>
            <a:ext cx="5876242" cy="5377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1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H-NMR Entry 1: RPT-3575 After Workup</a:t>
            </a:r>
            <a:endParaRPr kumimoji="0" lang="en-US" sz="24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582996" y="6442500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2495CE-D4AC-EBA5-D989-5C094D3C7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340" y="2488733"/>
            <a:ext cx="2116438" cy="229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910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18DA4D-8F28-29C3-5449-819D41ACAC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28" t="23615" b="39448"/>
          <a:stretch/>
        </p:blipFill>
        <p:spPr>
          <a:xfrm>
            <a:off x="0" y="522272"/>
            <a:ext cx="11967045" cy="5966653"/>
          </a:xfrm>
          <a:prstGeom prst="rect">
            <a:avLst/>
          </a:prstGeom>
        </p:spPr>
      </p:pic>
      <p:sp>
        <p:nvSpPr>
          <p:cNvPr id="9" name="Title 5"/>
          <p:cNvSpPr txBox="1">
            <a:spLocks/>
          </p:cNvSpPr>
          <p:nvPr/>
        </p:nvSpPr>
        <p:spPr>
          <a:xfrm>
            <a:off x="2794670" y="48671"/>
            <a:ext cx="6019130" cy="46097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HPLC Entry 2: TEMPO/</a:t>
            </a:r>
            <a:r>
              <a:rPr kumimoji="0" lang="en-CA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NaClO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(1 h)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5170888" y="6501552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3DAA56-8B67-B7C1-F581-641CACB444B7}"/>
              </a:ext>
            </a:extLst>
          </p:cNvPr>
          <p:cNvSpPr txBox="1"/>
          <p:nvPr/>
        </p:nvSpPr>
        <p:spPr>
          <a:xfrm>
            <a:off x="5418502" y="1904921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3574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C45E26-E3D9-921F-5538-FDBFDA7E6919}"/>
              </a:ext>
            </a:extLst>
          </p:cNvPr>
          <p:cNvSpPr txBox="1"/>
          <p:nvPr/>
        </p:nvSpPr>
        <p:spPr>
          <a:xfrm>
            <a:off x="5115970" y="4552278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2950-1B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9BA8E0-73BE-57CE-76AB-1C0721EBC5D8}"/>
              </a:ext>
            </a:extLst>
          </p:cNvPr>
          <p:cNvCxnSpPr>
            <a:cxnSpLocks/>
          </p:cNvCxnSpPr>
          <p:nvPr/>
        </p:nvCxnSpPr>
        <p:spPr>
          <a:xfrm>
            <a:off x="5830614" y="4884470"/>
            <a:ext cx="384026" cy="6088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BA4690D-E730-0F98-F795-EDEFC0454BFF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744874" y="2274253"/>
            <a:ext cx="630922" cy="19774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E30C9F2-26FF-0812-B22C-54C087B499A1}"/>
              </a:ext>
            </a:extLst>
          </p:cNvPr>
          <p:cNvSpPr txBox="1"/>
          <p:nvPr/>
        </p:nvSpPr>
        <p:spPr>
          <a:xfrm>
            <a:off x="7202135" y="2640396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3575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F5F522E-9959-5709-E14A-D13487EFDBD3}"/>
              </a:ext>
            </a:extLst>
          </p:cNvPr>
          <p:cNvGrpSpPr/>
          <p:nvPr/>
        </p:nvGrpSpPr>
        <p:grpSpPr>
          <a:xfrm>
            <a:off x="6541121" y="2930633"/>
            <a:ext cx="750954" cy="996734"/>
            <a:chOff x="6716646" y="3695700"/>
            <a:chExt cx="750954" cy="996734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BD69B17-6DA6-1EB5-F740-EB09645A80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16646" y="3695700"/>
              <a:ext cx="750954" cy="84433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920CB58-391D-348A-1593-7912B33A96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9046" y="3695700"/>
              <a:ext cx="598554" cy="99673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3141FB1-ECEB-01A1-A0DA-A7AFA2FFF954}"/>
              </a:ext>
            </a:extLst>
          </p:cNvPr>
          <p:cNvGrpSpPr/>
          <p:nvPr/>
        </p:nvGrpSpPr>
        <p:grpSpPr>
          <a:xfrm>
            <a:off x="6784668" y="726101"/>
            <a:ext cx="5053107" cy="1568332"/>
            <a:chOff x="6673455" y="824957"/>
            <a:chExt cx="5053107" cy="156833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A936FDA-D982-1D7F-35A5-91ECF0C6E0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176" t="82726" r="39390" b="3993"/>
            <a:stretch/>
          </p:blipFill>
          <p:spPr>
            <a:xfrm>
              <a:off x="6673455" y="824957"/>
              <a:ext cx="4927481" cy="1449296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4FDE8C4-0156-2929-4E34-6B1D931AD8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196" t="15722" r="2427" b="21159"/>
            <a:stretch/>
          </p:blipFill>
          <p:spPr>
            <a:xfrm>
              <a:off x="7002721" y="2159078"/>
              <a:ext cx="4375794" cy="173249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8AB343C-BCBE-EAC4-1A4E-82FFF132C0D8}"/>
                </a:ext>
              </a:extLst>
            </p:cNvPr>
            <p:cNvSpPr/>
            <p:nvPr/>
          </p:nvSpPr>
          <p:spPr>
            <a:xfrm>
              <a:off x="6693521" y="824957"/>
              <a:ext cx="5033041" cy="1568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76183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5"/>
          <p:cNvSpPr txBox="1">
            <a:spLocks/>
          </p:cNvSpPr>
          <p:nvPr/>
        </p:nvSpPr>
        <p:spPr>
          <a:xfrm>
            <a:off x="838200" y="66580"/>
            <a:ext cx="10515600" cy="5377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b="1" dirty="0">
                <a:solidFill>
                  <a:prstClr val="black"/>
                </a:solidFill>
                <a:latin typeface="+mn-lt"/>
              </a:rPr>
              <a:t>Formylation/Reduction on RPT-3575</a:t>
            </a:r>
            <a:endParaRPr kumimoji="0" lang="en-US" sz="24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8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227146-F605-D31E-F0BE-5E2FE18B9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17817"/>
              </p:ext>
            </p:extLst>
          </p:nvPr>
        </p:nvGraphicFramePr>
        <p:xfrm>
          <a:off x="363794" y="2692963"/>
          <a:ext cx="11464412" cy="3324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6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78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93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Entry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937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cs typeface="Cambria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~5 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baseline="0" dirty="0">
                          <a:latin typeface="+mn-lt"/>
                        </a:rPr>
                        <a:t>RPT-3575 </a:t>
                      </a:r>
                      <a:r>
                        <a:rPr lang="en-US" sz="1400" baseline="0" dirty="0">
                          <a:latin typeface="+mn-lt"/>
                        </a:rPr>
                        <a:t>(~5 g, 1 eq), H</a:t>
                      </a:r>
                      <a:r>
                        <a:rPr lang="en-US" sz="1400" baseline="-25000" dirty="0">
                          <a:latin typeface="+mn-lt"/>
                        </a:rPr>
                        <a:t>2</a:t>
                      </a:r>
                      <a:r>
                        <a:rPr lang="en-US" sz="1400" baseline="0" dirty="0">
                          <a:latin typeface="+mn-lt"/>
                        </a:rPr>
                        <a:t>C=O (37% </a:t>
                      </a:r>
                      <a:r>
                        <a:rPr lang="en-US" sz="1400" baseline="0" dirty="0" err="1">
                          <a:latin typeface="+mn-lt"/>
                        </a:rPr>
                        <a:t>aq</a:t>
                      </a:r>
                      <a:r>
                        <a:rPr lang="en-US" sz="1400" baseline="0" dirty="0">
                          <a:latin typeface="+mn-lt"/>
                        </a:rPr>
                        <a:t>, 5 mL, 2 V, ~10 eq), NaOH (2 M, 5.5 mL, 2.2 V, ~5 eq), Dioxane (25 mL), RT, O/N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aseline="0" dirty="0">
                          <a:latin typeface="+mn-lt"/>
                        </a:rPr>
                        <a:t>Then: NaBH</a:t>
                      </a:r>
                      <a:r>
                        <a:rPr lang="en-US" sz="1400" baseline="-25000" dirty="0">
                          <a:latin typeface="+mn-lt"/>
                        </a:rPr>
                        <a:t>4</a:t>
                      </a:r>
                      <a:r>
                        <a:rPr lang="en-US" sz="1400" baseline="0" dirty="0">
                          <a:latin typeface="+mn-lt"/>
                        </a:rPr>
                        <a:t> (2.5 eq), 10 °C-RT, 4 h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Reactions, workup and crystallization conducted as per process description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Obtained: 2.85 g (53% over 3 steps) 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NMR in agreement with desired structure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LCMS: m/z = 451</a:t>
                      </a:r>
                      <a:r>
                        <a:rPr lang="en-US" sz="1400" baseline="30000" dirty="0">
                          <a:latin typeface="+mn-lt"/>
                        </a:rPr>
                        <a:t>+</a:t>
                      </a:r>
                      <a:r>
                        <a:rPr lang="en-US" sz="1400" baseline="0" dirty="0">
                          <a:latin typeface="+mn-lt"/>
                        </a:rPr>
                        <a:t> [M+H]</a:t>
                      </a:r>
                      <a:r>
                        <a:rPr lang="en-US" sz="1400" baseline="30000" dirty="0">
                          <a:latin typeface="+mn-lt"/>
                        </a:rPr>
                        <a:t>+</a:t>
                      </a:r>
                      <a:r>
                        <a:rPr lang="en-US" sz="1400" baseline="0" dirty="0">
                          <a:latin typeface="+mn-lt"/>
                        </a:rPr>
                        <a:t> 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HPLC: (87.5%), indicates presence of acid (1.4%) as impurity</a:t>
                      </a:r>
                    </a:p>
                  </a:txBody>
                  <a:tcPr marL="114300" marR="114300" marT="46800" marB="46800" anchor="ctr"/>
                </a:tc>
                <a:extLst>
                  <a:ext uri="{0D108BD9-81ED-4DB2-BD59-A6C34878D82A}">
                    <a16:rowId xmlns:a16="http://schemas.microsoft.com/office/drawing/2014/main" val="704266446"/>
                  </a:ext>
                </a:extLst>
              </a:tr>
              <a:tr h="71373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cs typeface="Cambria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~5 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baseline="0" dirty="0">
                          <a:latin typeface="+mn-lt"/>
                        </a:rPr>
                        <a:t>RPT-3575</a:t>
                      </a:r>
                      <a:r>
                        <a:rPr lang="en-US" sz="1400" baseline="0" dirty="0">
                          <a:latin typeface="+mn-lt"/>
                        </a:rPr>
                        <a:t> (~5 g, 1 eq) H</a:t>
                      </a:r>
                      <a:r>
                        <a:rPr lang="en-US" sz="1400" baseline="-25000" dirty="0">
                          <a:latin typeface="+mn-lt"/>
                        </a:rPr>
                        <a:t>2</a:t>
                      </a:r>
                      <a:r>
                        <a:rPr lang="en-US" sz="1400" baseline="0" dirty="0">
                          <a:latin typeface="+mn-lt"/>
                        </a:rPr>
                        <a:t>C=O (37% </a:t>
                      </a:r>
                      <a:r>
                        <a:rPr lang="en-US" sz="1400" baseline="0" dirty="0" err="1">
                          <a:latin typeface="+mn-lt"/>
                        </a:rPr>
                        <a:t>aq</a:t>
                      </a:r>
                      <a:r>
                        <a:rPr lang="en-US" sz="1400" baseline="0" dirty="0">
                          <a:latin typeface="+mn-lt"/>
                        </a:rPr>
                        <a:t>, 10 mL, 2 V, ~10 eq), NaOH (2 M, 11 mL, 2.2 V, ~5 eq), Dioxane (50 mL), RT, O/N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aseline="0" dirty="0">
                          <a:latin typeface="+mn-lt"/>
                        </a:rPr>
                        <a:t>Then: NaBH</a:t>
                      </a:r>
                      <a:r>
                        <a:rPr lang="en-US" sz="1400" baseline="-25000" dirty="0">
                          <a:latin typeface="+mn-lt"/>
                        </a:rPr>
                        <a:t>4</a:t>
                      </a:r>
                      <a:r>
                        <a:rPr lang="en-US" sz="1400" baseline="0" dirty="0">
                          <a:latin typeface="+mn-lt"/>
                        </a:rPr>
                        <a:t> (2.5 eq), 10 °C-RT, 4 h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Reactions, workup and crystallization conducted as per process description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Obtained: 3.58 g (67% over 3 steps)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sz="1400" baseline="0" dirty="0">
                          <a:latin typeface="+mn-lt"/>
                        </a:rPr>
                        <a:t>NMR in agreement with desired structure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LCMS: </a:t>
                      </a:r>
                      <a:r>
                        <a:rPr lang="en-US" sz="1400" baseline="0" dirty="0" err="1">
                          <a:latin typeface="+mn-lt"/>
                        </a:rPr>
                        <a:t>mz</a:t>
                      </a:r>
                      <a:r>
                        <a:rPr lang="en-US" sz="1400" baseline="0" dirty="0">
                          <a:latin typeface="+mn-lt"/>
                        </a:rPr>
                        <a:t>/ = 451</a:t>
                      </a:r>
                      <a:r>
                        <a:rPr lang="en-US" sz="1400" baseline="30000" dirty="0">
                          <a:latin typeface="+mn-lt"/>
                        </a:rPr>
                        <a:t>+ </a:t>
                      </a:r>
                      <a:r>
                        <a:rPr lang="en-US" sz="1400" baseline="0" dirty="0">
                          <a:latin typeface="+mn-lt"/>
                        </a:rPr>
                        <a:t>[M+H]</a:t>
                      </a:r>
                      <a:r>
                        <a:rPr lang="en-US" sz="1400" baseline="30000" dirty="0">
                          <a:latin typeface="+mn-lt"/>
                        </a:rPr>
                        <a:t>+</a:t>
                      </a:r>
                      <a:r>
                        <a:rPr lang="en-US" sz="1400" baseline="0" dirty="0">
                          <a:latin typeface="+mn-lt"/>
                        </a:rPr>
                        <a:t> </a:t>
                      </a:r>
                      <a:endParaRPr lang="en-US" sz="1400" baseline="30000" dirty="0">
                        <a:latin typeface="+mn-lt"/>
                      </a:endParaRP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HPLC: (78.7%), indicates presence of acid (5.3%) as an impurity; Unknown impurity 10.1%; suspected to be RPT-3574</a:t>
                      </a:r>
                    </a:p>
                  </a:txBody>
                  <a:tcPr marL="114300" marR="114300" marT="46800" marB="46800" anchor="ctr"/>
                </a:tc>
                <a:extLst>
                  <a:ext uri="{0D108BD9-81ED-4DB2-BD59-A6C34878D82A}">
                    <a16:rowId xmlns:a16="http://schemas.microsoft.com/office/drawing/2014/main" val="217088918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5260769" y="6498852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84038B-3BBD-DD25-BA31-B4CF3C17E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576" y="603581"/>
            <a:ext cx="8608849" cy="192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951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4B77F5C-6C22-C050-0695-A460A9673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941" y="68289"/>
            <a:ext cx="9678239" cy="67214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EC11FF-4429-04AD-CD70-6EC86B576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3005"/>
            <a:ext cx="3818238" cy="561632"/>
          </a:xfrm>
        </p:spPr>
        <p:txBody>
          <a:bodyPr>
            <a:normAutofit/>
          </a:bodyPr>
          <a:lstStyle/>
          <a:p>
            <a:r>
              <a:rPr lang="en-US" sz="2400" b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H NMR: Entry 1 – RPT-3576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4004D8-C3BA-BC0E-84D5-E00094BF411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389640" cy="60358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146DB5C-0C5E-9D70-E9FE-794D1A886076}"/>
              </a:ext>
            </a:extLst>
          </p:cNvPr>
          <p:cNvSpPr/>
          <p:nvPr/>
        </p:nvSpPr>
        <p:spPr>
          <a:xfrm>
            <a:off x="489778" y="6495062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4275C6-4761-15FB-FA62-D2BE4C974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805DF14-AC8F-3413-3A8C-685E9FF81C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048793"/>
              </p:ext>
            </p:extLst>
          </p:nvPr>
        </p:nvGraphicFramePr>
        <p:xfrm>
          <a:off x="912603" y="2238237"/>
          <a:ext cx="1993031" cy="1731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533101" imgH="1332037" progId="ChemDraw.Document.6.0">
                  <p:embed/>
                </p:oleObj>
              </mc:Choice>
              <mc:Fallback>
                <p:oleObj name="CS ChemDraw Drawing" r:id="rId4" imgW="1533101" imgH="1332037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2603" y="2238237"/>
                        <a:ext cx="1993031" cy="17316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4774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2EC9273-C611-469C-180E-63F39AFEAB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91"/>
          <a:stretch/>
        </p:blipFill>
        <p:spPr>
          <a:xfrm>
            <a:off x="4051797" y="0"/>
            <a:ext cx="5413477" cy="68662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EC11FF-4429-04AD-CD70-6EC86B576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3" y="834683"/>
            <a:ext cx="6155724" cy="561632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LCMS: Entry 1 – RPT-3576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AF9B3E-6122-76C0-D0BF-E9E9C30EC97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389640" cy="6035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1E9F1EB-B87D-FF1B-6923-340725054FEA}"/>
              </a:ext>
            </a:extLst>
          </p:cNvPr>
          <p:cNvSpPr/>
          <p:nvPr/>
        </p:nvSpPr>
        <p:spPr>
          <a:xfrm>
            <a:off x="1121256" y="6538912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B44FA-DFB7-19CF-3FEF-8AC78016A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67EC1C13-B34B-16FE-351A-14E1F06A16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288252"/>
              </p:ext>
            </p:extLst>
          </p:nvPr>
        </p:nvGraphicFramePr>
        <p:xfrm>
          <a:off x="912603" y="2238237"/>
          <a:ext cx="1993031" cy="1731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533101" imgH="1332037" progId="ChemDraw.Document.6.0">
                  <p:embed/>
                </p:oleObj>
              </mc:Choice>
              <mc:Fallback>
                <p:oleObj name="CS ChemDraw Drawing" r:id="rId4" imgW="1533101" imgH="1332037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F805DF14-AC8F-3413-3A8C-685E9FF81C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2603" y="2238237"/>
                        <a:ext cx="1993031" cy="17316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059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B5299AB-72F4-66D9-1CC9-8CBF6FE711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21" t="21953" b="41831"/>
          <a:stretch/>
        </p:blipFill>
        <p:spPr>
          <a:xfrm>
            <a:off x="131923" y="643595"/>
            <a:ext cx="11753346" cy="58552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EC11FF-4429-04AD-CD70-6EC86B576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28"/>
            <a:ext cx="10515600" cy="561632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HPLC: Entry 1 – RPT-3576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D22523-EE92-C466-315D-11223F19780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389640" cy="6035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84F903F-93E9-4682-96B3-48562B0F2607}"/>
              </a:ext>
            </a:extLst>
          </p:cNvPr>
          <p:cNvSpPr/>
          <p:nvPr/>
        </p:nvSpPr>
        <p:spPr>
          <a:xfrm>
            <a:off x="5260769" y="6498852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4AF188-7C01-4644-572B-260CBCAFF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11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5795E0-8944-8D21-81AC-5B0137B4455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56" t="82674" r="39917" b="4912"/>
          <a:stretch/>
        </p:blipFill>
        <p:spPr>
          <a:xfrm>
            <a:off x="6715115" y="1020459"/>
            <a:ext cx="4782065" cy="136142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66D362A0-A966-394E-19C8-BF79F955FE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288252"/>
              </p:ext>
            </p:extLst>
          </p:nvPr>
        </p:nvGraphicFramePr>
        <p:xfrm>
          <a:off x="912603" y="2238237"/>
          <a:ext cx="1993031" cy="1731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1533101" imgH="1332037" progId="ChemDraw.Document.6.0">
                  <p:embed/>
                </p:oleObj>
              </mc:Choice>
              <mc:Fallback>
                <p:oleObj name="CS ChemDraw Drawing" r:id="rId5" imgW="1533101" imgH="1332037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F805DF14-AC8F-3413-3A8C-685E9FF81C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2603" y="2238237"/>
                        <a:ext cx="1993031" cy="17316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5170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D3B6FDF-7DE8-B736-2BBB-AA8B7BA8F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808" y="0"/>
            <a:ext cx="9731583" cy="68357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EC11FF-4429-04AD-CD70-6EC86B576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89" y="1200304"/>
            <a:ext cx="6009503" cy="561632"/>
          </a:xfrm>
        </p:spPr>
        <p:txBody>
          <a:bodyPr>
            <a:normAutofit/>
          </a:bodyPr>
          <a:lstStyle/>
          <a:p>
            <a:r>
              <a:rPr lang="en-US" sz="2400" b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H NMR: Entry 2 – RPT-3576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4D2BF3-D622-4C2D-736F-988D93DDFF3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389640" cy="60358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DCCD855-1B00-2BD9-F912-0B5F623F3434}"/>
              </a:ext>
            </a:extLst>
          </p:cNvPr>
          <p:cNvSpPr/>
          <p:nvPr/>
        </p:nvSpPr>
        <p:spPr>
          <a:xfrm>
            <a:off x="450896" y="6413698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6A531A-2C78-1F03-A0F5-28462568C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A4044CE-AEDA-AD57-A4C7-75339F66E6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288252"/>
              </p:ext>
            </p:extLst>
          </p:nvPr>
        </p:nvGraphicFramePr>
        <p:xfrm>
          <a:off x="912603" y="2238237"/>
          <a:ext cx="1993031" cy="1731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533101" imgH="1332037" progId="ChemDraw.Document.6.0">
                  <p:embed/>
                </p:oleObj>
              </mc:Choice>
              <mc:Fallback>
                <p:oleObj name="CS ChemDraw Drawing" r:id="rId4" imgW="1533101" imgH="1332037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F805DF14-AC8F-3413-3A8C-685E9FF81C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2603" y="2238237"/>
                        <a:ext cx="1993031" cy="17316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9663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A957CF1-4CC5-AF8C-B483-8A48DC1E9B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91"/>
          <a:stretch/>
        </p:blipFill>
        <p:spPr>
          <a:xfrm>
            <a:off x="4072371" y="1942"/>
            <a:ext cx="5407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EC11FF-4429-04AD-CD70-6EC86B576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85256"/>
            <a:ext cx="6217508" cy="561632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LCMS: Entry 2 – RPT-3576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18248E-4BC3-7FE7-1097-1A11542B8E8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389640" cy="60358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64D4858-D538-61B6-00D9-A645159E76A1}"/>
              </a:ext>
            </a:extLst>
          </p:cNvPr>
          <p:cNvSpPr/>
          <p:nvPr/>
        </p:nvSpPr>
        <p:spPr>
          <a:xfrm>
            <a:off x="1127839" y="6440599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60674-FDF6-AF15-B508-EA90C1F91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6ED33039-38FD-3770-F700-66A34A0EA1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288252"/>
              </p:ext>
            </p:extLst>
          </p:nvPr>
        </p:nvGraphicFramePr>
        <p:xfrm>
          <a:off x="912603" y="2238237"/>
          <a:ext cx="1993031" cy="1731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1533101" imgH="1332037" progId="ChemDraw.Document.6.0">
                  <p:embed/>
                </p:oleObj>
              </mc:Choice>
              <mc:Fallback>
                <p:oleObj name="CS ChemDraw Drawing" r:id="rId4" imgW="1533101" imgH="1332037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F805DF14-AC8F-3413-3A8C-685E9FF81C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2603" y="2238237"/>
                        <a:ext cx="1993031" cy="17316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9063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5D04E0D-C444-3B2E-3636-99E47AF94F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90" t="21953" b="41831"/>
          <a:stretch/>
        </p:blipFill>
        <p:spPr>
          <a:xfrm>
            <a:off x="94105" y="635117"/>
            <a:ext cx="11759783" cy="58379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EC11FF-4429-04AD-CD70-6EC86B576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321"/>
            <a:ext cx="10515600" cy="561632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HPLC: Entry 2 – RPT-3576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77987F-CFCF-3A29-FD31-916D56ECD4F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389640" cy="60358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3C03E9B-5726-5AE0-D435-44DD93004773}"/>
              </a:ext>
            </a:extLst>
          </p:cNvPr>
          <p:cNvSpPr/>
          <p:nvPr/>
        </p:nvSpPr>
        <p:spPr>
          <a:xfrm>
            <a:off x="5260769" y="6498852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33F5D6-A1FF-A663-38FE-A091E5108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14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BC066C-3453-4880-D92D-09DCA18B97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27" t="80569" r="39212" b="4575"/>
          <a:stretch/>
        </p:blipFill>
        <p:spPr>
          <a:xfrm>
            <a:off x="6982539" y="939114"/>
            <a:ext cx="4608416" cy="154459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A9714E46-F613-90DC-8797-009947B1A6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288252"/>
              </p:ext>
            </p:extLst>
          </p:nvPr>
        </p:nvGraphicFramePr>
        <p:xfrm>
          <a:off x="912603" y="2238237"/>
          <a:ext cx="1993031" cy="1731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1533101" imgH="1332037" progId="ChemDraw.Document.6.0">
                  <p:embed/>
                </p:oleObj>
              </mc:Choice>
              <mc:Fallback>
                <p:oleObj name="CS ChemDraw Drawing" r:id="rId5" imgW="1533101" imgH="1332037" progId="ChemDraw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F805DF14-AC8F-3413-3A8C-685E9FF81C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2603" y="2238237"/>
                        <a:ext cx="1993031" cy="17316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644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5"/>
          <p:cNvSpPr txBox="1">
            <a:spLocks/>
          </p:cNvSpPr>
          <p:nvPr/>
        </p:nvSpPr>
        <p:spPr>
          <a:xfrm>
            <a:off x="838200" y="66580"/>
            <a:ext cx="10515600" cy="5377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Oxidation: TEMPO/</a:t>
            </a:r>
            <a:r>
              <a:rPr kumimoji="0" lang="en-CA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NaClO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(MTBE)</a:t>
            </a:r>
            <a:endParaRPr kumimoji="0" lang="en-US" sz="24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15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227146-F605-D31E-F0BE-5E2FE18B9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223960"/>
              </p:ext>
            </p:extLst>
          </p:nvPr>
        </p:nvGraphicFramePr>
        <p:xfrm>
          <a:off x="309716" y="2896436"/>
          <a:ext cx="11572568" cy="3181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4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41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4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93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Entry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66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cs typeface="Cambria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200 mg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RPT-3574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(200 mg, 1 eq), </a:t>
                      </a:r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NaClO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(1.25 eq, pH 9.5), TEMPO (0.1 eq), </a:t>
                      </a:r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NaBr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(0.2 eq), MTBE (5 mL), NaHCO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+ K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(5 mL, pH = 9.2), 5-15 °C, 1 h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Tested using </a:t>
                      </a:r>
                      <a:r>
                        <a:rPr lang="en-US" sz="1400" b="1" baseline="0" dirty="0">
                          <a:latin typeface="+mn-lt"/>
                        </a:rPr>
                        <a:t>MTBE</a:t>
                      </a:r>
                      <a:r>
                        <a:rPr lang="en-US" sz="1400" baseline="0" dirty="0">
                          <a:latin typeface="+mn-lt"/>
                        </a:rPr>
                        <a:t> to simplify extractive workup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HPLC: </a:t>
                      </a:r>
                      <a:r>
                        <a:rPr lang="en-US" sz="1400" b="1" baseline="0" dirty="0">
                          <a:latin typeface="+mn-lt"/>
                        </a:rPr>
                        <a:t>RPT-3574</a:t>
                      </a:r>
                      <a:r>
                        <a:rPr lang="en-US" sz="1400" baseline="0" dirty="0">
                          <a:latin typeface="+mn-lt"/>
                        </a:rPr>
                        <a:t> (</a:t>
                      </a:r>
                      <a:r>
                        <a:rPr lang="en-US" sz="1400" b="1" baseline="0" dirty="0">
                          <a:solidFill>
                            <a:srgbClr val="C00000"/>
                          </a:solidFill>
                          <a:latin typeface="+mn-lt"/>
                        </a:rPr>
                        <a:t>8.9%</a:t>
                      </a:r>
                      <a:r>
                        <a:rPr lang="en-US" sz="1400" baseline="0" dirty="0">
                          <a:latin typeface="+mn-lt"/>
                        </a:rPr>
                        <a:t>); </a:t>
                      </a:r>
                      <a:r>
                        <a:rPr lang="en-US" sz="1400" b="1" baseline="0" dirty="0">
                          <a:latin typeface="+mn-lt"/>
                        </a:rPr>
                        <a:t>RPT-3575</a:t>
                      </a:r>
                      <a:r>
                        <a:rPr lang="en-US" sz="1400" baseline="0" dirty="0">
                          <a:latin typeface="+mn-lt"/>
                        </a:rPr>
                        <a:t> (87.5%), </a:t>
                      </a:r>
                      <a:br>
                        <a:rPr lang="en-US" sz="1400" baseline="0" dirty="0">
                          <a:latin typeface="+mn-lt"/>
                        </a:rPr>
                      </a:br>
                      <a:r>
                        <a:rPr lang="en-US" sz="1400" b="1" baseline="0" dirty="0">
                          <a:latin typeface="+mn-lt"/>
                        </a:rPr>
                        <a:t>RPT-2950-1B</a:t>
                      </a:r>
                      <a:r>
                        <a:rPr lang="en-US" sz="1400" baseline="0" dirty="0">
                          <a:latin typeface="+mn-lt"/>
                        </a:rPr>
                        <a:t> (3.5%)</a:t>
                      </a:r>
                    </a:p>
                  </a:txBody>
                  <a:tcPr marL="114300" marR="114300" marT="46800" marB="46800" anchor="ctr"/>
                </a:tc>
                <a:extLst>
                  <a:ext uri="{0D108BD9-81ED-4DB2-BD59-A6C34878D82A}">
                    <a16:rowId xmlns:a16="http://schemas.microsoft.com/office/drawing/2014/main" val="4253667341"/>
                  </a:ext>
                </a:extLst>
              </a:tr>
              <a:tr h="81937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cs typeface="Cambria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2 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RPT-3574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(2 g, 1 eq), </a:t>
                      </a:r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NaClO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(1.25 eq, pH 9.5), TEMPO (0.1 eq), KBr (0.2 eq), MTBE (50 mL), NaHCO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+ K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</a:t>
                      </a:r>
                      <a:r>
                        <a:rPr kumimoji="0" lang="en-US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(50 mL, pH = 9.2), 5-15 °C, 60 min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sz="1400" baseline="0" dirty="0">
                          <a:latin typeface="+mn-lt"/>
                        </a:rPr>
                        <a:t>Repeat using </a:t>
                      </a:r>
                      <a:r>
                        <a:rPr lang="en-US" sz="1400" b="1" baseline="0" dirty="0">
                          <a:latin typeface="+mn-lt"/>
                        </a:rPr>
                        <a:t>MTBE</a:t>
                      </a:r>
                      <a:r>
                        <a:rPr lang="en-US" sz="1400" baseline="0" dirty="0">
                          <a:latin typeface="+mn-lt"/>
                        </a:rPr>
                        <a:t> to simplify extractive workup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HPLC: </a:t>
                      </a:r>
                      <a:r>
                        <a:rPr lang="en-US" sz="1400" b="1" baseline="0" dirty="0">
                          <a:latin typeface="+mn-lt"/>
                        </a:rPr>
                        <a:t>RPT-3574</a:t>
                      </a:r>
                      <a:r>
                        <a:rPr lang="en-US" sz="1400" baseline="0" dirty="0">
                          <a:latin typeface="+mn-lt"/>
                        </a:rPr>
                        <a:t> (</a:t>
                      </a:r>
                      <a:r>
                        <a:rPr lang="en-US" sz="1400" b="1" baseline="0" dirty="0">
                          <a:solidFill>
                            <a:srgbClr val="C00000"/>
                          </a:solidFill>
                          <a:latin typeface="+mn-lt"/>
                        </a:rPr>
                        <a:t>16.7%</a:t>
                      </a:r>
                      <a:r>
                        <a:rPr lang="en-US" sz="1400" baseline="0" dirty="0">
                          <a:latin typeface="+mn-lt"/>
                        </a:rPr>
                        <a:t>); </a:t>
                      </a:r>
                      <a:r>
                        <a:rPr lang="en-US" sz="1400" b="1" baseline="0" dirty="0">
                          <a:latin typeface="+mn-lt"/>
                        </a:rPr>
                        <a:t>RPT-3575</a:t>
                      </a:r>
                      <a:r>
                        <a:rPr lang="en-US" sz="1400" baseline="0" dirty="0">
                          <a:latin typeface="+mn-lt"/>
                        </a:rPr>
                        <a:t> (82.3%),               </a:t>
                      </a:r>
                      <a:br>
                        <a:rPr lang="en-US" sz="1400" baseline="0" dirty="0">
                          <a:latin typeface="+mn-lt"/>
                        </a:rPr>
                      </a:br>
                      <a:r>
                        <a:rPr lang="en-US" sz="1400" b="1" baseline="0" dirty="0">
                          <a:latin typeface="+mn-lt"/>
                        </a:rPr>
                        <a:t>RPT-2950-1B</a:t>
                      </a:r>
                      <a:r>
                        <a:rPr lang="en-US" sz="1400" baseline="0" dirty="0">
                          <a:latin typeface="+mn-lt"/>
                        </a:rPr>
                        <a:t> (1.1%)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sz="1400" baseline="0" dirty="0">
                          <a:latin typeface="+mn-lt"/>
                        </a:rPr>
                        <a:t>More SM persisted after </a:t>
                      </a:r>
                      <a:r>
                        <a:rPr lang="en-US" sz="1400" baseline="0" dirty="0" err="1">
                          <a:latin typeface="+mn-lt"/>
                        </a:rPr>
                        <a:t>rxn</a:t>
                      </a:r>
                      <a:r>
                        <a:rPr lang="en-US" sz="1400" baseline="0" dirty="0">
                          <a:latin typeface="+mn-lt"/>
                        </a:rPr>
                        <a:t> period vs. </a:t>
                      </a:r>
                      <a:r>
                        <a:rPr lang="en-US" sz="1400" baseline="0" dirty="0" err="1">
                          <a:latin typeface="+mn-lt"/>
                        </a:rPr>
                        <a:t>rxn</a:t>
                      </a:r>
                      <a:r>
                        <a:rPr lang="en-US" sz="1400" baseline="0" dirty="0">
                          <a:latin typeface="+mn-lt"/>
                        </a:rPr>
                        <a:t> in DCM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sz="1400" baseline="0" dirty="0">
                          <a:latin typeface="+mn-lt"/>
                        </a:rPr>
                        <a:t>May be improved by adding more </a:t>
                      </a:r>
                      <a:r>
                        <a:rPr lang="en-US" sz="1400" baseline="0" dirty="0" err="1">
                          <a:latin typeface="+mn-lt"/>
                        </a:rPr>
                        <a:t>NaClO</a:t>
                      </a:r>
                      <a:r>
                        <a:rPr lang="en-US" sz="1400" baseline="0" dirty="0">
                          <a:latin typeface="+mn-lt"/>
                        </a:rPr>
                        <a:t>/longer </a:t>
                      </a:r>
                      <a:r>
                        <a:rPr lang="en-US" sz="1400" baseline="0" dirty="0" err="1">
                          <a:latin typeface="+mn-lt"/>
                        </a:rPr>
                        <a:t>rxn</a:t>
                      </a:r>
                      <a:r>
                        <a:rPr lang="en-US" sz="1400" baseline="0" dirty="0">
                          <a:latin typeface="+mn-lt"/>
                        </a:rPr>
                        <a:t> time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sz="1400" baseline="0" dirty="0">
                          <a:latin typeface="+mn-lt"/>
                        </a:rPr>
                        <a:t>Aqueous quench &amp; extractive workup done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sz="1400" baseline="0" dirty="0">
                          <a:latin typeface="+mn-lt"/>
                        </a:rPr>
                        <a:t>Obtained 3.3 g crude material; used without purification in formylation/reduction steps</a:t>
                      </a:r>
                    </a:p>
                  </a:txBody>
                  <a:tcPr marL="114300" marR="114300" marT="46800" marB="46800" anchor="ctr"/>
                </a:tc>
                <a:extLst>
                  <a:ext uri="{0D108BD9-81ED-4DB2-BD59-A6C34878D82A}">
                    <a16:rowId xmlns:a16="http://schemas.microsoft.com/office/drawing/2014/main" val="70426644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5260769" y="6498852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54364F-3B69-F699-3D62-F81376633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479" y="780488"/>
            <a:ext cx="8641041" cy="167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773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1547B2D-7E50-FA21-2704-F939DDE169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73" t="21442" b="41509"/>
          <a:stretch/>
        </p:blipFill>
        <p:spPr>
          <a:xfrm>
            <a:off x="136123" y="521062"/>
            <a:ext cx="11865660" cy="6012229"/>
          </a:xfrm>
          <a:prstGeom prst="rect">
            <a:avLst/>
          </a:prstGeom>
        </p:spPr>
      </p:pic>
      <p:sp>
        <p:nvSpPr>
          <p:cNvPr id="9" name="Title 5"/>
          <p:cNvSpPr txBox="1">
            <a:spLocks/>
          </p:cNvSpPr>
          <p:nvPr/>
        </p:nvSpPr>
        <p:spPr>
          <a:xfrm>
            <a:off x="2794670" y="48671"/>
            <a:ext cx="6019130" cy="46097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HPLC Entry 1: TEMPO/</a:t>
            </a:r>
            <a:r>
              <a:rPr kumimoji="0" lang="en-CA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NaClO</a:t>
            </a:r>
            <a:endParaRPr kumimoji="0" lang="en-CA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16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5170888" y="6501552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3DAA56-8B67-B7C1-F581-641CACB444B7}"/>
              </a:ext>
            </a:extLst>
          </p:cNvPr>
          <p:cNvSpPr txBox="1"/>
          <p:nvPr/>
        </p:nvSpPr>
        <p:spPr>
          <a:xfrm>
            <a:off x="6111209" y="209678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3574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C45E26-E3D9-921F-5538-FDBFDA7E6919}"/>
              </a:ext>
            </a:extLst>
          </p:cNvPr>
          <p:cNvSpPr txBox="1"/>
          <p:nvPr/>
        </p:nvSpPr>
        <p:spPr>
          <a:xfrm>
            <a:off x="5115970" y="4552278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2950-1B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9BA8E0-73BE-57CE-76AB-1C0721EBC5D8}"/>
              </a:ext>
            </a:extLst>
          </p:cNvPr>
          <p:cNvCxnSpPr>
            <a:cxnSpLocks/>
          </p:cNvCxnSpPr>
          <p:nvPr/>
        </p:nvCxnSpPr>
        <p:spPr>
          <a:xfrm>
            <a:off x="5830614" y="4884470"/>
            <a:ext cx="384026" cy="6088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BA4690D-E730-0F98-F795-EDEFC0454BFF}"/>
              </a:ext>
            </a:extLst>
          </p:cNvPr>
          <p:cNvCxnSpPr>
            <a:cxnSpLocks/>
          </p:cNvCxnSpPr>
          <p:nvPr/>
        </p:nvCxnSpPr>
        <p:spPr>
          <a:xfrm>
            <a:off x="6437581" y="2409464"/>
            <a:ext cx="0" cy="28811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E30C9F2-26FF-0812-B22C-54C087B499A1}"/>
              </a:ext>
            </a:extLst>
          </p:cNvPr>
          <p:cNvSpPr txBox="1"/>
          <p:nvPr/>
        </p:nvSpPr>
        <p:spPr>
          <a:xfrm>
            <a:off x="7180021" y="3125251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3575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F5F522E-9959-5709-E14A-D13487EFDBD3}"/>
              </a:ext>
            </a:extLst>
          </p:cNvPr>
          <p:cNvGrpSpPr/>
          <p:nvPr/>
        </p:nvGrpSpPr>
        <p:grpSpPr>
          <a:xfrm>
            <a:off x="6519007" y="3415488"/>
            <a:ext cx="750954" cy="996734"/>
            <a:chOff x="6716646" y="3695700"/>
            <a:chExt cx="750954" cy="996734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BD69B17-6DA6-1EB5-F740-EB09645A80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16646" y="3695700"/>
              <a:ext cx="750954" cy="84433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920CB58-391D-348A-1593-7912B33A96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9046" y="3695700"/>
              <a:ext cx="598554" cy="99673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2134EB3-9432-323F-E605-7BD211C12E9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88" t="80172" r="39669" b="4591"/>
          <a:stretch/>
        </p:blipFill>
        <p:spPr>
          <a:xfrm>
            <a:off x="7304972" y="789642"/>
            <a:ext cx="4501236" cy="155326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77568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5CC44DE-B264-7FEF-5706-83F30B302E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00" t="21818" b="41958"/>
          <a:stretch/>
        </p:blipFill>
        <p:spPr>
          <a:xfrm>
            <a:off x="388586" y="679548"/>
            <a:ext cx="11395081" cy="5676802"/>
          </a:xfrm>
          <a:prstGeom prst="rect">
            <a:avLst/>
          </a:prstGeom>
        </p:spPr>
      </p:pic>
      <p:sp>
        <p:nvSpPr>
          <p:cNvPr id="9" name="Title 5"/>
          <p:cNvSpPr txBox="1">
            <a:spLocks/>
          </p:cNvSpPr>
          <p:nvPr/>
        </p:nvSpPr>
        <p:spPr>
          <a:xfrm>
            <a:off x="3199312" y="51371"/>
            <a:ext cx="5389605" cy="5377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HPLC Entry 2: TEMPO/</a:t>
            </a:r>
            <a:r>
              <a:rPr kumimoji="0" lang="en-CA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NaClO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(1 h)</a:t>
            </a:r>
            <a:endParaRPr kumimoji="0" lang="en-US" sz="24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17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5260769" y="6498852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CC41D9-34B5-373A-8D21-BF4852604CF2}"/>
              </a:ext>
            </a:extLst>
          </p:cNvPr>
          <p:cNvSpPr txBox="1"/>
          <p:nvPr/>
        </p:nvSpPr>
        <p:spPr>
          <a:xfrm>
            <a:off x="5059295" y="3047793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3574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6AA2AE-9157-C857-C206-312F231E9CA4}"/>
              </a:ext>
            </a:extLst>
          </p:cNvPr>
          <p:cNvSpPr txBox="1"/>
          <p:nvPr/>
        </p:nvSpPr>
        <p:spPr>
          <a:xfrm>
            <a:off x="5179470" y="4552278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2950-1B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D51B87E-EB51-C9EC-A209-0C7931D44D9D}"/>
              </a:ext>
            </a:extLst>
          </p:cNvPr>
          <p:cNvCxnSpPr>
            <a:cxnSpLocks/>
          </p:cNvCxnSpPr>
          <p:nvPr/>
        </p:nvCxnSpPr>
        <p:spPr>
          <a:xfrm>
            <a:off x="5894114" y="4884470"/>
            <a:ext cx="384026" cy="6088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8D69FB2-DA8D-92A5-6EA3-A560601251B4}"/>
              </a:ext>
            </a:extLst>
          </p:cNvPr>
          <p:cNvCxnSpPr>
            <a:cxnSpLocks/>
          </p:cNvCxnSpPr>
          <p:nvPr/>
        </p:nvCxnSpPr>
        <p:spPr>
          <a:xfrm>
            <a:off x="5664538" y="3258941"/>
            <a:ext cx="760013" cy="4817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F81FB8D-38CA-A713-BB8F-1D34F5DE95E0}"/>
              </a:ext>
            </a:extLst>
          </p:cNvPr>
          <p:cNvSpPr txBox="1"/>
          <p:nvPr/>
        </p:nvSpPr>
        <p:spPr>
          <a:xfrm>
            <a:off x="7255552" y="3919397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3575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3FD577A-63B2-A79A-C29F-54CB210C1243}"/>
              </a:ext>
            </a:extLst>
          </p:cNvPr>
          <p:cNvGrpSpPr/>
          <p:nvPr/>
        </p:nvGrpSpPr>
        <p:grpSpPr>
          <a:xfrm>
            <a:off x="6594538" y="4209634"/>
            <a:ext cx="750954" cy="996734"/>
            <a:chOff x="6716646" y="3695700"/>
            <a:chExt cx="750954" cy="996734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A68CE32-DB8B-DFC8-EB24-C540A3D238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16646" y="3695700"/>
              <a:ext cx="750954" cy="84433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CC8A174-5C46-4E95-E602-0AB45277A6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9046" y="3695700"/>
              <a:ext cx="598554" cy="99673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7C035FE-0B13-70B9-1C51-ECA3FA7F4E3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17" t="80578" r="38594" b="5473"/>
          <a:stretch/>
        </p:blipFill>
        <p:spPr>
          <a:xfrm>
            <a:off x="6931654" y="939389"/>
            <a:ext cx="4852013" cy="150520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83737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5"/>
          <p:cNvSpPr txBox="1">
            <a:spLocks/>
          </p:cNvSpPr>
          <p:nvPr/>
        </p:nvSpPr>
        <p:spPr>
          <a:xfrm>
            <a:off x="838200" y="66580"/>
            <a:ext cx="10515600" cy="5377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b="1" dirty="0">
                <a:solidFill>
                  <a:prstClr val="black"/>
                </a:solidFill>
                <a:latin typeface="+mn-lt"/>
              </a:rPr>
              <a:t>Formylation/Reduction on RPT-3575</a:t>
            </a:r>
            <a:endParaRPr kumimoji="0" lang="en-US" sz="24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18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227146-F605-D31E-F0BE-5E2FE18B9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607681"/>
              </p:ext>
            </p:extLst>
          </p:nvPr>
        </p:nvGraphicFramePr>
        <p:xfrm>
          <a:off x="648523" y="3743933"/>
          <a:ext cx="10946084" cy="1310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7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81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14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93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Entry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937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cs typeface="Cambria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3.3 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baseline="0" dirty="0">
                          <a:latin typeface="+mn-lt"/>
                        </a:rPr>
                        <a:t>RPT-3575 </a:t>
                      </a:r>
                      <a:r>
                        <a:rPr lang="en-US" sz="1400" baseline="0" dirty="0">
                          <a:latin typeface="+mn-lt"/>
                        </a:rPr>
                        <a:t>(~3.3 g, 1 eq), H</a:t>
                      </a:r>
                      <a:r>
                        <a:rPr lang="en-US" sz="1400" baseline="-25000" dirty="0">
                          <a:latin typeface="+mn-lt"/>
                        </a:rPr>
                        <a:t>2</a:t>
                      </a:r>
                      <a:r>
                        <a:rPr lang="en-US" sz="1400" baseline="0" dirty="0">
                          <a:latin typeface="+mn-lt"/>
                        </a:rPr>
                        <a:t>C=O (37% </a:t>
                      </a:r>
                      <a:r>
                        <a:rPr lang="en-US" sz="1400" baseline="0" dirty="0" err="1">
                          <a:latin typeface="+mn-lt"/>
                        </a:rPr>
                        <a:t>aq</a:t>
                      </a:r>
                      <a:r>
                        <a:rPr lang="en-US" sz="1400" baseline="0" dirty="0">
                          <a:latin typeface="+mn-lt"/>
                        </a:rPr>
                        <a:t>, 6.6 mL, 2 V, ~10 eq), NaOH (2 M, 7 mL, 2.2 V, ~5 eq), Dioxane (20 mL), RT, O/N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aseline="0" dirty="0">
                          <a:latin typeface="+mn-lt"/>
                        </a:rPr>
                        <a:t>Then: NaBH</a:t>
                      </a:r>
                      <a:r>
                        <a:rPr lang="en-US" sz="1400" baseline="-25000" dirty="0">
                          <a:latin typeface="+mn-lt"/>
                        </a:rPr>
                        <a:t>4</a:t>
                      </a:r>
                      <a:r>
                        <a:rPr lang="en-US" sz="1400" baseline="0" dirty="0">
                          <a:latin typeface="+mn-lt"/>
                        </a:rPr>
                        <a:t> (2.5 eq), 10 °C-RT, 4 h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Reactions &amp; workup were conducted as per process description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Isolation in progress</a:t>
                      </a:r>
                    </a:p>
                  </a:txBody>
                  <a:tcPr marL="114300" marR="114300" marT="46800" marB="46800" anchor="ctr"/>
                </a:tc>
                <a:extLst>
                  <a:ext uri="{0D108BD9-81ED-4DB2-BD59-A6C34878D82A}">
                    <a16:rowId xmlns:a16="http://schemas.microsoft.com/office/drawing/2014/main" val="70426644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5260769" y="6498852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84038B-3BBD-DD25-BA31-B4CF3C17E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575" y="943289"/>
            <a:ext cx="8608849" cy="192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875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22DAB2-5DE7-AB95-7908-A05242825D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865660"/>
              </p:ext>
            </p:extLst>
          </p:nvPr>
        </p:nvGraphicFramePr>
        <p:xfrm>
          <a:off x="502767" y="1771719"/>
          <a:ext cx="11186465" cy="36520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85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2280">
                  <a:extLst>
                    <a:ext uri="{9D8B030D-6E8A-4147-A177-3AD203B41FA5}">
                      <a16:colId xmlns:a16="http://schemas.microsoft.com/office/drawing/2014/main" val="634964217"/>
                    </a:ext>
                  </a:extLst>
                </a:gridCol>
                <a:gridCol w="1297137">
                  <a:extLst>
                    <a:ext uri="{9D8B030D-6E8A-4147-A177-3AD203B41FA5}">
                      <a16:colId xmlns:a16="http://schemas.microsoft.com/office/drawing/2014/main" val="1269592326"/>
                    </a:ext>
                  </a:extLst>
                </a:gridCol>
                <a:gridCol w="1539875">
                  <a:extLst>
                    <a:ext uri="{9D8B030D-6E8A-4147-A177-3AD203B41FA5}">
                      <a16:colId xmlns:a16="http://schemas.microsoft.com/office/drawing/2014/main" val="2412877015"/>
                    </a:ext>
                  </a:extLst>
                </a:gridCol>
                <a:gridCol w="910146">
                  <a:extLst>
                    <a:ext uri="{9D8B030D-6E8A-4147-A177-3AD203B41FA5}">
                      <a16:colId xmlns:a16="http://schemas.microsoft.com/office/drawing/2014/main" val="2423525569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3765502280"/>
                    </a:ext>
                  </a:extLst>
                </a:gridCol>
                <a:gridCol w="744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0540">
                  <a:extLst>
                    <a:ext uri="{9D8B030D-6E8A-4147-A177-3AD203B41FA5}">
                      <a16:colId xmlns:a16="http://schemas.microsoft.com/office/drawing/2014/main" val="3334741045"/>
                    </a:ext>
                  </a:extLst>
                </a:gridCol>
                <a:gridCol w="1051264">
                  <a:extLst>
                    <a:ext uri="{9D8B030D-6E8A-4147-A177-3AD203B41FA5}">
                      <a16:colId xmlns:a16="http://schemas.microsoft.com/office/drawing/2014/main" val="2104093269"/>
                    </a:ext>
                  </a:extLst>
                </a:gridCol>
              </a:tblGrid>
              <a:tr h="407842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Entry </a:t>
                      </a:r>
                      <a:br>
                        <a:rPr lang="en-US" sz="160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Scale</a:t>
                      </a:r>
                      <a:br>
                        <a:rPr lang="en-US" sz="1600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g</a:t>
                      </a:r>
                    </a:p>
                  </a:txBody>
                  <a:tcPr anchor="ctr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Conditions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Product Distribution HPLC A%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509">
                <a:tc vMerge="1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/>
                        <a:buNone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+mn-lt"/>
                        <a:cs typeface="Cambria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baseline="0" dirty="0" err="1">
                          <a:solidFill>
                            <a:schemeClr val="bg1"/>
                          </a:solidFill>
                          <a:latin typeface="+mn-lt"/>
                        </a:rPr>
                        <a:t>NaClO</a:t>
                      </a:r>
                      <a:r>
                        <a:rPr lang="en-US" sz="1400" b="1" baseline="0" dirty="0">
                          <a:solidFill>
                            <a:schemeClr val="bg1"/>
                          </a:solidFill>
                          <a:latin typeface="+mn-lt"/>
                        </a:rPr>
                        <a:t> eq.</a:t>
                      </a:r>
                    </a:p>
                  </a:txBody>
                  <a:tcPr marL="114300" marR="114300" marT="46800" marB="468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baseline="0" dirty="0">
                          <a:solidFill>
                            <a:schemeClr val="bg1"/>
                          </a:solidFill>
                          <a:latin typeface="+mn-lt"/>
                        </a:rPr>
                        <a:t>TEMPO eq.</a:t>
                      </a:r>
                    </a:p>
                  </a:txBody>
                  <a:tcPr marL="114300" marR="114300" marT="46800" marB="468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baseline="0" dirty="0">
                          <a:solidFill>
                            <a:schemeClr val="bg1"/>
                          </a:solidFill>
                          <a:latin typeface="+mn-lt"/>
                        </a:rPr>
                        <a:t>Salt (Eq.)</a:t>
                      </a:r>
                    </a:p>
                  </a:txBody>
                  <a:tcPr marL="114300" marR="114300" marT="46800" marB="468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baseline="0" dirty="0">
                          <a:solidFill>
                            <a:schemeClr val="bg1"/>
                          </a:solidFill>
                          <a:latin typeface="+mn-lt"/>
                        </a:rPr>
                        <a:t>Solvent</a:t>
                      </a:r>
                    </a:p>
                  </a:txBody>
                  <a:tcPr marL="114300" marR="114300" marT="46800" marB="468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baseline="0" dirty="0">
                          <a:solidFill>
                            <a:schemeClr val="bg1"/>
                          </a:solidFill>
                          <a:latin typeface="+mn-lt"/>
                        </a:rPr>
                        <a:t>Temp. °C</a:t>
                      </a:r>
                    </a:p>
                  </a:txBody>
                  <a:tcPr marL="114300" marR="114300" marT="46800" marB="468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1" baseline="0" dirty="0">
                          <a:solidFill>
                            <a:schemeClr val="bg1"/>
                          </a:solidFill>
                          <a:latin typeface="+mn-lt"/>
                        </a:rPr>
                        <a:t>Time</a:t>
                      </a:r>
                    </a:p>
                  </a:txBody>
                  <a:tcPr marL="114300" marR="114300" marT="46800" marB="4680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charset="0"/>
                        <a:buNone/>
                      </a:pPr>
                      <a:r>
                        <a:rPr lang="en-US" sz="1400" b="1" baseline="0" dirty="0">
                          <a:solidFill>
                            <a:schemeClr val="bg1"/>
                          </a:solidFill>
                          <a:latin typeface="+mn-lt"/>
                        </a:rPr>
                        <a:t>3574</a:t>
                      </a:r>
                      <a:endParaRPr lang="en-US" sz="1400" baseline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charset="0"/>
                        <a:buNone/>
                      </a:pPr>
                      <a:r>
                        <a:rPr lang="en-US" sz="1400" b="1" baseline="0" dirty="0">
                          <a:solidFill>
                            <a:schemeClr val="bg1"/>
                          </a:solidFill>
                          <a:latin typeface="+mn-lt"/>
                        </a:rPr>
                        <a:t>3575</a:t>
                      </a:r>
                      <a:endParaRPr lang="en-US" sz="1400" baseline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charset="0"/>
                        <a:buNone/>
                      </a:pPr>
                      <a:r>
                        <a:rPr lang="en-US" sz="1400" b="1" baseline="0" dirty="0">
                          <a:solidFill>
                            <a:schemeClr val="bg1"/>
                          </a:solidFill>
                          <a:latin typeface="+mn-lt"/>
                        </a:rPr>
                        <a:t>2950-1B</a:t>
                      </a:r>
                      <a:endParaRPr lang="en-US" sz="1400" baseline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710660"/>
                  </a:ext>
                </a:extLst>
              </a:tr>
              <a:tr h="30950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cs typeface="Cambria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5.0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aseline="0" dirty="0">
                          <a:latin typeface="+mn-lt"/>
                        </a:rPr>
                        <a:t>1.25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aseline="0" dirty="0">
                          <a:latin typeface="+mn-lt"/>
                        </a:rPr>
                        <a:t>0.1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aseline="0" dirty="0" err="1">
                          <a:latin typeface="+mn-lt"/>
                        </a:rPr>
                        <a:t>NaBr</a:t>
                      </a:r>
                      <a:r>
                        <a:rPr lang="en-US" sz="1400" baseline="0" dirty="0">
                          <a:latin typeface="+mn-lt"/>
                        </a:rPr>
                        <a:t> (0.2)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400" b="1" baseline="0" dirty="0">
                          <a:latin typeface="+mn-lt"/>
                        </a:rPr>
                        <a:t>DCM </a:t>
                      </a:r>
                      <a:r>
                        <a:rPr lang="pt-BR" sz="1400" baseline="0" dirty="0">
                          <a:latin typeface="+mn-lt"/>
                        </a:rPr>
                        <a:t>(25 V) </a:t>
                      </a:r>
                      <a:br>
                        <a:rPr lang="pt-BR" sz="1400" baseline="0" dirty="0">
                          <a:latin typeface="+mn-lt"/>
                        </a:rPr>
                      </a:br>
                      <a:r>
                        <a:rPr lang="pt-BR" sz="1400" baseline="0" dirty="0">
                          <a:latin typeface="+mn-lt"/>
                        </a:rPr>
                        <a:t>NaHCO</a:t>
                      </a:r>
                      <a:r>
                        <a:rPr lang="pt-BR" sz="1400" baseline="-25000" dirty="0">
                          <a:latin typeface="+mn-lt"/>
                        </a:rPr>
                        <a:t>3</a:t>
                      </a:r>
                      <a:r>
                        <a:rPr lang="pt-BR" sz="1400" baseline="0" dirty="0">
                          <a:latin typeface="+mn-lt"/>
                        </a:rPr>
                        <a:t>/K</a:t>
                      </a:r>
                      <a:r>
                        <a:rPr lang="pt-BR" sz="1400" baseline="-25000" dirty="0">
                          <a:latin typeface="+mn-lt"/>
                        </a:rPr>
                        <a:t>2</a:t>
                      </a:r>
                      <a:r>
                        <a:rPr lang="pt-BR" sz="1400" baseline="0" dirty="0">
                          <a:latin typeface="+mn-lt"/>
                        </a:rPr>
                        <a:t>CO</a:t>
                      </a:r>
                      <a:r>
                        <a:rPr lang="pt-BR" sz="1400" baseline="-25000" dirty="0">
                          <a:latin typeface="+mn-lt"/>
                        </a:rPr>
                        <a:t>3 (</a:t>
                      </a:r>
                      <a:r>
                        <a:rPr lang="pt-BR" sz="1400" baseline="-25000" dirty="0" err="1">
                          <a:latin typeface="+mn-lt"/>
                        </a:rPr>
                        <a:t>aq</a:t>
                      </a:r>
                      <a:r>
                        <a:rPr lang="pt-BR" sz="1400" baseline="-25000" dirty="0">
                          <a:latin typeface="+mn-lt"/>
                        </a:rPr>
                        <a:t>)</a:t>
                      </a:r>
                      <a:r>
                        <a:rPr lang="pt-BR" sz="1400" baseline="0" dirty="0">
                          <a:latin typeface="+mn-lt"/>
                        </a:rPr>
                        <a:t> (25 V)</a:t>
                      </a:r>
                      <a:endParaRPr lang="en-US" sz="1400" baseline="0" dirty="0">
                        <a:latin typeface="+mn-lt"/>
                      </a:endParaRP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aseline="0" dirty="0">
                          <a:latin typeface="+mn-lt"/>
                        </a:rPr>
                        <a:t>5 - 15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aseline="0" dirty="0">
                          <a:latin typeface="+mn-lt"/>
                        </a:rPr>
                        <a:t>1 h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charset="0"/>
                        <a:buNone/>
                      </a:pPr>
                      <a:r>
                        <a:rPr lang="en-US" sz="1400" baseline="0" dirty="0">
                          <a:latin typeface="+mn-lt"/>
                        </a:rPr>
                        <a:t>1.2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charset="0"/>
                        <a:buNone/>
                      </a:pPr>
                      <a:r>
                        <a:rPr lang="en-US" sz="1400" b="1" baseline="0" dirty="0">
                          <a:solidFill>
                            <a:schemeClr val="accent6"/>
                          </a:solidFill>
                          <a:latin typeface="+mn-lt"/>
                        </a:rPr>
                        <a:t>96.5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charset="0"/>
                        <a:buNone/>
                      </a:pPr>
                      <a:r>
                        <a:rPr lang="en-US" sz="1400" baseline="0" dirty="0">
                          <a:latin typeface="+mn-lt"/>
                        </a:rPr>
                        <a:t>2.2</a:t>
                      </a:r>
                    </a:p>
                  </a:txBody>
                  <a:tcPr marL="114300" marR="114300" marT="46800" marB="46800" anchor="ctr"/>
                </a:tc>
                <a:extLst>
                  <a:ext uri="{0D108BD9-81ED-4DB2-BD59-A6C34878D82A}">
                    <a16:rowId xmlns:a16="http://schemas.microsoft.com/office/drawing/2014/main" val="704266446"/>
                  </a:ext>
                </a:extLst>
              </a:tr>
              <a:tr h="30891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cs typeface="Cambria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5.0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1.25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NaBr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(0.2)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B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DCM</a:t>
                      </a:r>
                      <a:r>
                        <a:rPr kumimoji="0" lang="pt-B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(10 V) </a:t>
                      </a:r>
                      <a:br>
                        <a:rPr kumimoji="0" lang="pt-B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</a:br>
                      <a:r>
                        <a:rPr kumimoji="0" lang="pt-B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NaHCO</a:t>
                      </a:r>
                      <a:r>
                        <a:rPr kumimoji="0" lang="pt-BR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pt-B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/K</a:t>
                      </a:r>
                      <a:r>
                        <a:rPr kumimoji="0" lang="pt-BR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pt-B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</a:t>
                      </a:r>
                      <a:r>
                        <a:rPr kumimoji="0" lang="pt-BR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(</a:t>
                      </a:r>
                      <a:r>
                        <a:rPr kumimoji="0" lang="pt-BR" sz="1400" b="0" i="0" u="none" strike="noStrike" kern="1200" cap="none" spc="0" normalizeH="0" baseline="-2500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aq</a:t>
                      </a:r>
                      <a:r>
                        <a:rPr kumimoji="0" lang="pt-BR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pt-B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(10 V)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5 - 15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h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9.7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88.2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2.1</a:t>
                      </a:r>
                    </a:p>
                  </a:txBody>
                  <a:tcPr marL="114300" marR="114300" marT="46800" marB="46800" anchor="ctr"/>
                </a:tc>
                <a:extLst>
                  <a:ext uri="{0D108BD9-81ED-4DB2-BD59-A6C34878D82A}">
                    <a16:rowId xmlns:a16="http://schemas.microsoft.com/office/drawing/2014/main" val="2170889186"/>
                  </a:ext>
                </a:extLst>
              </a:tr>
              <a:tr h="29656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cs typeface="Cambria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1.25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NaBr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(0.2)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B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MTBE</a:t>
                      </a:r>
                      <a:r>
                        <a:rPr kumimoji="0" lang="pt-B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(25 V) </a:t>
                      </a:r>
                      <a:br>
                        <a:rPr kumimoji="0" lang="pt-B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</a:br>
                      <a:r>
                        <a:rPr kumimoji="0" lang="pt-B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NaHCO</a:t>
                      </a:r>
                      <a:r>
                        <a:rPr kumimoji="0" lang="pt-BR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pt-B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/K</a:t>
                      </a:r>
                      <a:r>
                        <a:rPr kumimoji="0" lang="pt-BR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pt-B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</a:t>
                      </a:r>
                      <a:r>
                        <a:rPr kumimoji="0" lang="pt-BR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(</a:t>
                      </a:r>
                      <a:r>
                        <a:rPr kumimoji="0" lang="pt-BR" sz="1400" b="0" i="0" u="none" strike="noStrike" kern="1200" cap="none" spc="0" normalizeH="0" baseline="-2500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aq</a:t>
                      </a:r>
                      <a:r>
                        <a:rPr kumimoji="0" lang="pt-BR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pt-B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(25 V)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5 - 15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h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8.9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87.5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3.6</a:t>
                      </a:r>
                    </a:p>
                  </a:txBody>
                  <a:tcPr marL="114300" marR="114300" marT="46800" marB="46800" anchor="ctr"/>
                </a:tc>
                <a:extLst>
                  <a:ext uri="{0D108BD9-81ED-4DB2-BD59-A6C34878D82A}">
                    <a16:rowId xmlns:a16="http://schemas.microsoft.com/office/drawing/2014/main" val="758113338"/>
                  </a:ext>
                </a:extLst>
              </a:tr>
              <a:tr h="29656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cs typeface="Cambria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1.25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NaBr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(0.2)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pt-B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MTBE</a:t>
                      </a:r>
                      <a:r>
                        <a:rPr kumimoji="0" lang="pt-B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(25 V) </a:t>
                      </a:r>
                      <a:br>
                        <a:rPr kumimoji="0" lang="pt-B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</a:br>
                      <a:r>
                        <a:rPr kumimoji="0" lang="pt-B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NaHCO</a:t>
                      </a:r>
                      <a:r>
                        <a:rPr kumimoji="0" lang="pt-BR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pt-B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/K</a:t>
                      </a:r>
                      <a:r>
                        <a:rPr kumimoji="0" lang="pt-BR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pt-B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CO</a:t>
                      </a:r>
                      <a:r>
                        <a:rPr kumimoji="0" lang="pt-BR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 (</a:t>
                      </a:r>
                      <a:r>
                        <a:rPr kumimoji="0" lang="pt-BR" sz="1400" b="0" i="0" u="none" strike="noStrike" kern="1200" cap="none" spc="0" normalizeH="0" baseline="-2500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aq</a:t>
                      </a:r>
                      <a:r>
                        <a:rPr kumimoji="0" lang="pt-BR" sz="14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pt-B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(25 V)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5 - 15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 h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16.7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82.3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1.1</a:t>
                      </a:r>
                    </a:p>
                  </a:txBody>
                  <a:tcPr marL="114300" marR="114300" marT="46800" marB="46800" anchor="ctr"/>
                </a:tc>
                <a:extLst>
                  <a:ext uri="{0D108BD9-81ED-4DB2-BD59-A6C34878D82A}">
                    <a16:rowId xmlns:a16="http://schemas.microsoft.com/office/drawing/2014/main" val="2174564888"/>
                  </a:ext>
                </a:extLst>
              </a:tr>
            </a:tbl>
          </a:graphicData>
        </a:graphic>
      </p:graphicFrame>
      <p:sp>
        <p:nvSpPr>
          <p:cNvPr id="3" name="Title 5">
            <a:extLst>
              <a:ext uri="{FF2B5EF4-FFF2-40B4-BE49-F238E27FC236}">
                <a16:creationId xmlns:a16="http://schemas.microsoft.com/office/drawing/2014/main" id="{A277BBFF-4296-3B25-B964-91F926E7C8B8}"/>
              </a:ext>
            </a:extLst>
          </p:cNvPr>
          <p:cNvSpPr txBox="1">
            <a:spLocks/>
          </p:cNvSpPr>
          <p:nvPr/>
        </p:nvSpPr>
        <p:spPr>
          <a:xfrm>
            <a:off x="3401198" y="262906"/>
            <a:ext cx="5389605" cy="5377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TEMPO/</a:t>
            </a:r>
            <a:r>
              <a:rPr kumimoji="0" lang="en-CA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NaClO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– HPLC Results Summary</a:t>
            </a:r>
            <a:endParaRPr kumimoji="0" lang="en-US" sz="24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826006-B29F-DF3E-42F4-B4EC391E320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870FBC-FDEE-B7ED-542D-98E602E2F410}"/>
              </a:ext>
            </a:extLst>
          </p:cNvPr>
          <p:cNvSpPr/>
          <p:nvPr/>
        </p:nvSpPr>
        <p:spPr>
          <a:xfrm>
            <a:off x="5260769" y="6498852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801190AA-AB57-F932-B6B8-CA7686EFB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483A229-2BE2-4044-957D-22ED1E4A33A3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4241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D8AC-96B6-69F7-0071-AC50B4D44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701"/>
            <a:ext cx="10515600" cy="798481"/>
          </a:xfrm>
        </p:spPr>
        <p:txBody>
          <a:bodyPr/>
          <a:lstStyle/>
          <a:p>
            <a:pPr algn="ctr"/>
            <a:r>
              <a:rPr lang="en-US" dirty="0"/>
              <a:t>Ent-RPT-3576: Synthetic Route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863409-1DB9-EE8D-80FC-4A38B83A0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53" y="854181"/>
            <a:ext cx="11092295" cy="577224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67ECA5-EA6B-A8F0-3E69-B5E1E2919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B20A69-726E-CBA9-478A-067AB7BACC4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117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5"/>
          <p:cNvSpPr txBox="1">
            <a:spLocks/>
          </p:cNvSpPr>
          <p:nvPr/>
        </p:nvSpPr>
        <p:spPr>
          <a:xfrm>
            <a:off x="838200" y="66580"/>
            <a:ext cx="10515600" cy="5377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Ent-RPT-3576: Repeat Step 3</a:t>
            </a:r>
            <a:endParaRPr kumimoji="0" lang="en-US" sz="24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21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227146-F605-D31E-F0BE-5E2FE18B9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949792"/>
              </p:ext>
            </p:extLst>
          </p:nvPr>
        </p:nvGraphicFramePr>
        <p:xfrm>
          <a:off x="622958" y="3683713"/>
          <a:ext cx="10946084" cy="1737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7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81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14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93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Entry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797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cs typeface="Cambria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10.9 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aseline="0" dirty="0">
                          <a:latin typeface="+mn-lt"/>
                        </a:rPr>
                        <a:t>SM </a:t>
                      </a:r>
                      <a:r>
                        <a:rPr lang="en-US" sz="1400" b="1" baseline="0" dirty="0">
                          <a:latin typeface="+mn-lt"/>
                        </a:rPr>
                        <a:t>ent-RPT-3570</a:t>
                      </a:r>
                      <a:r>
                        <a:rPr lang="en-US" sz="1400" baseline="0" dirty="0">
                          <a:latin typeface="+mn-lt"/>
                        </a:rPr>
                        <a:t> (10.9 g, 1 eq), CsOH</a:t>
                      </a:r>
                      <a:r>
                        <a:rPr lang="en-US" sz="1400" baseline="30000" dirty="0">
                          <a:latin typeface="+mn-lt"/>
                        </a:rPr>
                        <a:t>.</a:t>
                      </a:r>
                      <a:r>
                        <a:rPr lang="en-US" sz="1400" baseline="0" dirty="0">
                          <a:latin typeface="+mn-lt"/>
                        </a:rPr>
                        <a:t>H</a:t>
                      </a:r>
                      <a:r>
                        <a:rPr lang="en-US" sz="1400" baseline="-25000" dirty="0">
                          <a:latin typeface="+mn-lt"/>
                        </a:rPr>
                        <a:t>2</a:t>
                      </a:r>
                      <a:r>
                        <a:rPr lang="en-US" sz="1400" baseline="0" dirty="0">
                          <a:latin typeface="+mn-lt"/>
                        </a:rPr>
                        <a:t>O (1.4 eq), MeOH (100 mL), RT, 3 h.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Follow-up: Obtained 8.22 g (88.8%) white solid after workup/precipitation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HPLC: (99%)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m/z = 265</a:t>
                      </a:r>
                      <a:r>
                        <a:rPr lang="en-US" sz="1400" baseline="30000" dirty="0">
                          <a:latin typeface="+mn-lt"/>
                        </a:rPr>
                        <a:t>+</a:t>
                      </a:r>
                      <a:r>
                        <a:rPr lang="en-US" sz="1400" baseline="0" dirty="0">
                          <a:latin typeface="+mn-lt"/>
                        </a:rPr>
                        <a:t> [</a:t>
                      </a:r>
                      <a:r>
                        <a:rPr lang="en-US" sz="1400" baseline="0" dirty="0" err="1">
                          <a:latin typeface="+mn-lt"/>
                        </a:rPr>
                        <a:t>M-Cs+H</a:t>
                      </a:r>
                      <a:r>
                        <a:rPr lang="en-US" sz="1400" baseline="0" dirty="0">
                          <a:latin typeface="+mn-lt"/>
                        </a:rPr>
                        <a:t>]</a:t>
                      </a:r>
                      <a:r>
                        <a:rPr lang="en-US" sz="1400" baseline="30000" dirty="0">
                          <a:latin typeface="+mn-lt"/>
                        </a:rPr>
                        <a:t>+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NMR: in agreement with structure and matched previous batch</a:t>
                      </a:r>
                    </a:p>
                  </a:txBody>
                  <a:tcPr marL="114300" marR="114300" marT="46800" marB="46800" anchor="ctr"/>
                </a:tc>
                <a:extLst>
                  <a:ext uri="{0D108BD9-81ED-4DB2-BD59-A6C34878D82A}">
                    <a16:rowId xmlns:a16="http://schemas.microsoft.com/office/drawing/2014/main" val="70426644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5260769" y="6498852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F5BB05-C98A-D1E7-9CAA-E75EE53CE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677" y="983963"/>
            <a:ext cx="5622646" cy="200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191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02A523F-DE43-B598-2B6C-ED7B804F7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431" y="-2968"/>
            <a:ext cx="9696577" cy="6858000"/>
          </a:xfrm>
          <a:prstGeom prst="rect">
            <a:avLst/>
          </a:prstGeom>
        </p:spPr>
      </p:pic>
      <p:sp>
        <p:nvSpPr>
          <p:cNvPr id="9" name="Title 5"/>
          <p:cNvSpPr txBox="1">
            <a:spLocks/>
          </p:cNvSpPr>
          <p:nvPr/>
        </p:nvSpPr>
        <p:spPr>
          <a:xfrm>
            <a:off x="-8119" y="1311505"/>
            <a:ext cx="3213100" cy="4990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1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H NMR - ent-RPT-3572: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22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70479" y="6538912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3270D4-5654-FB6C-BE72-80D67C014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941" y="2330174"/>
            <a:ext cx="1587500" cy="154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0261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69354A-C34C-C1A4-89B8-C82AEC0683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91"/>
          <a:stretch/>
        </p:blipFill>
        <p:spPr>
          <a:xfrm>
            <a:off x="3446318" y="0"/>
            <a:ext cx="5448300" cy="6910379"/>
          </a:xfrm>
          <a:prstGeom prst="rect">
            <a:avLst/>
          </a:prstGeom>
        </p:spPr>
      </p:pic>
      <p:sp>
        <p:nvSpPr>
          <p:cNvPr id="9" name="Title 5"/>
          <p:cNvSpPr txBox="1">
            <a:spLocks/>
          </p:cNvSpPr>
          <p:nvPr/>
        </p:nvSpPr>
        <p:spPr>
          <a:xfrm>
            <a:off x="-8119" y="1311505"/>
            <a:ext cx="3213100" cy="4990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LCMS - ent-RPT-3572: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23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709996" y="6534520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637D5F-0BFA-A748-56B9-91323ED9F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298" y="2816761"/>
            <a:ext cx="1587500" cy="1549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7EAE79-38EB-F3BB-BF08-8ADE5A905081}"/>
              </a:ext>
            </a:extLst>
          </p:cNvPr>
          <p:cNvSpPr txBox="1"/>
          <p:nvPr/>
        </p:nvSpPr>
        <p:spPr>
          <a:xfrm>
            <a:off x="4750130" y="5118265"/>
            <a:ext cx="1181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</a:t>
            </a:r>
            <a:r>
              <a:rPr lang="en-US" dirty="0" err="1"/>
              <a:t>M-Cs+H</a:t>
            </a:r>
            <a:r>
              <a:rPr lang="en-US" dirty="0"/>
              <a:t>]</a:t>
            </a:r>
            <a:r>
              <a:rPr lang="en-US" baseline="30000" dirty="0"/>
              <a:t>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24BAAC-7D22-A792-F5C8-F68E77DF3D0E}"/>
              </a:ext>
            </a:extLst>
          </p:cNvPr>
          <p:cNvSpPr txBox="1"/>
          <p:nvPr/>
        </p:nvSpPr>
        <p:spPr>
          <a:xfrm>
            <a:off x="6778832" y="3889952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[2(M-Cs)+Na]</a:t>
            </a:r>
            <a:r>
              <a:rPr lang="en-US" baseline="300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561055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A4B4E75-AE1B-76FE-2954-90C7468E73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52" t="23580" b="39688"/>
          <a:stretch/>
        </p:blipFill>
        <p:spPr>
          <a:xfrm>
            <a:off x="225509" y="586991"/>
            <a:ext cx="11790407" cy="5927678"/>
          </a:xfrm>
          <a:prstGeom prst="rect">
            <a:avLst/>
          </a:prstGeom>
        </p:spPr>
      </p:pic>
      <p:sp>
        <p:nvSpPr>
          <p:cNvPr id="9" name="Title 5"/>
          <p:cNvSpPr txBox="1">
            <a:spLocks/>
          </p:cNvSpPr>
          <p:nvPr/>
        </p:nvSpPr>
        <p:spPr>
          <a:xfrm>
            <a:off x="4336877" y="125043"/>
            <a:ext cx="3213100" cy="4990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HPLC 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- ent-RPT-3572: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24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5462653" y="6536328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5ECFB3-0FC5-5299-BDAD-D6D519EE82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226" y="2614675"/>
            <a:ext cx="2165351" cy="21133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4B6F87-AC40-26BF-0E12-6831495C4A7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888" t="82860" r="39369" b="6594"/>
          <a:stretch/>
        </p:blipFill>
        <p:spPr>
          <a:xfrm>
            <a:off x="6726583" y="776964"/>
            <a:ext cx="5195630" cy="124954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423892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5"/>
          <p:cNvSpPr txBox="1">
            <a:spLocks/>
          </p:cNvSpPr>
          <p:nvPr/>
        </p:nvSpPr>
        <p:spPr>
          <a:xfrm>
            <a:off x="838200" y="66580"/>
            <a:ext cx="10515600" cy="5377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Ent-RPT-3576: Repeat Step 4</a:t>
            </a:r>
            <a:endParaRPr kumimoji="0" lang="en-US" sz="24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25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227146-F605-D31E-F0BE-5E2FE18B9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890773"/>
              </p:ext>
            </p:extLst>
          </p:nvPr>
        </p:nvGraphicFramePr>
        <p:xfrm>
          <a:off x="747677" y="3683713"/>
          <a:ext cx="10696646" cy="1607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12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7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93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Entry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797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cs typeface="Cambria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8.22 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aseline="0" dirty="0">
                          <a:latin typeface="+mn-lt"/>
                        </a:rPr>
                        <a:t>SM </a:t>
                      </a:r>
                      <a:r>
                        <a:rPr lang="en-US" sz="1400" b="1" baseline="0" dirty="0">
                          <a:latin typeface="+mn-lt"/>
                        </a:rPr>
                        <a:t>ent-RPT-3572</a:t>
                      </a:r>
                      <a:r>
                        <a:rPr lang="en-US" sz="1400" baseline="0" dirty="0">
                          <a:latin typeface="+mn-lt"/>
                        </a:rPr>
                        <a:t> (8.22 g, 1 eq), Imidazole (5 eq), TIPS-Cl (4 eq), Acetonitrile (60 mL), 60 °C, 8 h; then 50 °C O/N; </a:t>
                      </a:r>
                      <a:br>
                        <a:rPr lang="en-US" sz="1400" baseline="0" dirty="0">
                          <a:latin typeface="+mn-lt"/>
                        </a:rPr>
                      </a:br>
                      <a:r>
                        <a:rPr lang="en-US" sz="1400" baseline="0" dirty="0">
                          <a:latin typeface="+mn-lt"/>
                        </a:rPr>
                        <a:t>then added Imidazole (1 eq), TIPS-Cl (1 eq), 60 °C, 5 h.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Obtained 8.83 g (74%) white solid after workup &amp; column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NMR: In agreement with structure, matched previous batch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HPLC: </a:t>
                      </a:r>
                      <a:r>
                        <a:rPr lang="en-US" sz="1400" baseline="0" dirty="0" err="1">
                          <a:latin typeface="+mn-lt"/>
                        </a:rPr>
                        <a:t>t</a:t>
                      </a:r>
                      <a:r>
                        <a:rPr lang="en-US" sz="1400" baseline="-25000" dirty="0" err="1">
                          <a:latin typeface="+mn-lt"/>
                        </a:rPr>
                        <a:t>R</a:t>
                      </a:r>
                      <a:r>
                        <a:rPr lang="en-US" sz="1400" baseline="0" dirty="0">
                          <a:latin typeface="+mn-lt"/>
                        </a:rPr>
                        <a:t> = 10.54 min (99.1 %)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LCMS: m/z = 577</a:t>
                      </a:r>
                      <a:r>
                        <a:rPr lang="en-US" sz="1400" baseline="30000" dirty="0">
                          <a:latin typeface="+mn-lt"/>
                        </a:rPr>
                        <a:t>+</a:t>
                      </a:r>
                      <a:r>
                        <a:rPr lang="en-US" sz="1400" baseline="0" dirty="0">
                          <a:latin typeface="+mn-lt"/>
                        </a:rPr>
                        <a:t> [M+H]</a:t>
                      </a:r>
                      <a:r>
                        <a:rPr lang="en-US" sz="1400" baseline="30000" dirty="0">
                          <a:latin typeface="+mn-lt"/>
                        </a:rPr>
                        <a:t>+</a:t>
                      </a:r>
                    </a:p>
                  </a:txBody>
                  <a:tcPr marL="114300" marR="114300" marT="46800" marB="46800" anchor="ctr"/>
                </a:tc>
                <a:extLst>
                  <a:ext uri="{0D108BD9-81ED-4DB2-BD59-A6C34878D82A}">
                    <a16:rowId xmlns:a16="http://schemas.microsoft.com/office/drawing/2014/main" val="70426644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5260769" y="6498852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3BC819-EBAB-64E9-86FE-FCA072578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5805" y="1114384"/>
            <a:ext cx="5860390" cy="209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7007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054E666-0709-0EBA-B5AA-4C2A7AFA8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524" y="49237"/>
            <a:ext cx="9693480" cy="6759526"/>
          </a:xfrm>
          <a:prstGeom prst="rect">
            <a:avLst/>
          </a:prstGeom>
        </p:spPr>
      </p:pic>
      <p:sp>
        <p:nvSpPr>
          <p:cNvPr id="9" name="Title 5"/>
          <p:cNvSpPr txBox="1">
            <a:spLocks/>
          </p:cNvSpPr>
          <p:nvPr/>
        </p:nvSpPr>
        <p:spPr>
          <a:xfrm>
            <a:off x="-8119" y="1311505"/>
            <a:ext cx="3213100" cy="4990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1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H NMR - ent-RPT-3573: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26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70479" y="6538912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DF4242-C362-A3F9-0B7D-C8A2808BDE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972" y="2574518"/>
            <a:ext cx="16764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4525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E0FB3DA-F3DE-967D-4D97-CED262CF06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91"/>
          <a:stretch/>
        </p:blipFill>
        <p:spPr>
          <a:xfrm>
            <a:off x="3446318" y="112774"/>
            <a:ext cx="5299364" cy="6721475"/>
          </a:xfrm>
          <a:prstGeom prst="rect">
            <a:avLst/>
          </a:prstGeom>
        </p:spPr>
      </p:pic>
      <p:sp>
        <p:nvSpPr>
          <p:cNvPr id="9" name="Title 5"/>
          <p:cNvSpPr txBox="1">
            <a:spLocks/>
          </p:cNvSpPr>
          <p:nvPr/>
        </p:nvSpPr>
        <p:spPr>
          <a:xfrm>
            <a:off x="-8119" y="1311505"/>
            <a:ext cx="3213100" cy="4990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LCMS - ent-RPT-3573: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27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709996" y="6534520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A88C06-AC3E-8EA8-1C46-A01F105E95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23" y="2628900"/>
            <a:ext cx="16764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0415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6DF66CB-F9DB-6322-091B-2789989ACC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41" t="22196" b="41501"/>
          <a:stretch/>
        </p:blipFill>
        <p:spPr>
          <a:xfrm>
            <a:off x="285007" y="665018"/>
            <a:ext cx="11661569" cy="5787642"/>
          </a:xfrm>
          <a:prstGeom prst="rect">
            <a:avLst/>
          </a:prstGeom>
        </p:spPr>
      </p:pic>
      <p:sp>
        <p:nvSpPr>
          <p:cNvPr id="9" name="Title 5"/>
          <p:cNvSpPr txBox="1">
            <a:spLocks/>
          </p:cNvSpPr>
          <p:nvPr/>
        </p:nvSpPr>
        <p:spPr>
          <a:xfrm>
            <a:off x="4489449" y="81930"/>
            <a:ext cx="3213100" cy="4990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HPLC 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- ent-RPT-3573: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28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5462653" y="6536328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A5AC65-2A10-2C63-57F0-5E1E167DC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615" y="2761283"/>
            <a:ext cx="2189867" cy="209032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9B7A35E-E869-6E08-56B3-4FFCD4A64656}"/>
              </a:ext>
            </a:extLst>
          </p:cNvPr>
          <p:cNvGrpSpPr/>
          <p:nvPr/>
        </p:nvGrpSpPr>
        <p:grpSpPr>
          <a:xfrm>
            <a:off x="3739476" y="1176027"/>
            <a:ext cx="4657364" cy="1828431"/>
            <a:chOff x="3739476" y="1176027"/>
            <a:chExt cx="4657364" cy="182843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209ADC7-FA5D-844C-E3C9-A8FFA6B9D85C}"/>
                </a:ext>
              </a:extLst>
            </p:cNvPr>
            <p:cNvGrpSpPr/>
            <p:nvPr/>
          </p:nvGrpSpPr>
          <p:grpSpPr>
            <a:xfrm>
              <a:off x="3739476" y="1176027"/>
              <a:ext cx="4657364" cy="1828431"/>
              <a:chOff x="3739476" y="1176027"/>
              <a:chExt cx="4657364" cy="1828431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3222CDB6-E175-B15B-7D5D-E6C6B6D179D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2967" t="80989" r="40233" b="4718"/>
              <a:stretch/>
            </p:blipFill>
            <p:spPr>
              <a:xfrm>
                <a:off x="3739476" y="1176027"/>
                <a:ext cx="4556962" cy="1484046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0A719B82-C475-D943-F0D6-52A5E9F6EB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36720" y="2624448"/>
                <a:ext cx="4560120" cy="380010"/>
              </a:xfrm>
              <a:prstGeom prst="rect">
                <a:avLst/>
              </a:prstGeom>
            </p:spPr>
          </p:pic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888178B-0438-F76A-65D9-9A3C7178BEA8}"/>
                </a:ext>
              </a:extLst>
            </p:cNvPr>
            <p:cNvSpPr/>
            <p:nvPr/>
          </p:nvSpPr>
          <p:spPr>
            <a:xfrm>
              <a:off x="3750482" y="1176027"/>
              <a:ext cx="4646358" cy="18284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485486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5"/>
          <p:cNvSpPr txBox="1">
            <a:spLocks/>
          </p:cNvSpPr>
          <p:nvPr/>
        </p:nvSpPr>
        <p:spPr>
          <a:xfrm>
            <a:off x="838200" y="66580"/>
            <a:ext cx="10515600" cy="5377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Ent-RPT-3576: Repeat Step 5</a:t>
            </a:r>
            <a:endParaRPr kumimoji="0" lang="en-US" sz="24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29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227146-F605-D31E-F0BE-5E2FE18B9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534749"/>
              </p:ext>
            </p:extLst>
          </p:nvPr>
        </p:nvGraphicFramePr>
        <p:xfrm>
          <a:off x="622958" y="3546177"/>
          <a:ext cx="10946084" cy="1524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7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81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14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93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Entry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797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cs typeface="Cambria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8.83 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aseline="0" dirty="0">
                          <a:latin typeface="+mn-lt"/>
                        </a:rPr>
                        <a:t>SM </a:t>
                      </a:r>
                      <a:r>
                        <a:rPr lang="en-US" sz="1400" b="1" baseline="0" dirty="0">
                          <a:latin typeface="+mn-lt"/>
                        </a:rPr>
                        <a:t>ent-RPT-3573 </a:t>
                      </a:r>
                      <a:r>
                        <a:rPr lang="en-US" sz="1400" baseline="0" dirty="0">
                          <a:latin typeface="+mn-lt"/>
                        </a:rPr>
                        <a:t>(8.83 g, 1 eq), HCl (3M/MeOH, 1.75 eq), 0 °C-RT, MeOH (120 mL), O/N, then HCl (0.3 eq), RT, 5 h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Obtained 5.30 g (82%) after column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LCMS: m/z = 421</a:t>
                      </a:r>
                      <a:r>
                        <a:rPr lang="en-US" sz="1400" baseline="30000" dirty="0">
                          <a:latin typeface="+mn-lt"/>
                        </a:rPr>
                        <a:t>+</a:t>
                      </a:r>
                      <a:r>
                        <a:rPr lang="en-US" sz="1400" baseline="0" dirty="0">
                          <a:latin typeface="+mn-lt"/>
                        </a:rPr>
                        <a:t> [M+H]</a:t>
                      </a:r>
                      <a:r>
                        <a:rPr lang="en-US" sz="1400" baseline="30000" dirty="0">
                          <a:latin typeface="+mn-lt"/>
                        </a:rPr>
                        <a:t>+</a:t>
                      </a:r>
                      <a:r>
                        <a:rPr lang="en-US" sz="1400" baseline="0" dirty="0">
                          <a:latin typeface="+mn-lt"/>
                        </a:rPr>
                        <a:t> was the major species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NMR: in agreement with desired structure; matched with previous batch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HPLC (97%)</a:t>
                      </a:r>
                    </a:p>
                  </a:txBody>
                  <a:tcPr marL="114300" marR="114300" marT="46800" marB="46800" anchor="ctr"/>
                </a:tc>
                <a:extLst>
                  <a:ext uri="{0D108BD9-81ED-4DB2-BD59-A6C34878D82A}">
                    <a16:rowId xmlns:a16="http://schemas.microsoft.com/office/drawing/2014/main" val="1783972284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5260769" y="6498852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66F8D9-59C3-0D33-B716-ABFD4E2E7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190" y="918298"/>
            <a:ext cx="6174873" cy="193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2537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3B806E-4EFE-40D5-999B-4F819B6F6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699" y="0"/>
            <a:ext cx="9563101" cy="6858000"/>
          </a:xfrm>
          <a:prstGeom prst="rect">
            <a:avLst/>
          </a:prstGeom>
        </p:spPr>
      </p:pic>
      <p:sp>
        <p:nvSpPr>
          <p:cNvPr id="9" name="Title 5"/>
          <p:cNvSpPr txBox="1">
            <a:spLocks/>
          </p:cNvSpPr>
          <p:nvPr/>
        </p:nvSpPr>
        <p:spPr>
          <a:xfrm>
            <a:off x="-8119" y="1311505"/>
            <a:ext cx="3213100" cy="4990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1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H NMR - ent-RPT-3574: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30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303455" y="6418597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9C65AC-1203-1A5B-8B69-625BB135EB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65" y="2527034"/>
            <a:ext cx="1875947" cy="202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295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7DEA84-06A0-40B0-DC78-1C7F6296AF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91"/>
          <a:stretch/>
        </p:blipFill>
        <p:spPr>
          <a:xfrm>
            <a:off x="3446317" y="53056"/>
            <a:ext cx="5365173" cy="6804944"/>
          </a:xfrm>
          <a:prstGeom prst="rect">
            <a:avLst/>
          </a:prstGeom>
        </p:spPr>
      </p:pic>
      <p:sp>
        <p:nvSpPr>
          <p:cNvPr id="9" name="Title 5"/>
          <p:cNvSpPr txBox="1">
            <a:spLocks/>
          </p:cNvSpPr>
          <p:nvPr/>
        </p:nvSpPr>
        <p:spPr>
          <a:xfrm>
            <a:off x="61785" y="580949"/>
            <a:ext cx="3213100" cy="4990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LCMS - ent-RPT-3574: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31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709996" y="6442137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CAD1B7-F8A6-4D6D-80AC-A5B557A1D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25" y="2511849"/>
            <a:ext cx="2050687" cy="220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7260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5B0AC3C-AE8C-A76D-55DC-631A98ADE9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32" t="22006" b="42105"/>
          <a:stretch/>
        </p:blipFill>
        <p:spPr>
          <a:xfrm>
            <a:off x="74283" y="580950"/>
            <a:ext cx="11972182" cy="5867352"/>
          </a:xfrm>
          <a:prstGeom prst="rect">
            <a:avLst/>
          </a:prstGeom>
        </p:spPr>
      </p:pic>
      <p:sp>
        <p:nvSpPr>
          <p:cNvPr id="9" name="Title 5"/>
          <p:cNvSpPr txBox="1">
            <a:spLocks/>
          </p:cNvSpPr>
          <p:nvPr/>
        </p:nvSpPr>
        <p:spPr>
          <a:xfrm>
            <a:off x="4165601" y="81930"/>
            <a:ext cx="3213100" cy="4990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HPLC - ent-RPT-3574: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32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5462653" y="6536328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A7A9C8-9A1A-E1D4-2F98-51A11945B4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8105" y="2038362"/>
            <a:ext cx="1794176" cy="19321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B3D1B9-EDB9-BD53-E4B6-01795BFAE17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527" t="81061" r="39369" b="4337"/>
          <a:stretch/>
        </p:blipFill>
        <p:spPr>
          <a:xfrm>
            <a:off x="7197023" y="1548987"/>
            <a:ext cx="4475379" cy="1455470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158399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5"/>
          <p:cNvSpPr txBox="1">
            <a:spLocks/>
          </p:cNvSpPr>
          <p:nvPr/>
        </p:nvSpPr>
        <p:spPr>
          <a:xfrm>
            <a:off x="838200" y="66580"/>
            <a:ext cx="10515600" cy="5377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Ent-RPT-3576: Step 6</a:t>
            </a:r>
            <a:endParaRPr kumimoji="0" lang="en-US" sz="24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33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227146-F605-D31E-F0BE-5E2FE18B9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363128"/>
              </p:ext>
            </p:extLst>
          </p:nvPr>
        </p:nvGraphicFramePr>
        <p:xfrm>
          <a:off x="265472" y="2515466"/>
          <a:ext cx="11661058" cy="3499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75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93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Entry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84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cs typeface="Cambria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3.45 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aseline="0" dirty="0">
                          <a:latin typeface="+mn-lt"/>
                        </a:rPr>
                        <a:t>SM </a:t>
                      </a:r>
                      <a:r>
                        <a:rPr lang="en-US" sz="1400" b="1" baseline="0" dirty="0">
                          <a:latin typeface="+mn-lt"/>
                        </a:rPr>
                        <a:t>ent-RPT-3574</a:t>
                      </a:r>
                      <a:r>
                        <a:rPr lang="en-US" sz="1400" baseline="0" dirty="0">
                          <a:latin typeface="+mn-lt"/>
                        </a:rPr>
                        <a:t> (3.45 g, 1 eq), TEMPO (0.1 eq), </a:t>
                      </a:r>
                      <a:r>
                        <a:rPr lang="en-US" sz="1400" baseline="0" dirty="0" err="1">
                          <a:latin typeface="+mn-lt"/>
                        </a:rPr>
                        <a:t>NaBr</a:t>
                      </a:r>
                      <a:r>
                        <a:rPr lang="en-US" sz="1400" baseline="0" dirty="0">
                          <a:latin typeface="+mn-lt"/>
                        </a:rPr>
                        <a:t> (0.2 eq), </a:t>
                      </a:r>
                      <a:r>
                        <a:rPr lang="en-US" sz="1400" baseline="0" dirty="0" err="1">
                          <a:latin typeface="+mn-lt"/>
                        </a:rPr>
                        <a:t>NaClO</a:t>
                      </a:r>
                      <a:r>
                        <a:rPr lang="en-US" sz="1400" baseline="0" dirty="0">
                          <a:latin typeface="+mn-lt"/>
                        </a:rPr>
                        <a:t> (pH = 9.4, 1.25 eq), 5-15 °C, DCM (86 mL), NaHCO</a:t>
                      </a:r>
                      <a:r>
                        <a:rPr lang="en-US" sz="1400" baseline="-25000" dirty="0">
                          <a:latin typeface="+mn-lt"/>
                        </a:rPr>
                        <a:t>3</a:t>
                      </a:r>
                      <a:r>
                        <a:rPr lang="en-US" sz="1400" baseline="0" dirty="0">
                          <a:latin typeface="+mn-lt"/>
                        </a:rPr>
                        <a:t>/K</a:t>
                      </a:r>
                      <a:r>
                        <a:rPr lang="en-US" sz="1400" baseline="-25000" dirty="0">
                          <a:latin typeface="+mn-lt"/>
                        </a:rPr>
                        <a:t>2</a:t>
                      </a:r>
                      <a:r>
                        <a:rPr lang="en-US" sz="1400" baseline="0" dirty="0">
                          <a:latin typeface="+mn-lt"/>
                        </a:rPr>
                        <a:t>CO</a:t>
                      </a:r>
                      <a:r>
                        <a:rPr lang="en-US" sz="1400" baseline="-25000" dirty="0">
                          <a:latin typeface="+mn-lt"/>
                        </a:rPr>
                        <a:t>3</a:t>
                      </a:r>
                      <a:r>
                        <a:rPr lang="en-US" sz="1400" baseline="0" dirty="0">
                          <a:latin typeface="+mn-lt"/>
                        </a:rPr>
                        <a:t> (pH = 9.2, 86 mL), 1 h 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HPLC (ORG): </a:t>
                      </a:r>
                      <a:r>
                        <a:rPr lang="en-US" sz="1400" b="1" baseline="0" dirty="0">
                          <a:latin typeface="+mn-lt"/>
                        </a:rPr>
                        <a:t>ent-RPT-3574</a:t>
                      </a:r>
                      <a:r>
                        <a:rPr lang="en-US" sz="1400" baseline="0" dirty="0">
                          <a:latin typeface="+mn-lt"/>
                        </a:rPr>
                        <a:t> (0.7%), </a:t>
                      </a:r>
                      <a:r>
                        <a:rPr lang="en-US" sz="1400" b="1" baseline="0" dirty="0">
                          <a:latin typeface="+mn-lt"/>
                        </a:rPr>
                        <a:t>ent-RPT-2950-1B</a:t>
                      </a:r>
                      <a:r>
                        <a:rPr lang="en-US" sz="1400" baseline="0" dirty="0">
                          <a:latin typeface="+mn-lt"/>
                        </a:rPr>
                        <a:t> (6.2%), </a:t>
                      </a:r>
                      <a:r>
                        <a:rPr lang="en-US" sz="1400" b="1" baseline="0" dirty="0">
                          <a:latin typeface="+mn-lt"/>
                        </a:rPr>
                        <a:t>ent-RPT-3575</a:t>
                      </a:r>
                      <a:r>
                        <a:rPr lang="en-US" sz="1400" baseline="0" dirty="0">
                          <a:latin typeface="+mn-lt"/>
                        </a:rPr>
                        <a:t> (93.0%)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HPLC (AQ): </a:t>
                      </a:r>
                      <a:r>
                        <a:rPr lang="en-US" sz="1400" b="0" baseline="0" dirty="0">
                          <a:latin typeface="+mn-lt"/>
                        </a:rPr>
                        <a:t>Substantial signal from </a:t>
                      </a:r>
                      <a:r>
                        <a:rPr lang="en-US" sz="1400" b="1" baseline="0" dirty="0">
                          <a:latin typeface="+mn-lt"/>
                        </a:rPr>
                        <a:t>ent-RPT-2950-1B</a:t>
                      </a:r>
                      <a:endParaRPr lang="en-US" sz="1400" baseline="0" dirty="0">
                        <a:latin typeface="+mn-lt"/>
                      </a:endParaRP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Extractive workup (MTBE); crude used directly for next step</a:t>
                      </a:r>
                    </a:p>
                  </a:txBody>
                  <a:tcPr marL="114300" marR="114300" marT="46800" marB="46800" anchor="ctr"/>
                </a:tc>
                <a:extLst>
                  <a:ext uri="{0D108BD9-81ED-4DB2-BD59-A6C34878D82A}">
                    <a16:rowId xmlns:a16="http://schemas.microsoft.com/office/drawing/2014/main" val="704266446"/>
                  </a:ext>
                </a:extLst>
              </a:tr>
              <a:tr h="102797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cs typeface="Cambria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3.0 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baseline="0" dirty="0">
                          <a:latin typeface="+mn-lt"/>
                        </a:rPr>
                        <a:t>SM </a:t>
                      </a:r>
                      <a:r>
                        <a:rPr lang="en-US" sz="1400" b="1" baseline="0" dirty="0">
                          <a:latin typeface="+mn-lt"/>
                        </a:rPr>
                        <a:t>ent-RPT-3574</a:t>
                      </a:r>
                      <a:r>
                        <a:rPr lang="en-US" sz="1400" baseline="0" dirty="0">
                          <a:latin typeface="+mn-lt"/>
                        </a:rPr>
                        <a:t> (3.0 g, 1 eq), TEMPO (0.1 eq), </a:t>
                      </a:r>
                      <a:r>
                        <a:rPr lang="en-US" sz="1400" baseline="0" dirty="0" err="1">
                          <a:latin typeface="+mn-lt"/>
                        </a:rPr>
                        <a:t>NaBr</a:t>
                      </a:r>
                      <a:r>
                        <a:rPr lang="en-US" sz="1400" baseline="0" dirty="0">
                          <a:latin typeface="+mn-lt"/>
                        </a:rPr>
                        <a:t> (0.2 eq), </a:t>
                      </a:r>
                      <a:r>
                        <a:rPr lang="en-US" sz="1400" baseline="0" dirty="0" err="1">
                          <a:latin typeface="+mn-lt"/>
                        </a:rPr>
                        <a:t>NaClO</a:t>
                      </a:r>
                      <a:r>
                        <a:rPr lang="en-US" sz="1400" baseline="0" dirty="0">
                          <a:latin typeface="+mn-lt"/>
                        </a:rPr>
                        <a:t> (pH = 9.4, 1.25 eq), 5-15 °C, DCM (75 mL), NaHCO</a:t>
                      </a:r>
                      <a:r>
                        <a:rPr lang="en-US" sz="1400" baseline="-25000" dirty="0">
                          <a:latin typeface="+mn-lt"/>
                        </a:rPr>
                        <a:t>3</a:t>
                      </a:r>
                      <a:r>
                        <a:rPr lang="en-US" sz="1400" baseline="0" dirty="0">
                          <a:latin typeface="+mn-lt"/>
                        </a:rPr>
                        <a:t>/K</a:t>
                      </a:r>
                      <a:r>
                        <a:rPr lang="en-US" sz="1400" baseline="-25000" dirty="0">
                          <a:latin typeface="+mn-lt"/>
                        </a:rPr>
                        <a:t>2</a:t>
                      </a:r>
                      <a:r>
                        <a:rPr lang="en-US" sz="1400" baseline="0" dirty="0">
                          <a:latin typeface="+mn-lt"/>
                        </a:rPr>
                        <a:t>CO</a:t>
                      </a:r>
                      <a:r>
                        <a:rPr lang="en-US" sz="1400" baseline="-25000" dirty="0">
                          <a:latin typeface="+mn-lt"/>
                        </a:rPr>
                        <a:t>3</a:t>
                      </a:r>
                      <a:r>
                        <a:rPr lang="en-US" sz="1400" baseline="0" dirty="0">
                          <a:latin typeface="+mn-lt"/>
                        </a:rPr>
                        <a:t> (pH = 9.2, 75 mL), 1 h 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HPLC: </a:t>
                      </a:r>
                      <a:r>
                        <a:rPr lang="en-US" sz="1400" b="1" baseline="0" dirty="0">
                          <a:latin typeface="+mn-lt"/>
                        </a:rPr>
                        <a:t>RPT-3574</a:t>
                      </a:r>
                      <a:r>
                        <a:rPr lang="en-US" sz="1400" baseline="0" dirty="0">
                          <a:latin typeface="+mn-lt"/>
                        </a:rPr>
                        <a:t> (0.3%), </a:t>
                      </a:r>
                      <a:r>
                        <a:rPr lang="en-US" sz="1400" b="1" baseline="0" dirty="0">
                          <a:latin typeface="+mn-lt"/>
                        </a:rPr>
                        <a:t>RPT-2950-1B</a:t>
                      </a:r>
                      <a:r>
                        <a:rPr lang="en-US" sz="1400" baseline="0" dirty="0">
                          <a:latin typeface="+mn-lt"/>
                        </a:rPr>
                        <a:t> (5.2%),           </a:t>
                      </a:r>
                      <a:br>
                        <a:rPr lang="en-US" sz="1400" baseline="0" dirty="0">
                          <a:latin typeface="+mn-lt"/>
                        </a:rPr>
                      </a:br>
                      <a:r>
                        <a:rPr lang="en-US" sz="1400" b="1" baseline="0" dirty="0">
                          <a:latin typeface="+mn-lt"/>
                        </a:rPr>
                        <a:t>RPT-3575</a:t>
                      </a:r>
                      <a:r>
                        <a:rPr lang="en-US" sz="1400" baseline="0" dirty="0">
                          <a:latin typeface="+mn-lt"/>
                        </a:rPr>
                        <a:t> (94.6%); included hydrate in integration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 err="1">
                          <a:latin typeface="+mn-lt"/>
                        </a:rPr>
                        <a:t>LCMS:m</a:t>
                      </a:r>
                      <a:r>
                        <a:rPr lang="en-US" sz="1400" baseline="0" dirty="0">
                          <a:latin typeface="+mn-lt"/>
                        </a:rPr>
                        <a:t>/z = 419</a:t>
                      </a:r>
                      <a:r>
                        <a:rPr lang="en-US" sz="1400" baseline="30000" dirty="0">
                          <a:latin typeface="+mn-lt"/>
                        </a:rPr>
                        <a:t>+</a:t>
                      </a:r>
                      <a:r>
                        <a:rPr lang="en-US" sz="1400" baseline="0" dirty="0">
                          <a:latin typeface="+mn-lt"/>
                        </a:rPr>
                        <a:t> [M+H]</a:t>
                      </a:r>
                      <a:r>
                        <a:rPr lang="en-US" sz="1400" baseline="30000" dirty="0">
                          <a:latin typeface="+mn-lt"/>
                        </a:rPr>
                        <a:t>+</a:t>
                      </a:r>
                      <a:r>
                        <a:rPr lang="en-US" sz="1400" baseline="0" dirty="0">
                          <a:latin typeface="+mn-lt"/>
                        </a:rPr>
                        <a:t> major species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HPLC (AQ): </a:t>
                      </a:r>
                      <a:r>
                        <a:rPr lang="en-US" sz="1400" b="0" baseline="0" dirty="0">
                          <a:latin typeface="+mn-lt"/>
                        </a:rPr>
                        <a:t>Substantial signal from </a:t>
                      </a:r>
                      <a:r>
                        <a:rPr lang="en-US" sz="1400" b="1" baseline="0" dirty="0">
                          <a:latin typeface="+mn-lt"/>
                        </a:rPr>
                        <a:t>ent-RPT-2950-1B</a:t>
                      </a:r>
                      <a:endParaRPr lang="en-US" sz="1400" baseline="0" dirty="0">
                        <a:latin typeface="+mn-lt"/>
                      </a:endParaRP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Extractive workup (MTBE); crude used directly for next step</a:t>
                      </a:r>
                    </a:p>
                  </a:txBody>
                  <a:tcPr marL="114300" marR="114300" marT="46800" marB="46800" anchor="ctr"/>
                </a:tc>
                <a:extLst>
                  <a:ext uri="{0D108BD9-81ED-4DB2-BD59-A6C34878D82A}">
                    <a16:rowId xmlns:a16="http://schemas.microsoft.com/office/drawing/2014/main" val="1783972284"/>
                  </a:ext>
                </a:extLst>
              </a:tr>
              <a:tr h="102797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cs typeface="Cambria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2.3 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aseline="0" dirty="0">
                          <a:latin typeface="+mn-lt"/>
                        </a:rPr>
                        <a:t>SM </a:t>
                      </a:r>
                      <a:r>
                        <a:rPr lang="en-US" sz="1400" b="1" baseline="0" dirty="0">
                          <a:latin typeface="+mn-lt"/>
                        </a:rPr>
                        <a:t>ent-RPT-3574</a:t>
                      </a:r>
                      <a:r>
                        <a:rPr lang="en-US" sz="1400" baseline="0" dirty="0">
                          <a:latin typeface="+mn-lt"/>
                        </a:rPr>
                        <a:t> (2.3 g, 1 eq), TEMPO (0.1 eq), </a:t>
                      </a:r>
                      <a:r>
                        <a:rPr lang="en-US" sz="1400" baseline="0" dirty="0" err="1">
                          <a:latin typeface="+mn-lt"/>
                        </a:rPr>
                        <a:t>NaBr</a:t>
                      </a:r>
                      <a:r>
                        <a:rPr lang="en-US" sz="1400" baseline="0" dirty="0">
                          <a:latin typeface="+mn-lt"/>
                        </a:rPr>
                        <a:t> (0.2 eq), </a:t>
                      </a:r>
                      <a:r>
                        <a:rPr lang="en-US" sz="1400" baseline="0" dirty="0" err="1">
                          <a:latin typeface="+mn-lt"/>
                        </a:rPr>
                        <a:t>NaClO</a:t>
                      </a:r>
                      <a:r>
                        <a:rPr lang="en-US" sz="1400" baseline="0" dirty="0">
                          <a:latin typeface="+mn-lt"/>
                        </a:rPr>
                        <a:t> (pH = 9.4, 1.25 eq), 5-15 °C, DCM (60 mL), NaHCO</a:t>
                      </a:r>
                      <a:r>
                        <a:rPr lang="en-US" sz="1400" baseline="-25000" dirty="0">
                          <a:latin typeface="+mn-lt"/>
                        </a:rPr>
                        <a:t>3</a:t>
                      </a:r>
                      <a:r>
                        <a:rPr lang="en-US" sz="1400" baseline="0" dirty="0">
                          <a:latin typeface="+mn-lt"/>
                        </a:rPr>
                        <a:t>/K</a:t>
                      </a:r>
                      <a:r>
                        <a:rPr lang="en-US" sz="1400" baseline="-25000" dirty="0">
                          <a:latin typeface="+mn-lt"/>
                        </a:rPr>
                        <a:t>2</a:t>
                      </a:r>
                      <a:r>
                        <a:rPr lang="en-US" sz="1400" baseline="0" dirty="0">
                          <a:latin typeface="+mn-lt"/>
                        </a:rPr>
                        <a:t>CO</a:t>
                      </a:r>
                      <a:r>
                        <a:rPr lang="en-US" sz="1400" baseline="-25000" dirty="0">
                          <a:latin typeface="+mn-lt"/>
                        </a:rPr>
                        <a:t>3</a:t>
                      </a:r>
                      <a:r>
                        <a:rPr lang="en-US" sz="1400" baseline="0" dirty="0">
                          <a:latin typeface="+mn-lt"/>
                        </a:rPr>
                        <a:t> (pH = 9.2, 60 mL), 1 h 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HPLC: </a:t>
                      </a:r>
                      <a:r>
                        <a:rPr lang="en-US" sz="1400" b="1" baseline="0" dirty="0">
                          <a:latin typeface="+mn-lt"/>
                        </a:rPr>
                        <a:t>RPT-3574</a:t>
                      </a:r>
                      <a:r>
                        <a:rPr lang="en-US" sz="1400" baseline="0" dirty="0">
                          <a:latin typeface="+mn-lt"/>
                        </a:rPr>
                        <a:t> (1.8%), </a:t>
                      </a:r>
                      <a:r>
                        <a:rPr lang="en-US" sz="1400" b="1" baseline="0" dirty="0">
                          <a:latin typeface="+mn-lt"/>
                        </a:rPr>
                        <a:t>RPT-2950-1B</a:t>
                      </a:r>
                      <a:r>
                        <a:rPr lang="en-US" sz="1400" baseline="0" dirty="0">
                          <a:latin typeface="+mn-lt"/>
                        </a:rPr>
                        <a:t> (1.0%),           </a:t>
                      </a:r>
                      <a:br>
                        <a:rPr lang="en-US" sz="1400" baseline="0" dirty="0">
                          <a:latin typeface="+mn-lt"/>
                        </a:rPr>
                      </a:br>
                      <a:r>
                        <a:rPr lang="en-US" sz="1400" b="1" baseline="0" dirty="0">
                          <a:latin typeface="+mn-lt"/>
                        </a:rPr>
                        <a:t>RPT-3575</a:t>
                      </a:r>
                      <a:r>
                        <a:rPr lang="en-US" sz="1400" baseline="0" dirty="0">
                          <a:latin typeface="+mn-lt"/>
                        </a:rPr>
                        <a:t> (97.1%)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HPLC (AQ): </a:t>
                      </a:r>
                      <a:r>
                        <a:rPr lang="en-US" sz="1400" b="0" baseline="0" dirty="0">
                          <a:latin typeface="+mn-lt"/>
                        </a:rPr>
                        <a:t>Substantial signal from </a:t>
                      </a:r>
                      <a:r>
                        <a:rPr lang="en-US" sz="1400" b="1" baseline="0" dirty="0">
                          <a:latin typeface="+mn-lt"/>
                        </a:rPr>
                        <a:t>ent-RPT-2950-1B</a:t>
                      </a:r>
                      <a:endParaRPr lang="en-US" sz="1400" baseline="0" dirty="0">
                        <a:latin typeface="+mn-lt"/>
                      </a:endParaRP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Extractive workup (MTBE); crude used directly for next step</a:t>
                      </a:r>
                    </a:p>
                  </a:txBody>
                  <a:tcPr marL="114300" marR="114300" marT="46800" marB="46800" anchor="ctr"/>
                </a:tc>
                <a:extLst>
                  <a:ext uri="{0D108BD9-81ED-4DB2-BD59-A6C34878D82A}">
                    <a16:rowId xmlns:a16="http://schemas.microsoft.com/office/drawing/2014/main" val="834654498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5260769" y="6498852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613C75-E8B4-A56D-0492-6888E4388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0136" y="348818"/>
            <a:ext cx="6067958" cy="192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4946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2026DE3-9DD5-7020-66E0-EBE9070668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41" t="21674" b="41962"/>
          <a:stretch/>
        </p:blipFill>
        <p:spPr>
          <a:xfrm>
            <a:off x="265028" y="640325"/>
            <a:ext cx="11624282" cy="5846802"/>
          </a:xfrm>
          <a:prstGeom prst="rect">
            <a:avLst/>
          </a:prstGeom>
        </p:spPr>
      </p:pic>
      <p:sp>
        <p:nvSpPr>
          <p:cNvPr id="9" name="Title 5"/>
          <p:cNvSpPr txBox="1">
            <a:spLocks/>
          </p:cNvSpPr>
          <p:nvPr/>
        </p:nvSpPr>
        <p:spPr>
          <a:xfrm>
            <a:off x="4165601" y="81930"/>
            <a:ext cx="3213100" cy="4990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HPLC - Entry 1 (1 h):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34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5462653" y="6536328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B98AE0-4D5E-4DE2-4381-0F0244F8EC1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30" t="81529" r="39004" b="6879"/>
          <a:stretch/>
        </p:blipFill>
        <p:spPr>
          <a:xfrm>
            <a:off x="6954976" y="866899"/>
            <a:ext cx="4790023" cy="1243940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0A3D93C-753B-4BF7-3B49-875789A3BD94}"/>
              </a:ext>
            </a:extLst>
          </p:cNvPr>
          <p:cNvSpPr txBox="1"/>
          <p:nvPr/>
        </p:nvSpPr>
        <p:spPr>
          <a:xfrm>
            <a:off x="5620547" y="3881096"/>
            <a:ext cx="1452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ent-RPT-3574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CA3A04-2B29-9853-CB82-6BC560CB3718}"/>
              </a:ext>
            </a:extLst>
          </p:cNvPr>
          <p:cNvSpPr txBox="1"/>
          <p:nvPr/>
        </p:nvSpPr>
        <p:spPr>
          <a:xfrm>
            <a:off x="3982502" y="5106941"/>
            <a:ext cx="1769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ent-RPT-2950-1B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F275BE8-32E5-E471-BDF4-65C6E4332CDA}"/>
              </a:ext>
            </a:extLst>
          </p:cNvPr>
          <p:cNvCxnSpPr>
            <a:cxnSpLocks/>
          </p:cNvCxnSpPr>
          <p:nvPr/>
        </p:nvCxnSpPr>
        <p:spPr>
          <a:xfrm>
            <a:off x="5204331" y="5415175"/>
            <a:ext cx="1016895" cy="4376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B930E6-ABB4-71BC-ECBC-15B878BF6584}"/>
              </a:ext>
            </a:extLst>
          </p:cNvPr>
          <p:cNvCxnSpPr>
            <a:cxnSpLocks/>
          </p:cNvCxnSpPr>
          <p:nvPr/>
        </p:nvCxnSpPr>
        <p:spPr>
          <a:xfrm>
            <a:off x="6392855" y="4195231"/>
            <a:ext cx="0" cy="12686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74CBF1E-CBBE-8550-C9BF-A78EDBA4636B}"/>
              </a:ext>
            </a:extLst>
          </p:cNvPr>
          <p:cNvSpPr txBox="1"/>
          <p:nvPr/>
        </p:nvSpPr>
        <p:spPr>
          <a:xfrm>
            <a:off x="7346424" y="4416696"/>
            <a:ext cx="1452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ent-RPT-3575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9FA5592-1C62-269D-9B40-694EFA336B5B}"/>
              </a:ext>
            </a:extLst>
          </p:cNvPr>
          <p:cNvGrpSpPr/>
          <p:nvPr/>
        </p:nvGrpSpPr>
        <p:grpSpPr>
          <a:xfrm>
            <a:off x="6525671" y="4712506"/>
            <a:ext cx="894895" cy="1135157"/>
            <a:chOff x="6618748" y="3841228"/>
            <a:chExt cx="894895" cy="1135157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659E997-64FD-10FF-1E65-842C51B3C7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8742" y="3841228"/>
              <a:ext cx="764901" cy="113515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D86995E-6557-DDCD-3332-8FAB9CDAFA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18748" y="3866628"/>
              <a:ext cx="882195" cy="71733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700717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58BC0C-60DE-6AF1-D2DD-EEE7BBB27A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50" t="22078" b="41904"/>
          <a:stretch/>
        </p:blipFill>
        <p:spPr>
          <a:xfrm>
            <a:off x="16228" y="545325"/>
            <a:ext cx="12149251" cy="6014753"/>
          </a:xfrm>
          <a:prstGeom prst="rect">
            <a:avLst/>
          </a:prstGeom>
        </p:spPr>
      </p:pic>
      <p:sp>
        <p:nvSpPr>
          <p:cNvPr id="9" name="Title 5"/>
          <p:cNvSpPr txBox="1">
            <a:spLocks/>
          </p:cNvSpPr>
          <p:nvPr/>
        </p:nvSpPr>
        <p:spPr>
          <a:xfrm>
            <a:off x="2662711" y="55459"/>
            <a:ext cx="6866576" cy="4990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b="1" dirty="0">
                <a:solidFill>
                  <a:prstClr val="black"/>
                </a:solidFill>
                <a:latin typeface="+mn-lt"/>
              </a:rPr>
              <a:t>HPLC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- Entry 2: Organic Layer After Extraction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35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5462653" y="6536328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2E3E23-F616-8EFD-8F3B-20B886C8096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60" t="80707" r="39250" b="3981"/>
          <a:stretch/>
        </p:blipFill>
        <p:spPr>
          <a:xfrm>
            <a:off x="7280306" y="640752"/>
            <a:ext cx="4497961" cy="1547584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7756E2A-77C8-F105-2A7C-22ABFDB10570}"/>
              </a:ext>
            </a:extLst>
          </p:cNvPr>
          <p:cNvCxnSpPr>
            <a:cxnSpLocks/>
          </p:cNvCxnSpPr>
          <p:nvPr/>
        </p:nvCxnSpPr>
        <p:spPr>
          <a:xfrm flipH="1">
            <a:off x="5936626" y="2557399"/>
            <a:ext cx="1631835" cy="4998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A5A4B33-A39E-F6AC-3364-63057A71DFC8}"/>
              </a:ext>
            </a:extLst>
          </p:cNvPr>
          <p:cNvSpPr txBox="1"/>
          <p:nvPr/>
        </p:nvSpPr>
        <p:spPr>
          <a:xfrm>
            <a:off x="7474565" y="2259549"/>
            <a:ext cx="1452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ent-RPT-3575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D1B15B9-F14C-72C1-637A-9C27A6456571}"/>
              </a:ext>
            </a:extLst>
          </p:cNvPr>
          <p:cNvGrpSpPr/>
          <p:nvPr/>
        </p:nvGrpSpPr>
        <p:grpSpPr>
          <a:xfrm>
            <a:off x="6677562" y="2555359"/>
            <a:ext cx="894895" cy="1135157"/>
            <a:chOff x="6618748" y="3841228"/>
            <a:chExt cx="894895" cy="1135157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0288859-D6C7-D61E-3E0C-37366DD716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8742" y="3841228"/>
              <a:ext cx="764901" cy="113515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AB86E05-3822-781D-0F48-3F96BACE53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18748" y="3866628"/>
              <a:ext cx="882195" cy="71733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82524A0-90D0-CA21-8B04-15406DC3D2A0}"/>
              </a:ext>
            </a:extLst>
          </p:cNvPr>
          <p:cNvSpPr txBox="1"/>
          <p:nvPr/>
        </p:nvSpPr>
        <p:spPr>
          <a:xfrm>
            <a:off x="4980895" y="2759826"/>
            <a:ext cx="1085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(Hydrate)</a:t>
            </a:r>
          </a:p>
        </p:txBody>
      </p:sp>
    </p:spTree>
    <p:extLst>
      <p:ext uri="{BB962C8B-B14F-4D97-AF65-F5344CB8AC3E}">
        <p14:creationId xmlns:p14="http://schemas.microsoft.com/office/powerpoint/2010/main" val="4649349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E8BBA55-B550-8568-5335-5DDBDB39C9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39"/>
          <a:stretch/>
        </p:blipFill>
        <p:spPr>
          <a:xfrm>
            <a:off x="6113811" y="109442"/>
            <a:ext cx="5299364" cy="6690756"/>
          </a:xfrm>
          <a:prstGeom prst="rect">
            <a:avLst/>
          </a:prstGeom>
        </p:spPr>
      </p:pic>
      <p:sp>
        <p:nvSpPr>
          <p:cNvPr id="9" name="Title 5"/>
          <p:cNvSpPr txBox="1">
            <a:spLocks/>
          </p:cNvSpPr>
          <p:nvPr/>
        </p:nvSpPr>
        <p:spPr>
          <a:xfrm>
            <a:off x="-430150" y="687571"/>
            <a:ext cx="6866576" cy="4990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LCMS - Entry 2: Organic Layer After Extraction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36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5462653" y="6536328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39DB2A-4FF0-EB52-6AD7-C6434A82F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43" y="2567358"/>
            <a:ext cx="5443389" cy="172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8274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C60C1B-F3C7-CE8A-E81D-8ABC6C477B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67" t="21836" b="41594"/>
          <a:stretch/>
        </p:blipFill>
        <p:spPr>
          <a:xfrm>
            <a:off x="181405" y="580949"/>
            <a:ext cx="11782336" cy="5955379"/>
          </a:xfrm>
          <a:prstGeom prst="rect">
            <a:avLst/>
          </a:prstGeom>
        </p:spPr>
      </p:pic>
      <p:sp>
        <p:nvSpPr>
          <p:cNvPr id="9" name="Title 5"/>
          <p:cNvSpPr txBox="1">
            <a:spLocks/>
          </p:cNvSpPr>
          <p:nvPr/>
        </p:nvSpPr>
        <p:spPr>
          <a:xfrm>
            <a:off x="4165601" y="81930"/>
            <a:ext cx="3213100" cy="4990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HPLC - Entry 3: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37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5462653" y="6536328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ADC1FA-4981-D6E2-021C-6FCABA74EF43}"/>
              </a:ext>
            </a:extLst>
          </p:cNvPr>
          <p:cNvSpPr txBox="1"/>
          <p:nvPr/>
        </p:nvSpPr>
        <p:spPr>
          <a:xfrm>
            <a:off x="5763051" y="3823619"/>
            <a:ext cx="1452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ent-RPT-3574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FAB3B6-B38F-FE37-38CB-E7846A875483}"/>
              </a:ext>
            </a:extLst>
          </p:cNvPr>
          <p:cNvSpPr txBox="1"/>
          <p:nvPr/>
        </p:nvSpPr>
        <p:spPr>
          <a:xfrm>
            <a:off x="4125006" y="5049464"/>
            <a:ext cx="1769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ent-RPT-2950-1B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0CAEF56-E2B3-2CEC-FB27-99E5BB7032E3}"/>
              </a:ext>
            </a:extLst>
          </p:cNvPr>
          <p:cNvCxnSpPr>
            <a:cxnSpLocks/>
          </p:cNvCxnSpPr>
          <p:nvPr/>
        </p:nvCxnSpPr>
        <p:spPr>
          <a:xfrm>
            <a:off x="5346835" y="5357698"/>
            <a:ext cx="1016895" cy="4376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0CB24C9-6739-674B-A2FD-83B1FFF7A919}"/>
              </a:ext>
            </a:extLst>
          </p:cNvPr>
          <p:cNvCxnSpPr>
            <a:cxnSpLocks/>
          </p:cNvCxnSpPr>
          <p:nvPr/>
        </p:nvCxnSpPr>
        <p:spPr>
          <a:xfrm>
            <a:off x="6535359" y="4137754"/>
            <a:ext cx="0" cy="12686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EB25743-C69A-B339-4D6A-F549EB8514E1}"/>
              </a:ext>
            </a:extLst>
          </p:cNvPr>
          <p:cNvSpPr txBox="1"/>
          <p:nvPr/>
        </p:nvSpPr>
        <p:spPr>
          <a:xfrm>
            <a:off x="7488928" y="4359219"/>
            <a:ext cx="1452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ent-RPT-3575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6D1E0BD-34CF-8E79-D456-B040510524CD}"/>
              </a:ext>
            </a:extLst>
          </p:cNvPr>
          <p:cNvGrpSpPr/>
          <p:nvPr/>
        </p:nvGrpSpPr>
        <p:grpSpPr>
          <a:xfrm>
            <a:off x="6668175" y="4655029"/>
            <a:ext cx="894895" cy="1135157"/>
            <a:chOff x="6618748" y="3841228"/>
            <a:chExt cx="894895" cy="1135157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D30EFDC-E05E-6310-356A-32AD070CEF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8742" y="3841228"/>
              <a:ext cx="764901" cy="113515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D8264A8-35D6-81CC-61A7-810638D79B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18748" y="3866628"/>
              <a:ext cx="882195" cy="71733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5065D8D-420C-37C1-CE65-FE826EA2ED0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118" t="80732" r="39368" b="6783"/>
          <a:stretch/>
        </p:blipFill>
        <p:spPr>
          <a:xfrm>
            <a:off x="7264412" y="788822"/>
            <a:ext cx="4509895" cy="1289360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202123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7AA4F1C-6620-AAC9-191B-032FAD51F7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902" t="8470" r="8394" b="3204"/>
          <a:stretch/>
        </p:blipFill>
        <p:spPr>
          <a:xfrm>
            <a:off x="1512031" y="400321"/>
            <a:ext cx="4382818" cy="6057358"/>
          </a:xfrm>
          <a:prstGeom prst="rect">
            <a:avLst/>
          </a:prstGeom>
        </p:spPr>
      </p:pic>
      <p:sp>
        <p:nvSpPr>
          <p:cNvPr id="9" name="Title 5"/>
          <p:cNvSpPr txBox="1">
            <a:spLocks/>
          </p:cNvSpPr>
          <p:nvPr/>
        </p:nvSpPr>
        <p:spPr>
          <a:xfrm>
            <a:off x="2989942" y="81930"/>
            <a:ext cx="7400965" cy="499019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HPLC - Entry 3: Organic vs. Aqueous Layers After Extraction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38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5462653" y="6536328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FAB3B6-B38F-FE37-38CB-E7846A875483}"/>
              </a:ext>
            </a:extLst>
          </p:cNvPr>
          <p:cNvSpPr txBox="1"/>
          <p:nvPr/>
        </p:nvSpPr>
        <p:spPr>
          <a:xfrm>
            <a:off x="5253524" y="4876479"/>
            <a:ext cx="1769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ent-RPT-2950-1B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0CAEF56-E2B3-2CEC-FB27-99E5BB7032E3}"/>
              </a:ext>
            </a:extLst>
          </p:cNvPr>
          <p:cNvCxnSpPr>
            <a:cxnSpLocks/>
          </p:cNvCxnSpPr>
          <p:nvPr/>
        </p:nvCxnSpPr>
        <p:spPr>
          <a:xfrm flipH="1">
            <a:off x="3885315" y="5084566"/>
            <a:ext cx="135464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0CB24C9-6739-674B-A2FD-83B1FFF7A919}"/>
              </a:ext>
            </a:extLst>
          </p:cNvPr>
          <p:cNvCxnSpPr>
            <a:cxnSpLocks/>
          </p:cNvCxnSpPr>
          <p:nvPr/>
        </p:nvCxnSpPr>
        <p:spPr>
          <a:xfrm flipH="1">
            <a:off x="3685281" y="1010422"/>
            <a:ext cx="1068510" cy="5963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EB25743-C69A-B339-4D6A-F549EB8514E1}"/>
              </a:ext>
            </a:extLst>
          </p:cNvPr>
          <p:cNvSpPr txBox="1"/>
          <p:nvPr/>
        </p:nvSpPr>
        <p:spPr>
          <a:xfrm>
            <a:off x="4692349" y="689212"/>
            <a:ext cx="1452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ent-RPT-3575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6D1E0BD-34CF-8E79-D456-B040510524CD}"/>
              </a:ext>
            </a:extLst>
          </p:cNvPr>
          <p:cNvGrpSpPr/>
          <p:nvPr/>
        </p:nvGrpSpPr>
        <p:grpSpPr>
          <a:xfrm>
            <a:off x="3871596" y="985022"/>
            <a:ext cx="894895" cy="1135157"/>
            <a:chOff x="6618748" y="3841228"/>
            <a:chExt cx="894895" cy="1135157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D30EFDC-E05E-6310-356A-32AD070CEF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8742" y="3841228"/>
              <a:ext cx="764901" cy="113515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D8264A8-35D6-81CC-61A7-810638D79B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18748" y="3866628"/>
              <a:ext cx="882195" cy="71733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716ABC6A-4AEB-A557-BAF7-D357279F1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828" y="2374515"/>
            <a:ext cx="5443389" cy="172328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E0A9847-FC95-CE0A-FEA1-611EEEA0BF15}"/>
              </a:ext>
            </a:extLst>
          </p:cNvPr>
          <p:cNvSpPr txBox="1"/>
          <p:nvPr/>
        </p:nvSpPr>
        <p:spPr>
          <a:xfrm>
            <a:off x="1787442" y="530611"/>
            <a:ext cx="913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Organic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3B2245-AE41-891F-4B5D-F1CB4DAFBFC0}"/>
              </a:ext>
            </a:extLst>
          </p:cNvPr>
          <p:cNvSpPr txBox="1"/>
          <p:nvPr/>
        </p:nvSpPr>
        <p:spPr>
          <a:xfrm>
            <a:off x="2332195" y="3494145"/>
            <a:ext cx="102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Aqueous</a:t>
            </a:r>
          </a:p>
        </p:txBody>
      </p:sp>
    </p:spTree>
    <p:extLst>
      <p:ext uri="{BB962C8B-B14F-4D97-AF65-F5344CB8AC3E}">
        <p14:creationId xmlns:p14="http://schemas.microsoft.com/office/powerpoint/2010/main" val="12723752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5"/>
          <p:cNvSpPr txBox="1">
            <a:spLocks/>
          </p:cNvSpPr>
          <p:nvPr/>
        </p:nvSpPr>
        <p:spPr>
          <a:xfrm>
            <a:off x="838200" y="66580"/>
            <a:ext cx="10515600" cy="5377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Ent-RPT-3576: Step 7-8</a:t>
            </a:r>
            <a:endParaRPr kumimoji="0" lang="en-US" sz="2400" b="1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39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227146-F605-D31E-F0BE-5E2FE18B9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83518"/>
              </p:ext>
            </p:extLst>
          </p:nvPr>
        </p:nvGraphicFramePr>
        <p:xfrm>
          <a:off x="599208" y="2380442"/>
          <a:ext cx="10946084" cy="40070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7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81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14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93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Entry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797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cs typeface="Cambria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~3.45 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arenR"/>
                        <a:tabLst/>
                        <a:defRPr/>
                      </a:pPr>
                      <a:r>
                        <a:rPr lang="en-US" sz="1400" baseline="0" dirty="0">
                          <a:latin typeface="+mn-lt"/>
                        </a:rPr>
                        <a:t>SM </a:t>
                      </a:r>
                      <a:r>
                        <a:rPr lang="en-US" sz="1400" b="1" baseline="0" dirty="0">
                          <a:latin typeface="+mn-lt"/>
                        </a:rPr>
                        <a:t>ent-RPT-3575 </a:t>
                      </a:r>
                      <a:r>
                        <a:rPr lang="en-US" sz="1400" baseline="0" dirty="0">
                          <a:latin typeface="+mn-lt"/>
                        </a:rPr>
                        <a:t>(assumed ~3.45 g, 1 eq), Formaldehyde (37% </a:t>
                      </a:r>
                      <a:r>
                        <a:rPr lang="en-US" sz="1400" baseline="0" dirty="0" err="1">
                          <a:latin typeface="+mn-lt"/>
                        </a:rPr>
                        <a:t>aq</a:t>
                      </a:r>
                      <a:r>
                        <a:rPr lang="en-US" sz="1400" baseline="0" dirty="0">
                          <a:latin typeface="+mn-lt"/>
                        </a:rPr>
                        <a:t>, 2 V ~10 eq), NaOH (2M, 2.2 V, ~2 eq), Dioxane (35 mL) 0°C-RT, 16 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arenR"/>
                        <a:tabLst/>
                        <a:defRPr/>
                      </a:pPr>
                      <a:r>
                        <a:rPr lang="en-US" sz="1400" baseline="0" dirty="0">
                          <a:latin typeface="+mn-lt"/>
                        </a:rPr>
                        <a:t>NaBH</a:t>
                      </a:r>
                      <a:r>
                        <a:rPr lang="en-US" sz="1400" baseline="-25000" dirty="0">
                          <a:latin typeface="+mn-lt"/>
                        </a:rPr>
                        <a:t>4</a:t>
                      </a:r>
                      <a:r>
                        <a:rPr lang="en-US" sz="1400" baseline="0" dirty="0">
                          <a:latin typeface="+mn-lt"/>
                        </a:rPr>
                        <a:t>, 2.5 eq, 0 °C-RT, 2 h; then NaBH</a:t>
                      </a:r>
                      <a:r>
                        <a:rPr lang="en-US" sz="1400" baseline="-25000" dirty="0">
                          <a:latin typeface="+mn-lt"/>
                        </a:rPr>
                        <a:t>4</a:t>
                      </a:r>
                      <a:r>
                        <a:rPr lang="en-US" sz="1400" baseline="0" dirty="0">
                          <a:latin typeface="+mn-lt"/>
                        </a:rPr>
                        <a:t> (2.5 eq), </a:t>
                      </a:r>
                      <a:br>
                        <a:rPr lang="en-US" sz="1400" baseline="0" dirty="0">
                          <a:latin typeface="+mn-lt"/>
                        </a:rPr>
                      </a:br>
                      <a:r>
                        <a:rPr lang="en-US" sz="1400" baseline="0" dirty="0">
                          <a:latin typeface="+mn-lt"/>
                        </a:rPr>
                        <a:t>2 h, RT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Obtained 1.19 g white solid after workup and chromatography (32% for 3 steps)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Further addition of 2.5 eq NaBH4 after 2h reduction step to give complete reaction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HPLC: (95.9%)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LCMS: m/z = 451</a:t>
                      </a:r>
                      <a:r>
                        <a:rPr lang="en-US" sz="1400" baseline="30000" dirty="0">
                          <a:latin typeface="+mn-lt"/>
                        </a:rPr>
                        <a:t>+</a:t>
                      </a:r>
                      <a:r>
                        <a:rPr lang="en-US" sz="1400" baseline="0" dirty="0">
                          <a:latin typeface="+mn-lt"/>
                        </a:rPr>
                        <a:t> [M+H]</a:t>
                      </a:r>
                      <a:r>
                        <a:rPr lang="en-US" sz="1400" baseline="30000" dirty="0">
                          <a:latin typeface="+mn-lt"/>
                        </a:rPr>
                        <a:t>+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NMR: acquisition in progress</a:t>
                      </a:r>
                    </a:p>
                  </a:txBody>
                  <a:tcPr marL="114300" marR="114300" marT="46800" marB="46800" anchor="ctr"/>
                </a:tc>
                <a:extLst>
                  <a:ext uri="{0D108BD9-81ED-4DB2-BD59-A6C34878D82A}">
                    <a16:rowId xmlns:a16="http://schemas.microsoft.com/office/drawing/2014/main" val="704266446"/>
                  </a:ext>
                </a:extLst>
              </a:tr>
              <a:tr h="102797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cs typeface="Cambria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~3.0 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arenR"/>
                        <a:tabLst/>
                        <a:defRPr/>
                      </a:pPr>
                      <a:r>
                        <a:rPr lang="en-US" sz="1400" baseline="0" dirty="0">
                          <a:latin typeface="+mn-lt"/>
                        </a:rPr>
                        <a:t>SM </a:t>
                      </a:r>
                      <a:r>
                        <a:rPr lang="en-US" sz="1400" b="1" baseline="0" dirty="0">
                          <a:latin typeface="+mn-lt"/>
                        </a:rPr>
                        <a:t>ent-RPT-3575 </a:t>
                      </a:r>
                      <a:r>
                        <a:rPr lang="en-US" sz="1400" baseline="0" dirty="0">
                          <a:latin typeface="+mn-lt"/>
                        </a:rPr>
                        <a:t>(assumed ~3.0 g, 1 eq), Formaldehyde (37% </a:t>
                      </a:r>
                      <a:r>
                        <a:rPr lang="en-US" sz="1400" baseline="0" dirty="0" err="1">
                          <a:latin typeface="+mn-lt"/>
                        </a:rPr>
                        <a:t>aq</a:t>
                      </a:r>
                      <a:r>
                        <a:rPr lang="en-US" sz="1400" baseline="0" dirty="0">
                          <a:latin typeface="+mn-lt"/>
                        </a:rPr>
                        <a:t>, 2 V ~10 eq), NaOH (2M, 2.2 V, ~2 eq), Dioxane (30 mL) 0 °C-RT, 16 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arenR"/>
                        <a:tabLst/>
                        <a:defRPr/>
                      </a:pPr>
                      <a:r>
                        <a:rPr lang="en-US" sz="1400" baseline="0" dirty="0">
                          <a:latin typeface="+mn-lt"/>
                        </a:rPr>
                        <a:t>NaBH</a:t>
                      </a:r>
                      <a:r>
                        <a:rPr lang="en-US" sz="1400" baseline="-25000" dirty="0">
                          <a:latin typeface="+mn-lt"/>
                        </a:rPr>
                        <a:t>4</a:t>
                      </a:r>
                      <a:r>
                        <a:rPr lang="en-US" sz="1400" baseline="0" dirty="0">
                          <a:latin typeface="+mn-lt"/>
                        </a:rPr>
                        <a:t>, 5 eq, 10 °C-RT, 4 h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Purification in progress</a:t>
                      </a:r>
                    </a:p>
                  </a:txBody>
                  <a:tcPr marL="114300" marR="114300" marT="46800" marB="46800" anchor="ctr"/>
                </a:tc>
                <a:extLst>
                  <a:ext uri="{0D108BD9-81ED-4DB2-BD59-A6C34878D82A}">
                    <a16:rowId xmlns:a16="http://schemas.microsoft.com/office/drawing/2014/main" val="4285742881"/>
                  </a:ext>
                </a:extLst>
              </a:tr>
              <a:tr h="102797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+mn-lt"/>
                          <a:cs typeface="Cambria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~2.3 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arenR"/>
                        <a:tabLst/>
                        <a:defRPr/>
                      </a:pPr>
                      <a:r>
                        <a:rPr lang="en-US" sz="1400" baseline="0" dirty="0">
                          <a:latin typeface="+mn-lt"/>
                        </a:rPr>
                        <a:t>SM </a:t>
                      </a:r>
                      <a:r>
                        <a:rPr lang="en-US" sz="1400" b="1" baseline="0" dirty="0">
                          <a:latin typeface="+mn-lt"/>
                        </a:rPr>
                        <a:t>ent-RPT-3575 </a:t>
                      </a:r>
                      <a:r>
                        <a:rPr lang="en-US" sz="1400" baseline="0" dirty="0">
                          <a:latin typeface="+mn-lt"/>
                        </a:rPr>
                        <a:t> (assumed ~3.0 g, 1 eq), Formaldehyde (37% </a:t>
                      </a:r>
                      <a:r>
                        <a:rPr lang="en-US" sz="1400" baseline="0" dirty="0" err="1">
                          <a:latin typeface="+mn-lt"/>
                        </a:rPr>
                        <a:t>aq</a:t>
                      </a:r>
                      <a:r>
                        <a:rPr lang="en-US" sz="1400" baseline="0" dirty="0">
                          <a:latin typeface="+mn-lt"/>
                        </a:rPr>
                        <a:t>, 2 V ~10 eq), NaOH (2M, 2.2 V, ~2 eq), Dioxane (25 mL) 0 °C-RT, 16 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arenR"/>
                        <a:tabLst/>
                        <a:defRPr/>
                      </a:pPr>
                      <a:r>
                        <a:rPr lang="en-US" sz="1400" baseline="0" dirty="0">
                          <a:latin typeface="+mn-lt"/>
                        </a:rPr>
                        <a:t>NaBH</a:t>
                      </a:r>
                      <a:r>
                        <a:rPr lang="en-US" sz="1400" baseline="-25000" dirty="0">
                          <a:latin typeface="+mn-lt"/>
                        </a:rPr>
                        <a:t>4</a:t>
                      </a:r>
                      <a:r>
                        <a:rPr lang="en-US" sz="1400" baseline="0" dirty="0">
                          <a:latin typeface="+mn-lt"/>
                        </a:rPr>
                        <a:t>, 5 eq, 10 °C-RT, 4 h</a:t>
                      </a:r>
                    </a:p>
                  </a:txBody>
                  <a:tcPr marL="114300" marR="114300" marT="46800" marB="4680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sz="1400" baseline="0" dirty="0">
                          <a:latin typeface="+mn-lt"/>
                        </a:rPr>
                        <a:t>Workup &amp; purification in progress</a:t>
                      </a:r>
                    </a:p>
                  </a:txBody>
                  <a:tcPr marL="114300" marR="114300" marT="46800" marB="46800" anchor="ctr"/>
                </a:tc>
                <a:extLst>
                  <a:ext uri="{0D108BD9-81ED-4DB2-BD59-A6C34878D82A}">
                    <a16:rowId xmlns:a16="http://schemas.microsoft.com/office/drawing/2014/main" val="490985655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5260769" y="6498852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33467D-BE6C-1DAA-D745-4C85A1AF2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526" y="550827"/>
            <a:ext cx="9296948" cy="173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1378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5"/>
          <p:cNvSpPr txBox="1">
            <a:spLocks/>
          </p:cNvSpPr>
          <p:nvPr/>
        </p:nvSpPr>
        <p:spPr>
          <a:xfrm>
            <a:off x="0" y="732764"/>
            <a:ext cx="3507945" cy="4990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 LCMS – Step 7 O/N: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40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212573" y="6538912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3F3629-30BC-BF0E-4BDE-96C3C27A3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67" y="2543442"/>
            <a:ext cx="4876800" cy="1587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2FA887-E8D5-409C-0ABB-FB5AF09CE81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991"/>
          <a:stretch/>
        </p:blipFill>
        <p:spPr>
          <a:xfrm>
            <a:off x="5652653" y="37647"/>
            <a:ext cx="5349339" cy="6784861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8F99FC7-7828-408D-EE16-0550D2678D48}"/>
              </a:ext>
            </a:extLst>
          </p:cNvPr>
          <p:cNvCxnSpPr>
            <a:cxnSpLocks/>
          </p:cNvCxnSpPr>
          <p:nvPr/>
        </p:nvCxnSpPr>
        <p:spPr>
          <a:xfrm flipH="1">
            <a:off x="8232322" y="3918857"/>
            <a:ext cx="112543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6546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1813F98-C102-09CD-77DA-A5111BC33B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98"/>
          <a:stretch/>
        </p:blipFill>
        <p:spPr>
          <a:xfrm>
            <a:off x="3581401" y="28841"/>
            <a:ext cx="5410200" cy="6826509"/>
          </a:xfrm>
          <a:prstGeom prst="rect">
            <a:avLst/>
          </a:prstGeom>
        </p:spPr>
      </p:pic>
      <p:sp>
        <p:nvSpPr>
          <p:cNvPr id="9" name="Title 5"/>
          <p:cNvSpPr txBox="1">
            <a:spLocks/>
          </p:cNvSpPr>
          <p:nvPr/>
        </p:nvSpPr>
        <p:spPr>
          <a:xfrm>
            <a:off x="-2" y="777937"/>
            <a:ext cx="3692239" cy="81335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LCMS - ent-RPT-3576: </a:t>
            </a: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Column Product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41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514256" y="6538912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F1B819-14E8-411B-C32D-196FD548A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256" y="2541881"/>
            <a:ext cx="1858602" cy="200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1066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B391B24-0DDD-3B1F-6E50-1AF2E30684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28" t="21991" b="41733"/>
          <a:stretch/>
        </p:blipFill>
        <p:spPr>
          <a:xfrm>
            <a:off x="213755" y="635544"/>
            <a:ext cx="11677674" cy="5846189"/>
          </a:xfrm>
          <a:prstGeom prst="rect">
            <a:avLst/>
          </a:prstGeom>
        </p:spPr>
      </p:pic>
      <p:sp>
        <p:nvSpPr>
          <p:cNvPr id="9" name="Title 5"/>
          <p:cNvSpPr txBox="1">
            <a:spLocks/>
          </p:cNvSpPr>
          <p:nvPr/>
        </p:nvSpPr>
        <p:spPr>
          <a:xfrm>
            <a:off x="2735282" y="136525"/>
            <a:ext cx="6721434" cy="49901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HPLC - ent-RPT-3576: Column Product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B2313-F750-7D48-80E4-14B0E48F96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6297" y="-22632"/>
            <a:ext cx="1389640" cy="60358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4DE550-FD60-DEC4-1E9B-8C33F452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42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AE6CE3-7DFB-EF61-D0C8-570E1147B792}"/>
              </a:ext>
            </a:extLst>
          </p:cNvPr>
          <p:cNvSpPr/>
          <p:nvPr/>
        </p:nvSpPr>
        <p:spPr>
          <a:xfrm>
            <a:off x="5462653" y="6536328"/>
            <a:ext cx="12666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CONFIDENTIAL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DC9006-3B89-2241-4ACD-4C2F6BE358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0303" y="1914854"/>
            <a:ext cx="1858602" cy="20015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E42987-A7BD-7C43-1E4C-469734A2BE3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062" t="80895" r="39346" b="4733"/>
          <a:stretch/>
        </p:blipFill>
        <p:spPr>
          <a:xfrm>
            <a:off x="7184055" y="899661"/>
            <a:ext cx="4545321" cy="146794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511900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FCB0-F2A6-00D2-545F-97029B67F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762"/>
            <a:ext cx="10515600" cy="814075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latin typeface="+mn-lt"/>
              </a:rPr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DF1D7-4233-97E1-E623-464EEF75E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0001"/>
            <a:ext cx="10515600" cy="4642162"/>
          </a:xfrm>
        </p:spPr>
        <p:txBody>
          <a:bodyPr>
            <a:normAutofit/>
          </a:bodyPr>
          <a:lstStyle/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3EFF58-2747-B4C6-30D4-6D1D8DEAA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8FF44-AF63-BC41-A0F7-BC5A9E040086}" type="slidenum">
              <a:rPr lang="en-US" smtClean="0"/>
              <a:t>43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FB0E6D-47CD-BFBF-0C81-6EFF66D1309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1432"/>
            <a:ext cx="1389640" cy="6035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4C4D03-5196-F339-AD30-85826E615C08}"/>
              </a:ext>
            </a:extLst>
          </p:cNvPr>
          <p:cNvSpPr txBox="1"/>
          <p:nvPr/>
        </p:nvSpPr>
        <p:spPr>
          <a:xfrm>
            <a:off x="632542" y="888980"/>
            <a:ext cx="10926916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Oxidation Troubleshooting: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Focused on TEMPO/</a:t>
            </a:r>
            <a:r>
              <a:rPr lang="en-US" sz="2000" dirty="0" err="1"/>
              <a:t>NaClO</a:t>
            </a:r>
            <a:r>
              <a:rPr lang="en-US" sz="2000" dirty="0"/>
              <a:t> system to reproduce and improve upon previous encouraging results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Carried 5 g scale reactions successfully through formylation/reduction steps to give </a:t>
            </a:r>
            <a:r>
              <a:rPr lang="en-US" sz="2000" b="1" dirty="0"/>
              <a:t>RPT-3576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Additionally tested MTBE as organic reaction solvent to simplify quench and work-up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Yield = 53-67% over 3 steps, optimization on-going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Purity = 78-87% (HPLC) after crystallization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Acid RPT-002950-1B remained a persistent impurity; further observed in aqueous extracts and in reaction aqueous layer.</a:t>
            </a:r>
          </a:p>
          <a:p>
            <a:pPr lvl="1"/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Synthesis of ent-RPT-003576: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Repeated Step 3 (</a:t>
            </a:r>
            <a:r>
              <a:rPr lang="en-CA" sz="2000" b="1" dirty="0"/>
              <a:t>ent-RPT-3572</a:t>
            </a:r>
            <a:r>
              <a:rPr lang="en-CA" sz="2000" dirty="0"/>
              <a:t>); yield = 8.22 g (89%)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Repeated Step 4 (</a:t>
            </a:r>
            <a:r>
              <a:rPr lang="en-CA" sz="2000" b="1" dirty="0"/>
              <a:t>ent-RPT-3573</a:t>
            </a:r>
            <a:r>
              <a:rPr lang="en-CA" sz="2000" dirty="0"/>
              <a:t>); yield = 8.83 g (74%)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Repeated Step 5 (</a:t>
            </a:r>
            <a:r>
              <a:rPr lang="en-CA" sz="2000" b="1" dirty="0"/>
              <a:t>ent-RPT-3574</a:t>
            </a:r>
            <a:r>
              <a:rPr lang="en-CA" sz="2000" dirty="0"/>
              <a:t>); yield = 5.30 g (82%)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Repeated Steps 6-8 (</a:t>
            </a:r>
            <a:r>
              <a:rPr lang="en-CA" sz="2000" b="1" dirty="0"/>
              <a:t>ent-RPT-3576</a:t>
            </a:r>
            <a:r>
              <a:rPr lang="en-CA" sz="2000" dirty="0"/>
              <a:t>) at 2 g, 2 x 3 g scale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Yield = 1.19 g (32%, 3 steps), purity 95.9% (1</a:t>
            </a:r>
            <a:r>
              <a:rPr lang="en-CA" sz="2000" baseline="30000" dirty="0"/>
              <a:t>st</a:t>
            </a:r>
            <a:r>
              <a:rPr lang="en-CA" sz="2000" dirty="0"/>
              <a:t> Batch)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/>
              <a:t>Oxidations completed with TEMPO/</a:t>
            </a:r>
            <a:r>
              <a:rPr lang="en-CA" sz="2000" dirty="0" err="1"/>
              <a:t>NaClO</a:t>
            </a:r>
            <a:r>
              <a:rPr lang="en-CA" sz="2000" dirty="0"/>
              <a:t> system</a:t>
            </a:r>
          </a:p>
        </p:txBody>
      </p:sp>
    </p:spTree>
    <p:extLst>
      <p:ext uri="{BB962C8B-B14F-4D97-AF65-F5344CB8AC3E}">
        <p14:creationId xmlns:p14="http://schemas.microsoft.com/office/powerpoint/2010/main" val="31518261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9FD0F-73EE-5528-DC6F-9A67D3398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Thank You!</a:t>
            </a:r>
            <a:endParaRPr lang="en-CA" sz="4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D6282-5B73-A498-07B3-807BC572F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A229-2BE2-4044-957D-22ED1E4A33A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570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13889</TotalTime>
  <Words>2334</Words>
  <Application>Microsoft Macintosh PowerPoint</Application>
  <PresentationFormat>Widescreen</PresentationFormat>
  <Paragraphs>385</Paragraphs>
  <Slides>44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Calibri</vt:lpstr>
      <vt:lpstr>Calibri Light</vt:lpstr>
      <vt:lpstr>Office Theme</vt:lpstr>
      <vt:lpstr>CS ChemDraw Drawing</vt:lpstr>
      <vt:lpstr>ROME Therapeutics              RPT-002950 </vt:lpstr>
      <vt:lpstr>RPT-3575: Optimization of Oxidation Step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1H NMR: Entry 1 – RPT-3576</vt:lpstr>
      <vt:lpstr>LCMS: Entry 1 – RPT-3576</vt:lpstr>
      <vt:lpstr>HPLC: Entry 1 – RPT-3576</vt:lpstr>
      <vt:lpstr>1H NMR: Entry 2 – RPT-3576</vt:lpstr>
      <vt:lpstr>LCMS: Entry 2 – RPT-3576</vt:lpstr>
      <vt:lpstr>HPLC: Entry 2 – RPT-3576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Ent-RPT-3576: Synthetic Route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Name </dc:title>
  <dc:creator>Gamil Alhakimi</dc:creator>
  <cp:lastModifiedBy>Gamil Alhakimi</cp:lastModifiedBy>
  <cp:revision>557</cp:revision>
  <dcterms:created xsi:type="dcterms:W3CDTF">2022-06-10T02:22:30Z</dcterms:created>
  <dcterms:modified xsi:type="dcterms:W3CDTF">2025-12-13T21:11:43Z</dcterms:modified>
</cp:coreProperties>
</file>